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Override PartName="/ppt/slides/slide15.xml" ContentType="application/vnd.openxmlformats-officedocument.presentationml.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9" r:id="rId20"/>
    <p:sldId id="270" r:id="rId21"/>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f54aab1-b676-13c1-15d0-35cad585a00b}">
          <p14:sldIdLst>
            <p14:sldId id="256"/>
            <p14:sldId id="257"/>
            <p14:sldId id="258"/>
            <p14:sldId id="259"/>
          </p14:sldIdLst>
        </p14:section>
        <p14:section name="Progress" id="{5d69bdcf-d48c-6124-35dd-a1403144bff8}">
          <p14:sldIdLst>
            <p14:sldId id="260"/>
            <p14:sldId id="261"/>
            <p14:sldId id="262"/>
          </p14:sldIdLst>
        </p14:section>
        <p14:section name="Next" id="{f921c235-ccba-de26-39c6-ecb4b48ff59f}">
          <p14:sldIdLst>
            <p14:sldId id="263"/>
            <p14:sldId id="264"/>
          </p14:sldIdLst>
        </p14:section>
        <p14:section name="Results and team" id="{aef143df-9a22-c87c-2655-b097bc071fb4}">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 Id="rId21" Type="http://schemas.openxmlformats.org/officeDocument/2006/relationships/slide" Target="slides/slide15.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2E"/>
                </a:solidFill>
                <a:latin typeface="+mn-lt"/>
              </a:defRPr>
            </a:pPr>
            <a:r>
              <a:rPr sz="1400" b="0" i="0" u="none" strike="noStrike">
                <a:solidFill>
                  <a:srgbClr val="0F2A2E"/>
                </a:solidFill>
                <a:latin typeface="+mn-lt"/>
              </a:rPr>
              <a:t>How robotic each text sounds (lower is better)</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8A9AA5"/>
            </a:solidFill>
            <a:effectLst/>
          </c:spPr>
          <c:invertIfNegative val="0"/>
          <c:dLbls>
            <c:numFmt formatCode="#,##0" sourceLinked="0"/>
            <c:txPr>
              <a:bodyPr/>
              <a:lstStyle/>
              <a:p>
                <a:pPr>
                  <a:defRPr b="0" i="0" strike="noStrike" sz="1000" u="none">
                    <a:solidFill>
                      <a:srgbClr val="0F2A2E"/>
                    </a:solidFill>
                    <a:latin typeface="+mn-lt"/>
                  </a:defRPr>
                </a:pPr>
              </a:p>
            </c:txPr>
            <c:showLegendKey val="0"/>
            <c:showVal val="1"/>
            <c:showCatName val="0"/>
            <c:showSerName val="0"/>
            <c:showPercent val="0"/>
            <c:showBubbleSize val="0"/>
            <c:showLeaderLines val="0"/>
          </c:dLbls>
          <c:cat>
            <c:multiLvlStrRef>
              <c:f>Sheet1!$A$2:$A$10</c:f>
              <c:multiLvlStrCache>
                <c:ptCount val="9"/>
                <c:lvl>
                  <c:pt idx="0">
                    <c:v>Text 1</c:v>
                  </c:pt>
                  <c:pt idx="1">
                    <c:v>Text 2</c:v>
                  </c:pt>
                  <c:pt idx="2">
                    <c:v>Text 3</c:v>
                  </c:pt>
                  <c:pt idx="3">
                    <c:v>Text 4</c:v>
                  </c:pt>
                  <c:pt idx="4">
                    <c:v>Text 5</c:v>
                  </c:pt>
                  <c:pt idx="5">
                    <c:v>Text 6</c:v>
                  </c:pt>
                  <c:pt idx="6">
                    <c:v>Text 7</c:v>
                  </c:pt>
                  <c:pt idx="7">
                    <c:v>Text 8</c:v>
                  </c:pt>
                  <c:pt idx="8">
                    <c:v>Text 9</c:v>
                  </c:pt>
                </c:lvl>
              </c:multiLvlStrCache>
            </c:multiLvlStrRef>
          </c:cat>
          <c:val>
            <c:numRef>
              <c:f>Sheet1!$B$2:$B$10</c:f>
              <c:numCache>
                <c:formatCode>General</c:formatCode>
                <c:ptCount val="9"/>
                <c:pt idx="0">
                  <c:v>32</c:v>
                </c:pt>
                <c:pt idx="1">
                  <c:v>48</c:v>
                </c:pt>
                <c:pt idx="2">
                  <c:v>44</c:v>
                </c:pt>
                <c:pt idx="3">
                  <c:v>48</c:v>
                </c:pt>
                <c:pt idx="4">
                  <c:v>36</c:v>
                </c:pt>
                <c:pt idx="5">
                  <c:v>46</c:v>
                </c:pt>
                <c:pt idx="6">
                  <c:v>29</c:v>
                </c:pt>
                <c:pt idx="7">
                  <c:v>48</c:v>
                </c:pt>
                <c:pt idx="8">
                  <c:v>36</c:v>
                </c:pt>
              </c:numCache>
            </c:numRef>
          </c:val>
        </c:ser>
        <c:ser>
          <c:idx val="1"/>
          <c:order val="1"/>
          <c:tx>
            <c:strRef>
              <c:f>Sheet1!$C$1</c:f>
              <c:strCache>
                <c:ptCount val="1"/>
                <c:pt idx="0">
                  <c:v>After</c:v>
                </c:pt>
              </c:strCache>
            </c:strRef>
          </c:tx>
          <c:spPr>
            <a:solidFill>
              <a:srgbClr val="0E7C7B"/>
            </a:solidFill>
            <a:effectLst/>
          </c:spPr>
          <c:invertIfNegative val="0"/>
          <c:dLbls>
            <c:numFmt formatCode="#,##0" sourceLinked="0"/>
            <c:txPr>
              <a:bodyPr/>
              <a:lstStyle/>
              <a:p>
                <a:pPr>
                  <a:defRPr b="0" i="0" strike="noStrike" sz="1000" u="none">
                    <a:solidFill>
                      <a:srgbClr val="0F2A2E"/>
                    </a:solidFill>
                    <a:latin typeface="+mn-lt"/>
                  </a:defRPr>
                </a:pPr>
              </a:p>
            </c:txPr>
            <c:showLegendKey val="0"/>
            <c:showVal val="1"/>
            <c:showCatName val="0"/>
            <c:showSerName val="0"/>
            <c:showPercent val="0"/>
            <c:showBubbleSize val="0"/>
            <c:showLeaderLines val="0"/>
          </c:dLbls>
          <c:cat>
            <c:multiLvlStrRef>
              <c:f>Sheet1!$A$2:$A$10</c:f>
              <c:multiLvlStrCache>
                <c:ptCount val="9"/>
                <c:lvl>
                  <c:pt idx="0">
                    <c:v>Text 1</c:v>
                  </c:pt>
                  <c:pt idx="1">
                    <c:v>Text 2</c:v>
                  </c:pt>
                  <c:pt idx="2">
                    <c:v>Text 3</c:v>
                  </c:pt>
                  <c:pt idx="3">
                    <c:v>Text 4</c:v>
                  </c:pt>
                  <c:pt idx="4">
                    <c:v>Text 5</c:v>
                  </c:pt>
                  <c:pt idx="5">
                    <c:v>Text 6</c:v>
                  </c:pt>
                  <c:pt idx="6">
                    <c:v>Text 7</c:v>
                  </c:pt>
                  <c:pt idx="7">
                    <c:v>Text 8</c:v>
                  </c:pt>
                  <c:pt idx="8">
                    <c:v>Text 9</c:v>
                  </c:pt>
                </c:lvl>
              </c:multiLvlStrCache>
            </c:multiLvlStrRef>
          </c:cat>
          <c:val>
            <c:numRef>
              <c:f>Sheet1!$C$2:$C$10</c:f>
              <c:numCache>
                <c:formatCode>General</c:formatCode>
                <c:ptCount val="9"/>
                <c:pt idx="0">
                  <c:v>12</c:v>
                </c:pt>
                <c:pt idx="1">
                  <c:v>22</c:v>
                </c:pt>
                <c:pt idx="2">
                  <c:v>24</c:v>
                </c:pt>
                <c:pt idx="3">
                  <c:v>0</c:v>
                </c:pt>
                <c:pt idx="4">
                  <c:v>24</c:v>
                </c:pt>
                <c:pt idx="5">
                  <c:v>0</c:v>
                </c:pt>
                <c:pt idx="6">
                  <c:v>0</c:v>
                </c:pt>
                <c:pt idx="7">
                  <c:v>24</c:v>
                </c:pt>
                <c:pt idx="8">
                  <c:v>0</c:v>
                </c:pt>
              </c:numCache>
            </c:numRef>
          </c:val>
        </c:ser>
        <c:dLbls>
          <c:numFmt formatCode="#,##0" sourceLinked="0"/>
          <c:txPr>
            <a:bodyPr/>
            <a:lstStyle/>
            <a:p>
              <a:pPr>
                <a:defRPr b="0" i="0" strike="noStrike" sz="1000" u="none">
                  <a:solidFill>
                    <a:srgbClr val="0F2A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5E3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says: Hi everyone, we're Team Hackprime. Our project is VerityWrite AI. It takes stiff, robotic AI text and makes it sound natural, and it proves that no facts were changed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one for each of us. Swap 'Member 1 to 5' for your real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the text sounds stiff, a rewrite can change facts without anyone noticing, and nobody can see proof. Our idea is simple: rewrite, then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left to right. Be clear that Gemini is used for the rewrite step, the optional judge, and the optional voice and screenshot reading. Listening uses an online text-to-speech service. Everything else is our own code, so it is easy to explain and test. It's a fixed set of steps, not an AI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that already work. Be ready to show the app live: load the recruiter sample, click Humanize, then use the 'Break it on purpose'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before/after text with a real screenshot from your app if you can. Then do the live test: open 'Break it on purpose' and click 'Change a number'. The app also catches a dropped date, a swapped tech term and an invented achievement with a number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honest self-check against what the brief asks. Done means built and tested. Mostly means it works but has a known weakness. To do means we still need to finish it. Update the last row once the live link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'Must do' items close gaps against the brief or the mandatory rules. 'Nice to have' items make it more trustworthy. Owners are suggestions, so change them to fit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go beyond the brief. They're ideas, not built yet, so don't present them as finished. The PII shield and the review log fit the judging points on privacy and responsible AI. Pick the one or two you can realistically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running our test script without Gemini. Re-run 'python eval/run_eval.py' with your Gemini key and replace the chart values and the three big numbers with your real results. Never say the system can't make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says their own line in their own words. IMPORTANT: replace 'Member 1 to 5' with real names and change each line to match what that person really did. These lines follow the planned roles, not a record of who did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wants us to separate what we observed from what we conclude, show uncertainty, and keep a human in the loop. Being open about limits earns more trust than overclaiming.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closes: we've built most of it, we know exactly what's left, and we have a few extras that could make it stand out. Thank you, we'd love your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since the last update: speak your text, listen to the rewrite, upload a screenshot, and readability scores. Be honest about the status. Voice input and screenshot reading use Gemini, and listening uses an online text-to-speech service, so they need a key and internet. We tested them with stand-ins, not live, so run each once on the real app before presenting. Readability scores and export are fully working and run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screenshot of our app on the recruiter example. Six standard formulas, an overall 0 to 100 score, and the original score on every card so the audience can see what changed. Say clearly that readability is about how easy text is to read, not whether it is true. Short texts give rough scores. The Export button downloads a CSV and Copy all scores copies plain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Team Hackprime  |  VerityWrite AI</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Team Hackprime  |  VerityWrite AI</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_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035040" cy="118872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3" name="Text 0"/>
          <p:cNvSpPr/>
          <p:nvPr>
            <p:ph idx="101" type="body" hasCustomPrompt="1"/>
          </p:nvPr>
        </p:nvSpPr>
        <p:spPr>
          <a:xfrm>
            <a:off x="640080" y="3063240"/>
            <a:ext cx="5852160" cy="914400"/>
          </a:xfrm>
          <a:prstGeom prst="rect">
            <a:avLst/>
          </a:prstGeom>
          <a:noFill/>
          <a:ln/>
        </p:spPr>
        <p:txBody>
          <a:bodyPr wrap="square" rtlCol="0"/>
          <a:lstStyle>
            <a:lvl1pPr indent="0" marL="0">
              <a:buNone/>
              <a:defRPr lang="en-US" sz="2200" dirty="0">
                <a:solidFill>
                  <a:schemeClr val="tx2"/>
                </a:solidFill>
              </a:defRPr>
            </a:lvl1pPr>
          </a:lstStyle>
          <a:p>
            <a:pP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slideLayout" Target="../slideLayouts/slideLayout2.xml"/><Relationship Id="rId9"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035040" cy="1188720"/>
          </a:xfrm>
          <a:prstGeom prst="rect">
            <a:avLst/>
          </a:prstGeom>
          <a:noFill/>
          <a:ln/>
        </p:spPr>
        <p:txBody>
          <a:bodyPr wrap="square" lIns="0" tIns="0" rIns="0" bIns="0" rtlCol="0" anchor="ctr"/>
          <a:lstStyle/>
          <a:p>
            <a:pPr algn="l" indent="0" marL="0">
              <a:buNone/>
            </a:pPr>
            <a:r>
              <a:rPr lang="en-US" sz="5400" b="1" dirty="0">
                <a:solidFill>
                  <a:schemeClr val="tx1"/>
                </a:solidFill>
              </a:rPr>
              <a:t>VerityWrite AI</a:t>
            </a:r>
            <a:endParaRPr lang="en-US" sz="5400" dirty="0"/>
          </a:p>
        </p:txBody>
      </p:sp>
      <p:sp>
        <p:nvSpPr>
          <p:cNvPr id="3" name="Text 0"/>
          <p:cNvSpPr/>
          <p:nvPr>
            <p:ph idx="101" type="body" hasCustomPrompt="1"/>
          </p:nvPr>
        </p:nvSpPr>
        <p:spPr>
          <a:xfrm>
            <a:off x="640080" y="3063240"/>
            <a:ext cx="5852160" cy="914400"/>
          </a:xfrm>
          <a:prstGeom prst="rect">
            <a:avLst/>
          </a:prstGeom>
          <a:noFill/>
          <a:ln/>
        </p:spPr>
        <p:txBody>
          <a:bodyPr wrap="square" lIns="0" tIns="0" rIns="0" bIns="0" rtlCol="0" anchor="t"/>
          <a:lstStyle/>
          <a:p>
            <a:pPr indent="0" marL="0">
              <a:buNone/>
            </a:pPr>
            <a:r>
              <a:rPr lang="en-US" sz="2200" dirty="0">
                <a:solidFill>
                  <a:schemeClr val="tx2"/>
                </a:solidFill>
              </a:rPr>
              <a:t>Make AI sound natural. Keep every fact intact.</a:t>
            </a:r>
            <a:endParaRPr lang="en-US" sz="2200" dirty="0"/>
          </a:p>
        </p:txBody>
      </p:sp>
      <p:sp>
        <p:nvSpPr>
          <p:cNvPr id="4" name="Text 2"/>
          <p:cNvSpPr txBox="1"/>
          <p:nvPr/>
        </p:nvSpPr>
        <p:spPr>
          <a:xfrm>
            <a:off x="640080" y="4572000"/>
            <a:ext cx="5852160" cy="365760"/>
          </a:xfrm>
          <a:prstGeom prst="rect">
            <a:avLst/>
          </a:prstGeom>
          <a:noFill/>
          <a:ln/>
        </p:spPr>
        <p:txBody>
          <a:bodyPr wrap="square" lIns="0" tIns="0" rIns="0" bIns="0" rtlCol="0" anchor="t"/>
          <a:lstStyle/>
          <a:p>
            <a:pPr indent="0" marL="0">
              <a:buNone/>
            </a:pPr>
            <a:r>
              <a:rPr lang="en-US" sz="2000" b="1" dirty="0">
                <a:solidFill>
                  <a:schemeClr val="accent1"/>
                </a:solidFill>
              </a:rPr>
              <a:t>Team Hackprime  |  Project update</a:t>
            </a:r>
            <a:endParaRPr lang="en-US" sz="2000" dirty="0"/>
          </a:p>
        </p:txBody>
      </p:sp>
      <p:sp>
        <p:nvSpPr>
          <p:cNvPr id="5" name="Text 3"/>
          <p:cNvSpPr txBox="1"/>
          <p:nvPr/>
        </p:nvSpPr>
        <p:spPr>
          <a:xfrm>
            <a:off x="640080" y="5029200"/>
            <a:ext cx="5852160" cy="320040"/>
          </a:xfrm>
          <a:prstGeom prst="rect">
            <a:avLst/>
          </a:prstGeom>
          <a:noFill/>
          <a:ln/>
        </p:spPr>
        <p:txBody>
          <a:bodyPr wrap="square" lIns="0" tIns="0" rIns="0" bIns="0" rtlCol="0" anchor="t"/>
          <a:lstStyle/>
          <a:p>
            <a:pPr indent="0" marL="0">
              <a:buNone/>
            </a:pPr>
            <a:r>
              <a:rPr lang="en-US" sz="1400" dirty="0">
                <a:solidFill>
                  <a:schemeClr val="accent5"/>
                </a:solidFill>
              </a:rPr>
              <a:t>Google Student Club Welcome Hackathon 2026</a:t>
            </a:r>
            <a:endParaRPr lang="en-US" sz="1400" dirty="0"/>
          </a:p>
        </p:txBody>
      </p:sp>
      <p:sp>
        <p:nvSpPr>
          <p:cNvPr id="6" name="Text 4"/>
          <p:cNvSpPr txBox="1"/>
          <p:nvPr/>
        </p:nvSpPr>
        <p:spPr>
          <a:xfrm>
            <a:off x="640080" y="5349240"/>
            <a:ext cx="6035040" cy="320040"/>
          </a:xfrm>
          <a:prstGeom prst="rect">
            <a:avLst/>
          </a:prstGeom>
          <a:noFill/>
          <a:ln/>
        </p:spPr>
        <p:txBody>
          <a:bodyPr wrap="square" lIns="0" tIns="0" rIns="0" bIns="0" rtlCol="0" anchor="t"/>
          <a:lstStyle/>
          <a:p>
            <a:pPr indent="0" marL="0">
              <a:buNone/>
            </a:pPr>
            <a:r>
              <a:rPr lang="en-US" sz="1400" dirty="0">
                <a:solidFill>
                  <a:schemeClr val="accent5"/>
                </a:solidFill>
              </a:rPr>
              <a:t>Problem Statement 2: AI Humanization and Natural Language Refinement</a:t>
            </a:r>
            <a:endParaRPr lang="en-US" sz="1400" dirty="0"/>
          </a:p>
        </p:txBody>
      </p:sp>
      <p:sp>
        <p:nvSpPr>
          <p:cNvPr id="7" name="robotic card"/>
          <p:cNvSpPr/>
          <p:nvPr/>
        </p:nvSpPr>
        <p:spPr>
          <a:xfrm>
            <a:off x="7223760" y="1417320"/>
            <a:ext cx="4389120" cy="1828800"/>
          </a:xfrm>
          <a:prstGeom prst="roundRect">
            <a:avLst>
              <a:gd name="adj" fmla="val 6000"/>
            </a:avLst>
          </a:prstGeom>
          <a:solidFill>
            <a:schemeClr val="bg1"/>
          </a:solidFill>
          <a:ln/>
          <a:effectLst>
            <a:outerShdw sx="100000" sy="100000" kx="0" ky="0" algn="bl" rotWithShape="0" blurRad="76200" dist="25400" dir="5400000">
              <a:srgbClr val="000000">
                <a:alpha val="10000"/>
              </a:srgbClr>
            </a:outerShdw>
          </a:effectLst>
        </p:spPr>
      </p:sp>
      <p:sp>
        <p:nvSpPr>
          <p:cNvPr id="8" name="robotic tag"/>
          <p:cNvSpPr/>
          <p:nvPr/>
        </p:nvSpPr>
        <p:spPr>
          <a:xfrm>
            <a:off x="7452360" y="1600200"/>
            <a:ext cx="822960" cy="274320"/>
          </a:xfrm>
          <a:prstGeom prst="roundRect">
            <a:avLst>
              <a:gd name="adj" fmla="val 26667"/>
            </a:avLst>
          </a:prstGeom>
          <a:solidFill>
            <a:srgbClr val="C0392B"/>
          </a:solidFill>
          <a:ln/>
        </p:spPr>
      </p:sp>
      <p:sp>
        <p:nvSpPr>
          <p:cNvPr id="9" name="Text 7"/>
          <p:cNvSpPr txBox="1"/>
          <p:nvPr/>
        </p:nvSpPr>
        <p:spPr>
          <a:xfrm>
            <a:off x="7452360" y="1600200"/>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STIFF</a:t>
            </a:r>
            <a:endParaRPr lang="en-US" sz="1100" dirty="0"/>
          </a:p>
        </p:txBody>
      </p:sp>
      <p:sp>
        <p:nvSpPr>
          <p:cNvPr id="10" name="Text 8"/>
          <p:cNvSpPr txBox="1"/>
          <p:nvPr/>
        </p:nvSpPr>
        <p:spPr>
          <a:xfrm>
            <a:off x="7452360" y="2011680"/>
            <a:ext cx="3931920" cy="1097280"/>
          </a:xfrm>
          <a:prstGeom prst="rect">
            <a:avLst/>
          </a:prstGeom>
          <a:noFill/>
          <a:ln/>
        </p:spPr>
        <p:txBody>
          <a:bodyPr wrap="square" lIns="0" tIns="0" rIns="0" bIns="0" rtlCol="0" anchor="t"/>
          <a:lstStyle/>
          <a:p>
            <a:pPr indent="0" marL="0">
              <a:buNone/>
            </a:pPr>
            <a:r>
              <a:rPr lang="en-US" sz="1400" dirty="0">
                <a:solidFill>
                  <a:schemeClr val="tx1"/>
                </a:solidFill>
                <a:highlight>
                  <a:srgbClr val="F2A541"/>
                </a:highlight>
              </a:rPr>
              <a:t>Furthermore,</a:t>
            </a:r>
            <a:pPr indent="0" marL="0">
              <a:buNone/>
            </a:pPr>
            <a:r>
              <a:rPr lang="en-US" sz="1400" dirty="0">
                <a:solidFill>
                  <a:schemeClr val="tx1"/>
                </a:solidFill>
              </a:rPr>
              <a:t> the candidate demonstrated proficiency in Python. </a:t>
            </a:r>
            <a:pPr indent="0" marL="0">
              <a:buNone/>
            </a:pPr>
            <a:r>
              <a:rPr lang="en-US" sz="1400" dirty="0">
                <a:solidFill>
                  <a:schemeClr val="tx1"/>
                </a:solidFill>
                <a:highlight>
                  <a:srgbClr val="F2A541"/>
                </a:highlight>
              </a:rPr>
              <a:t>It is important to note that</a:t>
            </a:r>
            <a:pPr indent="0" marL="0">
              <a:buNone/>
            </a:pPr>
            <a:r>
              <a:rPr lang="en-US" sz="1400" dirty="0">
                <a:solidFill>
                  <a:schemeClr val="tx1"/>
                </a:solidFill>
              </a:rPr>
              <a:t> the candidate scored 82/100.</a:t>
            </a:r>
            <a:endParaRPr lang="en-US" sz="1400" dirty="0"/>
          </a:p>
        </p:txBody>
      </p:sp>
      <p:sp>
        <p:nvSpPr>
          <p:cNvPr id="11" name="arrow down"/>
          <p:cNvSpPr/>
          <p:nvPr/>
        </p:nvSpPr>
        <p:spPr>
          <a:xfrm>
            <a:off x="9144000" y="3337560"/>
            <a:ext cx="548640" cy="502920"/>
          </a:xfrm>
          <a:prstGeom prst="downArrow">
            <a:avLst/>
          </a:prstGeom>
          <a:solidFill>
            <a:schemeClr val="accent2"/>
          </a:solidFill>
          <a:ln/>
        </p:spPr>
      </p:sp>
      <p:sp>
        <p:nvSpPr>
          <p:cNvPr id="12" name="natural card"/>
          <p:cNvSpPr/>
          <p:nvPr/>
        </p:nvSpPr>
        <p:spPr>
          <a:xfrm>
            <a:off x="7223760" y="3931920"/>
            <a:ext cx="4389120" cy="1828800"/>
          </a:xfrm>
          <a:prstGeom prst="roundRect">
            <a:avLst>
              <a:gd name="adj" fmla="val 6000"/>
            </a:avLst>
          </a:prstGeom>
          <a:solidFill>
            <a:schemeClr val="accent1"/>
          </a:solidFill>
          <a:ln/>
          <a:effectLst>
            <a:outerShdw sx="100000" sy="100000" kx="0" ky="0" algn="bl" rotWithShape="0" blurRad="76200" dist="25400" dir="5400000">
              <a:srgbClr val="000000">
                <a:alpha val="10000"/>
              </a:srgbClr>
            </a:outerShdw>
          </a:effectLst>
        </p:spPr>
      </p:sp>
      <p:sp>
        <p:nvSpPr>
          <p:cNvPr id="13" name="natural tag"/>
          <p:cNvSpPr/>
          <p:nvPr/>
        </p:nvSpPr>
        <p:spPr>
          <a:xfrm>
            <a:off x="7452360" y="4114800"/>
            <a:ext cx="1920240" cy="274320"/>
          </a:xfrm>
          <a:prstGeom prst="roundRect">
            <a:avLst>
              <a:gd name="adj" fmla="val 26667"/>
            </a:avLst>
          </a:prstGeom>
          <a:solidFill>
            <a:srgbClr val="FFFFFF"/>
          </a:solidFill>
          <a:ln/>
        </p:spPr>
      </p:sp>
      <p:sp>
        <p:nvSpPr>
          <p:cNvPr id="14" name="Text 12"/>
          <p:cNvSpPr txBox="1"/>
          <p:nvPr/>
        </p:nvSpPr>
        <p:spPr>
          <a:xfrm>
            <a:off x="7452360" y="4114800"/>
            <a:ext cx="1920240" cy="274320"/>
          </a:xfrm>
          <a:prstGeom prst="rect">
            <a:avLst/>
          </a:prstGeom>
          <a:noFill/>
          <a:ln/>
        </p:spPr>
        <p:txBody>
          <a:bodyPr wrap="square" lIns="0" tIns="0" rIns="0" bIns="0" rtlCol="0" anchor="ctr"/>
          <a:lstStyle/>
          <a:p>
            <a:pPr algn="ctr" indent="0" marL="0">
              <a:buNone/>
            </a:pPr>
            <a:r>
              <a:rPr lang="en-US" sz="1100" b="1" dirty="0">
                <a:solidFill>
                  <a:schemeClr val="accent1"/>
                </a:solidFill>
              </a:rPr>
              <a:t>NATURAL, FACTS KEPT</a:t>
            </a:r>
            <a:endParaRPr lang="en-US" sz="1100" dirty="0"/>
          </a:p>
        </p:txBody>
      </p:sp>
      <p:sp>
        <p:nvSpPr>
          <p:cNvPr id="15" name="Text 13"/>
          <p:cNvSpPr txBox="1"/>
          <p:nvPr/>
        </p:nvSpPr>
        <p:spPr>
          <a:xfrm>
            <a:off x="7452360" y="4526280"/>
            <a:ext cx="3931920" cy="548640"/>
          </a:xfrm>
          <a:prstGeom prst="rect">
            <a:avLst/>
          </a:prstGeom>
          <a:noFill/>
          <a:ln/>
        </p:spPr>
        <p:txBody>
          <a:bodyPr wrap="square" lIns="0" tIns="0" rIns="0" bIns="0" rtlCol="0" anchor="t"/>
          <a:lstStyle/>
          <a:p>
            <a:pPr indent="0" marL="0">
              <a:buNone/>
            </a:pPr>
            <a:r>
              <a:rPr lang="en-US" sz="1400" dirty="0">
                <a:solidFill>
                  <a:schemeClr val="bg1"/>
                </a:solidFill>
              </a:rPr>
              <a:t>The candidate is strong in Python and scored 82/100.</a:t>
            </a:r>
            <a:endParaRPr lang="en-US" sz="1400" dirty="0"/>
          </a:p>
        </p:txBody>
      </p:sp>
      <p:sp>
        <p:nvSpPr>
          <p:cNvPr id="16" name="Text 14"/>
          <p:cNvSpPr txBox="1"/>
          <p:nvPr/>
        </p:nvSpPr>
        <p:spPr>
          <a:xfrm>
            <a:off x="7452360" y="5212080"/>
            <a:ext cx="3931920" cy="320040"/>
          </a:xfrm>
          <a:prstGeom prst="rect">
            <a:avLst/>
          </a:prstGeom>
          <a:noFill/>
          <a:ln/>
        </p:spPr>
        <p:txBody>
          <a:bodyPr wrap="square" lIns="0" tIns="0" rIns="0" bIns="0" rtlCol="0" anchor="t"/>
          <a:lstStyle/>
          <a:p>
            <a:pPr indent="0" marL="0">
              <a:buNone/>
            </a:pPr>
            <a:r>
              <a:rPr lang="en-US" sz="1200" b="1" dirty="0">
                <a:solidFill>
                  <a:schemeClr val="bg2"/>
                </a:solidFill>
              </a:rPr>
              <a:t>Checked: Python, 82/100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What we'll cover</a:t>
            </a:r>
            <a:endParaRPr lang="en-US" sz="3600" dirty="0"/>
          </a:p>
        </p:txBody>
      </p:sp>
      <p:sp>
        <p:nvSpPr>
          <p:cNvPr id="3" name="agenda row 1"/>
          <p:cNvSpPr/>
          <p:nvPr/>
        </p:nvSpPr>
        <p:spPr>
          <a:xfrm>
            <a:off x="548640" y="1463040"/>
            <a:ext cx="11091672" cy="822960"/>
          </a:xfrm>
          <a:prstGeom prst="roundRect">
            <a:avLst>
              <a:gd name="adj" fmla="val 13333"/>
            </a:avLst>
          </a:prstGeom>
          <a:solidFill>
            <a:schemeClr val="bg2"/>
          </a:solidFill>
          <a:ln/>
          <a:effectLst>
            <a:outerShdw sx="100000" sy="100000" kx="0" ky="0" algn="bl" rotWithShape="0" blurRad="76200" dist="25400" dir="5400000">
              <a:srgbClr val="000000">
                <a:alpha val="10000"/>
              </a:srgbClr>
            </a:outerShdw>
          </a:effectLst>
        </p:spPr>
      </p:sp>
      <p:sp>
        <p:nvSpPr>
          <p:cNvPr id="4" name="agenda number 1"/>
          <p:cNvSpPr/>
          <p:nvPr/>
        </p:nvSpPr>
        <p:spPr>
          <a:xfrm>
            <a:off x="777240" y="1618488"/>
            <a:ext cx="512064" cy="512064"/>
          </a:xfrm>
          <a:prstGeom prst="ellipse">
            <a:avLst/>
          </a:prstGeom>
          <a:solidFill>
            <a:schemeClr val="accent1"/>
          </a:solidFill>
          <a:ln/>
        </p:spPr>
      </p:sp>
      <p:sp>
        <p:nvSpPr>
          <p:cNvPr id="5" name="Text 3"/>
          <p:cNvSpPr txBox="1"/>
          <p:nvPr/>
        </p:nvSpPr>
        <p:spPr>
          <a:xfrm>
            <a:off x="777240" y="161848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600200" y="1572768"/>
            <a:ext cx="6858000" cy="365760"/>
          </a:xfrm>
          <a:prstGeom prst="rect">
            <a:avLst/>
          </a:prstGeom>
          <a:noFill/>
          <a:ln/>
        </p:spPr>
        <p:txBody>
          <a:bodyPr wrap="square" lIns="0" tIns="0" rIns="0" bIns="0" rtlCol="0" anchor="t"/>
          <a:lstStyle/>
          <a:p>
            <a:pPr indent="0" marL="0">
              <a:buNone/>
            </a:pPr>
            <a:r>
              <a:rPr lang="en-US" sz="2000" b="1" dirty="0">
                <a:solidFill>
                  <a:schemeClr val="tx1"/>
                </a:solidFill>
              </a:rPr>
              <a:t>The problem and how it works</a:t>
            </a:r>
            <a:endParaRPr lang="en-US" sz="2000" dirty="0"/>
          </a:p>
        </p:txBody>
      </p:sp>
      <p:sp>
        <p:nvSpPr>
          <p:cNvPr id="7" name="Text 5"/>
          <p:cNvSpPr txBox="1"/>
          <p:nvPr/>
        </p:nvSpPr>
        <p:spPr>
          <a:xfrm>
            <a:off x="1600200" y="1938528"/>
            <a:ext cx="6858000" cy="274320"/>
          </a:xfrm>
          <a:prstGeom prst="rect">
            <a:avLst/>
          </a:prstGeom>
          <a:noFill/>
          <a:ln/>
        </p:spPr>
        <p:txBody>
          <a:bodyPr wrap="square" lIns="0" tIns="0" rIns="0" bIns="0" rtlCol="0" anchor="t"/>
          <a:lstStyle/>
          <a:p>
            <a:pPr indent="0" marL="0">
              <a:buNone/>
            </a:pPr>
            <a:r>
              <a:rPr lang="en-US" sz="1400" dirty="0">
                <a:solidFill>
                  <a:schemeClr val="accent5"/>
                </a:solidFill>
              </a:rPr>
              <a:t>Why stiff AI text is a risk, and the steps we follow</a:t>
            </a:r>
            <a:endParaRPr lang="en-US" sz="1400" dirty="0"/>
          </a:p>
        </p:txBody>
      </p:sp>
      <p:sp>
        <p:nvSpPr>
          <p:cNvPr id="8" name="presenter 1"/>
          <p:cNvSpPr/>
          <p:nvPr/>
        </p:nvSpPr>
        <p:spPr>
          <a:xfrm>
            <a:off x="9326880" y="1664208"/>
            <a:ext cx="2057400" cy="420624"/>
          </a:xfrm>
          <a:prstGeom prst="roundRect">
            <a:avLst>
              <a:gd name="adj" fmla="val 17391"/>
            </a:avLst>
          </a:prstGeom>
          <a:solidFill>
            <a:srgbClr val="0E7C7B"/>
          </a:solidFill>
          <a:ln/>
        </p:spPr>
      </p:sp>
      <p:sp>
        <p:nvSpPr>
          <p:cNvPr id="9" name="Text 7"/>
          <p:cNvSpPr txBox="1"/>
          <p:nvPr/>
        </p:nvSpPr>
        <p:spPr>
          <a:xfrm>
            <a:off x="9326880" y="1664208"/>
            <a:ext cx="2057400" cy="420624"/>
          </a:xfrm>
          <a:prstGeom prst="rect">
            <a:avLst/>
          </a:prstGeom>
          <a:noFill/>
          <a:ln/>
        </p:spPr>
        <p:txBody>
          <a:bodyPr wrap="square" lIns="0" tIns="0" rIns="0" bIns="0" rtlCol="0" anchor="ctr"/>
          <a:lstStyle/>
          <a:p>
            <a:pPr algn="ctr" indent="0" marL="0">
              <a:buNone/>
            </a:pPr>
            <a:r>
              <a:rPr lang="en-US" sz="1400" b="1" dirty="0">
                <a:solidFill>
                  <a:schemeClr val="bg1"/>
                </a:solidFill>
              </a:rPr>
              <a:t>Member 1</a:t>
            </a:r>
            <a:endParaRPr lang="en-US" sz="1400" dirty="0"/>
          </a:p>
        </p:txBody>
      </p:sp>
      <p:sp>
        <p:nvSpPr>
          <p:cNvPr id="10" name="agenda row 2"/>
          <p:cNvSpPr/>
          <p:nvPr/>
        </p:nvSpPr>
        <p:spPr>
          <a:xfrm>
            <a:off x="548640" y="2395728"/>
            <a:ext cx="11091672" cy="822960"/>
          </a:xfrm>
          <a:prstGeom prst="roundRect">
            <a:avLst>
              <a:gd name="adj" fmla="val 13333"/>
            </a:avLst>
          </a:prstGeom>
          <a:solidFill>
            <a:schemeClr val="bg2"/>
          </a:solidFill>
          <a:ln/>
          <a:effectLst>
            <a:outerShdw sx="100000" sy="100000" kx="0" ky="0" algn="bl" rotWithShape="0" blurRad="76200" dist="25400" dir="5400000">
              <a:srgbClr val="000000">
                <a:alpha val="10000"/>
              </a:srgbClr>
            </a:outerShdw>
          </a:effectLst>
        </p:spPr>
      </p:sp>
      <p:sp>
        <p:nvSpPr>
          <p:cNvPr id="11" name="agenda number 2"/>
          <p:cNvSpPr/>
          <p:nvPr/>
        </p:nvSpPr>
        <p:spPr>
          <a:xfrm>
            <a:off x="777240" y="2551176"/>
            <a:ext cx="512064" cy="512064"/>
          </a:xfrm>
          <a:prstGeom prst="ellipse">
            <a:avLst/>
          </a:prstGeom>
          <a:solidFill>
            <a:schemeClr val="accent1"/>
          </a:solidFill>
          <a:ln/>
        </p:spPr>
      </p:sp>
      <p:sp>
        <p:nvSpPr>
          <p:cNvPr id="12" name="Text 10"/>
          <p:cNvSpPr txBox="1"/>
          <p:nvPr/>
        </p:nvSpPr>
        <p:spPr>
          <a:xfrm>
            <a:off x="777240" y="2551176"/>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1"/>
          <p:cNvSpPr txBox="1"/>
          <p:nvPr/>
        </p:nvSpPr>
        <p:spPr>
          <a:xfrm>
            <a:off x="1600200" y="2505456"/>
            <a:ext cx="6858000" cy="365760"/>
          </a:xfrm>
          <a:prstGeom prst="rect">
            <a:avLst/>
          </a:prstGeom>
          <a:noFill/>
          <a:ln/>
        </p:spPr>
        <p:txBody>
          <a:bodyPr wrap="square" lIns="0" tIns="0" rIns="0" bIns="0" rtlCol="0" anchor="t"/>
          <a:lstStyle/>
          <a:p>
            <a:pPr indent="0" marL="0">
              <a:buNone/>
            </a:pPr>
            <a:r>
              <a:rPr lang="en-US" sz="2000" b="1" dirty="0">
                <a:solidFill>
                  <a:schemeClr val="tx1"/>
                </a:solidFill>
              </a:rPr>
              <a:t>What we've built</a:t>
            </a:r>
            <a:endParaRPr lang="en-US" sz="2000" dirty="0"/>
          </a:p>
        </p:txBody>
      </p:sp>
      <p:sp>
        <p:nvSpPr>
          <p:cNvPr id="14" name="Text 12"/>
          <p:cNvSpPr txBox="1"/>
          <p:nvPr/>
        </p:nvSpPr>
        <p:spPr>
          <a:xfrm>
            <a:off x="1600200" y="2871216"/>
            <a:ext cx="6858000" cy="274320"/>
          </a:xfrm>
          <a:prstGeom prst="rect">
            <a:avLst/>
          </a:prstGeom>
          <a:noFill/>
          <a:ln/>
        </p:spPr>
        <p:txBody>
          <a:bodyPr wrap="square" lIns="0" tIns="0" rIns="0" bIns="0" rtlCol="0" anchor="t"/>
          <a:lstStyle/>
          <a:p>
            <a:pPr indent="0" marL="0">
              <a:buNone/>
            </a:pPr>
            <a:r>
              <a:rPr lang="en-US" sz="1400" dirty="0">
                <a:solidFill>
                  <a:schemeClr val="accent5"/>
                </a:solidFill>
              </a:rPr>
              <a:t>The features, voice and screenshots, readability scores, and a live check</a:t>
            </a:r>
            <a:endParaRPr lang="en-US" sz="1400" dirty="0"/>
          </a:p>
        </p:txBody>
      </p:sp>
      <p:sp>
        <p:nvSpPr>
          <p:cNvPr id="15" name="presenter 2"/>
          <p:cNvSpPr/>
          <p:nvPr/>
        </p:nvSpPr>
        <p:spPr>
          <a:xfrm>
            <a:off x="9326880" y="2596896"/>
            <a:ext cx="2057400" cy="420624"/>
          </a:xfrm>
          <a:prstGeom prst="roundRect">
            <a:avLst>
              <a:gd name="adj" fmla="val 17391"/>
            </a:avLst>
          </a:prstGeom>
          <a:solidFill>
            <a:srgbClr val="0E7C7B"/>
          </a:solidFill>
          <a:ln/>
        </p:spPr>
      </p:sp>
      <p:sp>
        <p:nvSpPr>
          <p:cNvPr id="16" name="Text 14"/>
          <p:cNvSpPr txBox="1"/>
          <p:nvPr/>
        </p:nvSpPr>
        <p:spPr>
          <a:xfrm>
            <a:off x="9326880" y="2596896"/>
            <a:ext cx="2057400" cy="420624"/>
          </a:xfrm>
          <a:prstGeom prst="rect">
            <a:avLst/>
          </a:prstGeom>
          <a:noFill/>
          <a:ln/>
        </p:spPr>
        <p:txBody>
          <a:bodyPr wrap="square" lIns="0" tIns="0" rIns="0" bIns="0" rtlCol="0" anchor="ctr"/>
          <a:lstStyle/>
          <a:p>
            <a:pPr algn="ctr" indent="0" marL="0">
              <a:buNone/>
            </a:pPr>
            <a:r>
              <a:rPr lang="en-US" sz="1400" b="1" dirty="0">
                <a:solidFill>
                  <a:schemeClr val="bg1"/>
                </a:solidFill>
              </a:rPr>
              <a:t>Member 2</a:t>
            </a:r>
            <a:endParaRPr lang="en-US" sz="1400" dirty="0"/>
          </a:p>
        </p:txBody>
      </p:sp>
      <p:sp>
        <p:nvSpPr>
          <p:cNvPr id="17" name="agenda row 3"/>
          <p:cNvSpPr/>
          <p:nvPr/>
        </p:nvSpPr>
        <p:spPr>
          <a:xfrm>
            <a:off x="548640" y="3328416"/>
            <a:ext cx="11091672" cy="822960"/>
          </a:xfrm>
          <a:prstGeom prst="roundRect">
            <a:avLst>
              <a:gd name="adj" fmla="val 13333"/>
            </a:avLst>
          </a:prstGeom>
          <a:solidFill>
            <a:schemeClr val="bg2"/>
          </a:solidFill>
          <a:ln/>
          <a:effectLst>
            <a:outerShdw sx="100000" sy="100000" kx="0" ky="0" algn="bl" rotWithShape="0" blurRad="76200" dist="25400" dir="5400000">
              <a:srgbClr val="000000">
                <a:alpha val="10000"/>
              </a:srgbClr>
            </a:outerShdw>
          </a:effectLst>
        </p:spPr>
      </p:sp>
      <p:sp>
        <p:nvSpPr>
          <p:cNvPr id="18" name="agenda number 3"/>
          <p:cNvSpPr/>
          <p:nvPr/>
        </p:nvSpPr>
        <p:spPr>
          <a:xfrm>
            <a:off x="777240" y="3483864"/>
            <a:ext cx="512064" cy="512064"/>
          </a:xfrm>
          <a:prstGeom prst="ellipse">
            <a:avLst/>
          </a:prstGeom>
          <a:solidFill>
            <a:schemeClr val="accent1"/>
          </a:solidFill>
          <a:ln/>
        </p:spPr>
      </p:sp>
      <p:sp>
        <p:nvSpPr>
          <p:cNvPr id="19" name="Text 17"/>
          <p:cNvSpPr txBox="1"/>
          <p:nvPr/>
        </p:nvSpPr>
        <p:spPr>
          <a:xfrm>
            <a:off x="777240" y="3483864"/>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8"/>
          <p:cNvSpPr txBox="1"/>
          <p:nvPr/>
        </p:nvSpPr>
        <p:spPr>
          <a:xfrm>
            <a:off x="1600200" y="3438144"/>
            <a:ext cx="6858000" cy="365760"/>
          </a:xfrm>
          <a:prstGeom prst="rect">
            <a:avLst/>
          </a:prstGeom>
          <a:noFill/>
          <a:ln/>
        </p:spPr>
        <p:txBody>
          <a:bodyPr wrap="square" lIns="0" tIns="0" rIns="0" bIns="0" rtlCol="0" anchor="t"/>
          <a:lstStyle/>
          <a:p>
            <a:pPr indent="0" marL="0">
              <a:buNone/>
            </a:pPr>
            <a:r>
              <a:rPr lang="en-US" sz="2000" b="1" dirty="0">
                <a:solidFill>
                  <a:schemeClr val="tx1"/>
                </a:solidFill>
              </a:rPr>
              <a:t>How we match the brief</a:t>
            </a:r>
            <a:endParaRPr lang="en-US" sz="2000" dirty="0"/>
          </a:p>
        </p:txBody>
      </p:sp>
      <p:sp>
        <p:nvSpPr>
          <p:cNvPr id="21" name="Text 19"/>
          <p:cNvSpPr txBox="1"/>
          <p:nvPr/>
        </p:nvSpPr>
        <p:spPr>
          <a:xfrm>
            <a:off x="1600200" y="3803904"/>
            <a:ext cx="6858000" cy="274320"/>
          </a:xfrm>
          <a:prstGeom prst="rect">
            <a:avLst/>
          </a:prstGeom>
          <a:noFill/>
          <a:ln/>
        </p:spPr>
        <p:txBody>
          <a:bodyPr wrap="square" lIns="0" tIns="0" rIns="0" bIns="0" rtlCol="0" anchor="t"/>
          <a:lstStyle/>
          <a:p>
            <a:pPr indent="0" marL="0">
              <a:buNone/>
            </a:pPr>
            <a:r>
              <a:rPr lang="en-US" sz="1400" dirty="0">
                <a:solidFill>
                  <a:schemeClr val="accent5"/>
                </a:solidFill>
              </a:rPr>
              <a:t>What's done and what's still open</a:t>
            </a:r>
            <a:endParaRPr lang="en-US" sz="1400" dirty="0"/>
          </a:p>
        </p:txBody>
      </p:sp>
      <p:sp>
        <p:nvSpPr>
          <p:cNvPr id="22" name="presenter 3"/>
          <p:cNvSpPr/>
          <p:nvPr/>
        </p:nvSpPr>
        <p:spPr>
          <a:xfrm>
            <a:off x="9326880" y="3529584"/>
            <a:ext cx="2057400" cy="420624"/>
          </a:xfrm>
          <a:prstGeom prst="roundRect">
            <a:avLst>
              <a:gd name="adj" fmla="val 17391"/>
            </a:avLst>
          </a:prstGeom>
          <a:solidFill>
            <a:srgbClr val="0E7C7B"/>
          </a:solidFill>
          <a:ln/>
        </p:spPr>
      </p:sp>
      <p:sp>
        <p:nvSpPr>
          <p:cNvPr id="23" name="Text 21"/>
          <p:cNvSpPr txBox="1"/>
          <p:nvPr/>
        </p:nvSpPr>
        <p:spPr>
          <a:xfrm>
            <a:off x="9326880" y="3529584"/>
            <a:ext cx="2057400" cy="420624"/>
          </a:xfrm>
          <a:prstGeom prst="rect">
            <a:avLst/>
          </a:prstGeom>
          <a:noFill/>
          <a:ln/>
        </p:spPr>
        <p:txBody>
          <a:bodyPr wrap="square" lIns="0" tIns="0" rIns="0" bIns="0" rtlCol="0" anchor="ctr"/>
          <a:lstStyle/>
          <a:p>
            <a:pPr algn="ctr" indent="0" marL="0">
              <a:buNone/>
            </a:pPr>
            <a:r>
              <a:rPr lang="en-US" sz="1400" b="1" dirty="0">
                <a:solidFill>
                  <a:schemeClr val="bg1"/>
                </a:solidFill>
              </a:rPr>
              <a:t>Member 3</a:t>
            </a:r>
            <a:endParaRPr lang="en-US" sz="1400" dirty="0"/>
          </a:p>
        </p:txBody>
      </p:sp>
      <p:sp>
        <p:nvSpPr>
          <p:cNvPr id="24" name="agenda row 4"/>
          <p:cNvSpPr/>
          <p:nvPr/>
        </p:nvSpPr>
        <p:spPr>
          <a:xfrm>
            <a:off x="548640" y="4261104"/>
            <a:ext cx="11091672" cy="822960"/>
          </a:xfrm>
          <a:prstGeom prst="roundRect">
            <a:avLst>
              <a:gd name="adj" fmla="val 13333"/>
            </a:avLst>
          </a:prstGeom>
          <a:solidFill>
            <a:schemeClr val="bg2"/>
          </a:solidFill>
          <a:ln/>
          <a:effectLst>
            <a:outerShdw sx="100000" sy="100000" kx="0" ky="0" algn="bl" rotWithShape="0" blurRad="76200" dist="25400" dir="5400000">
              <a:srgbClr val="000000">
                <a:alpha val="10000"/>
              </a:srgbClr>
            </a:outerShdw>
          </a:effectLst>
        </p:spPr>
      </p:sp>
      <p:sp>
        <p:nvSpPr>
          <p:cNvPr id="25" name="agenda number 4"/>
          <p:cNvSpPr/>
          <p:nvPr/>
        </p:nvSpPr>
        <p:spPr>
          <a:xfrm>
            <a:off x="777240" y="4416552"/>
            <a:ext cx="512064" cy="512064"/>
          </a:xfrm>
          <a:prstGeom prst="ellipse">
            <a:avLst/>
          </a:prstGeom>
          <a:solidFill>
            <a:schemeClr val="accent1"/>
          </a:solidFill>
          <a:ln/>
        </p:spPr>
      </p:sp>
      <p:sp>
        <p:nvSpPr>
          <p:cNvPr id="26" name="Text 24"/>
          <p:cNvSpPr txBox="1"/>
          <p:nvPr/>
        </p:nvSpPr>
        <p:spPr>
          <a:xfrm>
            <a:off x="777240" y="4416552"/>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7" name="Text 25"/>
          <p:cNvSpPr txBox="1"/>
          <p:nvPr/>
        </p:nvSpPr>
        <p:spPr>
          <a:xfrm>
            <a:off x="1600200" y="4370832"/>
            <a:ext cx="6858000" cy="365760"/>
          </a:xfrm>
          <a:prstGeom prst="rect">
            <a:avLst/>
          </a:prstGeom>
          <a:noFill/>
          <a:ln/>
        </p:spPr>
        <p:txBody>
          <a:bodyPr wrap="square" lIns="0" tIns="0" rIns="0" bIns="0" rtlCol="0" anchor="t"/>
          <a:lstStyle/>
          <a:p>
            <a:pPr indent="0" marL="0">
              <a:buNone/>
            </a:pPr>
            <a:r>
              <a:rPr lang="en-US" sz="2000" b="1" dirty="0">
                <a:solidFill>
                  <a:schemeClr val="tx1"/>
                </a:solidFill>
              </a:rPr>
              <a:t>What's left and what's next</a:t>
            </a:r>
            <a:endParaRPr lang="en-US" sz="2000" dirty="0"/>
          </a:p>
        </p:txBody>
      </p:sp>
      <p:sp>
        <p:nvSpPr>
          <p:cNvPr id="28" name="Text 26"/>
          <p:cNvSpPr txBox="1"/>
          <p:nvPr/>
        </p:nvSpPr>
        <p:spPr>
          <a:xfrm>
            <a:off x="1600200" y="4736592"/>
            <a:ext cx="6858000" cy="274320"/>
          </a:xfrm>
          <a:prstGeom prst="rect">
            <a:avLst/>
          </a:prstGeom>
          <a:noFill/>
          <a:ln/>
        </p:spPr>
        <p:txBody>
          <a:bodyPr wrap="square" lIns="0" tIns="0" rIns="0" bIns="0" rtlCol="0" anchor="t"/>
          <a:lstStyle/>
          <a:p>
            <a:pPr indent="0" marL="0">
              <a:buNone/>
            </a:pPr>
            <a:r>
              <a:rPr lang="en-US" sz="1400" dirty="0">
                <a:solidFill>
                  <a:schemeClr val="accent5"/>
                </a:solidFill>
              </a:rPr>
              <a:t>What we'll finish, and extras to stand out</a:t>
            </a:r>
            <a:endParaRPr lang="en-US" sz="1400" dirty="0"/>
          </a:p>
        </p:txBody>
      </p:sp>
      <p:sp>
        <p:nvSpPr>
          <p:cNvPr id="29" name="presenter 4"/>
          <p:cNvSpPr/>
          <p:nvPr/>
        </p:nvSpPr>
        <p:spPr>
          <a:xfrm>
            <a:off x="9326880" y="4462272"/>
            <a:ext cx="2057400" cy="420624"/>
          </a:xfrm>
          <a:prstGeom prst="roundRect">
            <a:avLst>
              <a:gd name="adj" fmla="val 17391"/>
            </a:avLst>
          </a:prstGeom>
          <a:solidFill>
            <a:srgbClr val="0E7C7B"/>
          </a:solidFill>
          <a:ln/>
        </p:spPr>
      </p:sp>
      <p:sp>
        <p:nvSpPr>
          <p:cNvPr id="30" name="Text 28"/>
          <p:cNvSpPr txBox="1"/>
          <p:nvPr/>
        </p:nvSpPr>
        <p:spPr>
          <a:xfrm>
            <a:off x="9326880" y="4462272"/>
            <a:ext cx="2057400" cy="420624"/>
          </a:xfrm>
          <a:prstGeom prst="rect">
            <a:avLst/>
          </a:prstGeom>
          <a:noFill/>
          <a:ln/>
        </p:spPr>
        <p:txBody>
          <a:bodyPr wrap="square" lIns="0" tIns="0" rIns="0" bIns="0" rtlCol="0" anchor="ctr"/>
          <a:lstStyle/>
          <a:p>
            <a:pPr algn="ctr" indent="0" marL="0">
              <a:buNone/>
            </a:pPr>
            <a:r>
              <a:rPr lang="en-US" sz="1400" b="1" dirty="0">
                <a:solidFill>
                  <a:schemeClr val="bg1"/>
                </a:solidFill>
              </a:rPr>
              <a:t>Member 4</a:t>
            </a:r>
            <a:endParaRPr lang="en-US" sz="1400" dirty="0"/>
          </a:p>
        </p:txBody>
      </p:sp>
      <p:sp>
        <p:nvSpPr>
          <p:cNvPr id="31" name="agenda row 5"/>
          <p:cNvSpPr/>
          <p:nvPr/>
        </p:nvSpPr>
        <p:spPr>
          <a:xfrm>
            <a:off x="548640" y="5193792"/>
            <a:ext cx="11091672" cy="822960"/>
          </a:xfrm>
          <a:prstGeom prst="roundRect">
            <a:avLst>
              <a:gd name="adj" fmla="val 13333"/>
            </a:avLst>
          </a:prstGeom>
          <a:solidFill>
            <a:schemeClr val="bg2"/>
          </a:solidFill>
          <a:ln/>
          <a:effectLst>
            <a:outerShdw sx="100000" sy="100000" kx="0" ky="0" algn="bl" rotWithShape="0" blurRad="76200" dist="25400" dir="5400000">
              <a:srgbClr val="000000">
                <a:alpha val="10000"/>
              </a:srgbClr>
            </a:outerShdw>
          </a:effectLst>
        </p:spPr>
      </p:sp>
      <p:sp>
        <p:nvSpPr>
          <p:cNvPr id="32" name="agenda number 5"/>
          <p:cNvSpPr/>
          <p:nvPr/>
        </p:nvSpPr>
        <p:spPr>
          <a:xfrm>
            <a:off x="777240" y="5349240"/>
            <a:ext cx="512064" cy="512064"/>
          </a:xfrm>
          <a:prstGeom prst="ellipse">
            <a:avLst/>
          </a:prstGeom>
          <a:solidFill>
            <a:schemeClr val="accent1"/>
          </a:solidFill>
          <a:ln/>
        </p:spPr>
      </p:sp>
      <p:sp>
        <p:nvSpPr>
          <p:cNvPr id="33" name="Text 31"/>
          <p:cNvSpPr txBox="1"/>
          <p:nvPr/>
        </p:nvSpPr>
        <p:spPr>
          <a:xfrm>
            <a:off x="777240" y="5349240"/>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4" name="Text 32"/>
          <p:cNvSpPr txBox="1"/>
          <p:nvPr/>
        </p:nvSpPr>
        <p:spPr>
          <a:xfrm>
            <a:off x="1600200" y="5303520"/>
            <a:ext cx="6858000" cy="365760"/>
          </a:xfrm>
          <a:prstGeom prst="rect">
            <a:avLst/>
          </a:prstGeom>
          <a:noFill/>
          <a:ln/>
        </p:spPr>
        <p:txBody>
          <a:bodyPr wrap="square" lIns="0" tIns="0" rIns="0" bIns="0" rtlCol="0" anchor="t"/>
          <a:lstStyle/>
          <a:p>
            <a:pPr indent="0" marL="0">
              <a:buNone/>
            </a:pPr>
            <a:r>
              <a:rPr lang="en-US" sz="2000" b="1" dirty="0">
                <a:solidFill>
                  <a:schemeClr val="tx1"/>
                </a:solidFill>
              </a:rPr>
              <a:t>Results, limits and our team</a:t>
            </a:r>
            <a:endParaRPr lang="en-US" sz="2000" dirty="0"/>
          </a:p>
        </p:txBody>
      </p:sp>
      <p:sp>
        <p:nvSpPr>
          <p:cNvPr id="35" name="Text 33"/>
          <p:cNvSpPr txBox="1"/>
          <p:nvPr/>
        </p:nvSpPr>
        <p:spPr>
          <a:xfrm>
            <a:off x="1600200" y="5669280"/>
            <a:ext cx="6858000" cy="274320"/>
          </a:xfrm>
          <a:prstGeom prst="rect">
            <a:avLst/>
          </a:prstGeom>
          <a:noFill/>
          <a:ln/>
        </p:spPr>
        <p:txBody>
          <a:bodyPr wrap="square" lIns="0" tIns="0" rIns="0" bIns="0" rtlCol="0" anchor="t"/>
          <a:lstStyle/>
          <a:p>
            <a:pPr indent="0" marL="0">
              <a:buNone/>
            </a:pPr>
            <a:r>
              <a:rPr lang="en-US" sz="1400" dirty="0">
                <a:solidFill>
                  <a:schemeClr val="accent5"/>
                </a:solidFill>
              </a:rPr>
              <a:t>Our test results and who did what</a:t>
            </a:r>
            <a:endParaRPr lang="en-US" sz="1400" dirty="0"/>
          </a:p>
        </p:txBody>
      </p:sp>
      <p:sp>
        <p:nvSpPr>
          <p:cNvPr id="36" name="presenter 5"/>
          <p:cNvSpPr/>
          <p:nvPr/>
        </p:nvSpPr>
        <p:spPr>
          <a:xfrm>
            <a:off x="9326880" y="5394960"/>
            <a:ext cx="2057400" cy="420624"/>
          </a:xfrm>
          <a:prstGeom prst="roundRect">
            <a:avLst>
              <a:gd name="adj" fmla="val 17391"/>
            </a:avLst>
          </a:prstGeom>
          <a:solidFill>
            <a:srgbClr val="0E7C7B"/>
          </a:solidFill>
          <a:ln/>
        </p:spPr>
      </p:sp>
      <p:sp>
        <p:nvSpPr>
          <p:cNvPr id="37" name="Text 35"/>
          <p:cNvSpPr txBox="1"/>
          <p:nvPr/>
        </p:nvSpPr>
        <p:spPr>
          <a:xfrm>
            <a:off x="9326880" y="5394960"/>
            <a:ext cx="2057400" cy="420624"/>
          </a:xfrm>
          <a:prstGeom prst="rect">
            <a:avLst/>
          </a:prstGeom>
          <a:noFill/>
          <a:ln/>
        </p:spPr>
        <p:txBody>
          <a:bodyPr wrap="square" lIns="0" tIns="0" rIns="0" bIns="0" rtlCol="0" anchor="ctr"/>
          <a:lstStyle/>
          <a:p>
            <a:pPr algn="ctr" indent="0" marL="0">
              <a:buNone/>
            </a:pPr>
            <a:r>
              <a:rPr lang="en-US" sz="1400" b="1" dirty="0">
                <a:solidFill>
                  <a:schemeClr val="bg1"/>
                </a:solidFill>
              </a:rPr>
              <a:t>Member 5</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Why stiff AI text is a problem</a:t>
            </a:r>
            <a:endParaRPr lang="en-US" sz="3600" dirty="0"/>
          </a:p>
        </p:txBody>
      </p:sp>
      <p:sp>
        <p:nvSpPr>
          <p:cNvPr id="3" name="It sounds stiff circle"/>
          <p:cNvSpPr/>
          <p:nvPr/>
        </p:nvSpPr>
        <p:spPr>
          <a:xfrm>
            <a:off x="548640" y="1554480"/>
            <a:ext cx="777240" cy="777240"/>
          </a:xfrm>
          <a:prstGeom prst="ellipse">
            <a:avLst/>
          </a:prstGeom>
          <a:solidFill>
            <a:srgbClr val="0E7C7B"/>
          </a:solidFill>
          <a:ln/>
        </p:spPr>
      </p:sp>
      <p:pic>
        <p:nvPicPr>
          <p:cNvPr id="4" name="Image 0" descr="It sounds stiff">    </p:cNvPr>
          <p:cNvPicPr>
            <a:picLocks noChangeAspect="1"/>
          </p:cNvPicPr>
          <p:nvPr/>
        </p:nvPicPr>
        <p:blipFill>
          <a:blip r:embed="rId1"/>
          <a:stretch>
            <a:fillRect/>
          </a:stretch>
        </p:blipFill>
        <p:spPr>
          <a:xfrm>
            <a:off x="742950" y="1748790"/>
            <a:ext cx="388620" cy="388620"/>
          </a:xfrm>
          <a:prstGeom prst="rect">
            <a:avLst/>
          </a:prstGeom>
        </p:spPr>
      </p:pic>
      <p:sp>
        <p:nvSpPr>
          <p:cNvPr id="5" name="Text 2"/>
          <p:cNvSpPr txBox="1"/>
          <p:nvPr/>
        </p:nvSpPr>
        <p:spPr>
          <a:xfrm>
            <a:off x="1600200" y="1572768"/>
            <a:ext cx="4754880" cy="411480"/>
          </a:xfrm>
          <a:prstGeom prst="rect">
            <a:avLst/>
          </a:prstGeom>
          <a:noFill/>
          <a:ln/>
        </p:spPr>
        <p:txBody>
          <a:bodyPr wrap="square" lIns="0" tIns="0" rIns="0" bIns="0" rtlCol="0" anchor="t"/>
          <a:lstStyle/>
          <a:p>
            <a:pPr indent="0" marL="0">
              <a:buNone/>
            </a:pPr>
            <a:r>
              <a:rPr lang="en-US" sz="2200" b="1" dirty="0">
                <a:solidFill>
                  <a:schemeClr val="tx1"/>
                </a:solidFill>
              </a:rPr>
              <a:t>It sounds stiff</a:t>
            </a:r>
            <a:endParaRPr lang="en-US" sz="2200" dirty="0"/>
          </a:p>
        </p:txBody>
      </p:sp>
      <p:sp>
        <p:nvSpPr>
          <p:cNvPr id="6" name="Text 3"/>
          <p:cNvSpPr txBox="1"/>
          <p:nvPr/>
        </p:nvSpPr>
        <p:spPr>
          <a:xfrm>
            <a:off x="1600200" y="2011680"/>
            <a:ext cx="4754880" cy="731520"/>
          </a:xfrm>
          <a:prstGeom prst="rect">
            <a:avLst/>
          </a:prstGeom>
          <a:noFill/>
          <a:ln/>
        </p:spPr>
        <p:txBody>
          <a:bodyPr wrap="square" lIns="0" tIns="0" rIns="0" bIns="0" rtlCol="0" anchor="t"/>
          <a:lstStyle/>
          <a:p>
            <a:pPr indent="0" marL="0">
              <a:buNone/>
            </a:pPr>
            <a:r>
              <a:rPr lang="en-US" sz="1600" dirty="0">
                <a:solidFill>
                  <a:schemeClr val="accent5"/>
                </a:solidFill>
              </a:rPr>
              <a:t>Same openers again and again, and filler like 'It is important to note that'.</a:t>
            </a:r>
            <a:endParaRPr lang="en-US" sz="1600" dirty="0"/>
          </a:p>
        </p:txBody>
      </p:sp>
      <p:sp>
        <p:nvSpPr>
          <p:cNvPr id="7" name="Rewrites can change facts circle"/>
          <p:cNvSpPr/>
          <p:nvPr/>
        </p:nvSpPr>
        <p:spPr>
          <a:xfrm>
            <a:off x="548640" y="3017520"/>
            <a:ext cx="777240" cy="777240"/>
          </a:xfrm>
          <a:prstGeom prst="ellipse">
            <a:avLst/>
          </a:prstGeom>
          <a:solidFill>
            <a:srgbClr val="0E7C7B"/>
          </a:solidFill>
          <a:ln/>
        </p:spPr>
      </p:sp>
      <p:pic>
        <p:nvPicPr>
          <p:cNvPr id="8" name="Image 1" descr="Rewrites can change facts">    </p:cNvPr>
          <p:cNvPicPr>
            <a:picLocks noChangeAspect="1"/>
          </p:cNvPicPr>
          <p:nvPr/>
        </p:nvPicPr>
        <p:blipFill>
          <a:blip r:embed="rId2"/>
          <a:stretch>
            <a:fillRect/>
          </a:stretch>
        </p:blipFill>
        <p:spPr>
          <a:xfrm>
            <a:off x="742950" y="3211830"/>
            <a:ext cx="388620" cy="388620"/>
          </a:xfrm>
          <a:prstGeom prst="rect">
            <a:avLst/>
          </a:prstGeom>
        </p:spPr>
      </p:pic>
      <p:sp>
        <p:nvSpPr>
          <p:cNvPr id="9" name="Text 5"/>
          <p:cNvSpPr txBox="1"/>
          <p:nvPr/>
        </p:nvSpPr>
        <p:spPr>
          <a:xfrm>
            <a:off x="1600200" y="3035808"/>
            <a:ext cx="4754880" cy="411480"/>
          </a:xfrm>
          <a:prstGeom prst="rect">
            <a:avLst/>
          </a:prstGeom>
          <a:noFill/>
          <a:ln/>
        </p:spPr>
        <p:txBody>
          <a:bodyPr wrap="square" lIns="0" tIns="0" rIns="0" bIns="0" rtlCol="0" anchor="t"/>
          <a:lstStyle/>
          <a:p>
            <a:pPr indent="0" marL="0">
              <a:buNone/>
            </a:pPr>
            <a:r>
              <a:rPr lang="en-US" sz="2200" b="1" dirty="0">
                <a:solidFill>
                  <a:schemeClr val="tx1"/>
                </a:solidFill>
              </a:rPr>
              <a:t>Rewrites can change facts</a:t>
            </a:r>
            <a:endParaRPr lang="en-US" sz="2200" dirty="0"/>
          </a:p>
        </p:txBody>
      </p:sp>
      <p:sp>
        <p:nvSpPr>
          <p:cNvPr id="10" name="Text 6"/>
          <p:cNvSpPr txBox="1"/>
          <p:nvPr/>
        </p:nvSpPr>
        <p:spPr>
          <a:xfrm>
            <a:off x="1600200" y="3474720"/>
            <a:ext cx="4754880" cy="731520"/>
          </a:xfrm>
          <a:prstGeom prst="rect">
            <a:avLst/>
          </a:prstGeom>
          <a:noFill/>
          <a:ln/>
        </p:spPr>
        <p:txBody>
          <a:bodyPr wrap="square" lIns="0" tIns="0" rIns="0" bIns="0" rtlCol="0" anchor="t"/>
          <a:lstStyle/>
          <a:p>
            <a:pPr indent="0" marL="0">
              <a:buNone/>
            </a:pPr>
            <a:r>
              <a:rPr lang="en-US" sz="1600" dirty="0">
                <a:solidFill>
                  <a:schemeClr val="accent5"/>
                </a:solidFill>
              </a:rPr>
              <a:t>A score, a date or a name can quietly change when AI rewrites text.</a:t>
            </a:r>
            <a:endParaRPr lang="en-US" sz="1600" dirty="0"/>
          </a:p>
        </p:txBody>
      </p:sp>
      <p:sp>
        <p:nvSpPr>
          <p:cNvPr id="11" name="You can't see the proof circle"/>
          <p:cNvSpPr/>
          <p:nvPr/>
        </p:nvSpPr>
        <p:spPr>
          <a:xfrm>
            <a:off x="548640" y="4480560"/>
            <a:ext cx="777240" cy="777240"/>
          </a:xfrm>
          <a:prstGeom prst="ellipse">
            <a:avLst/>
          </a:prstGeom>
          <a:solidFill>
            <a:srgbClr val="0E7C7B"/>
          </a:solidFill>
          <a:ln/>
        </p:spPr>
      </p:sp>
      <p:pic>
        <p:nvPicPr>
          <p:cNvPr id="12" name="Image 2" descr="You can't see the proof">    </p:cNvPr>
          <p:cNvPicPr>
            <a:picLocks noChangeAspect="1"/>
          </p:cNvPicPr>
          <p:nvPr/>
        </p:nvPicPr>
        <p:blipFill>
          <a:blip r:embed="rId3"/>
          <a:stretch>
            <a:fillRect/>
          </a:stretch>
        </p:blipFill>
        <p:spPr>
          <a:xfrm>
            <a:off x="742950" y="4674870"/>
            <a:ext cx="388620" cy="388620"/>
          </a:xfrm>
          <a:prstGeom prst="rect">
            <a:avLst/>
          </a:prstGeom>
        </p:spPr>
      </p:pic>
      <p:sp>
        <p:nvSpPr>
          <p:cNvPr id="13" name="Text 8"/>
          <p:cNvSpPr txBox="1"/>
          <p:nvPr/>
        </p:nvSpPr>
        <p:spPr>
          <a:xfrm>
            <a:off x="1600200" y="4498848"/>
            <a:ext cx="4754880" cy="411480"/>
          </a:xfrm>
          <a:prstGeom prst="rect">
            <a:avLst/>
          </a:prstGeom>
          <a:noFill/>
          <a:ln/>
        </p:spPr>
        <p:txBody>
          <a:bodyPr wrap="square" lIns="0" tIns="0" rIns="0" bIns="0" rtlCol="0" anchor="t"/>
          <a:lstStyle/>
          <a:p>
            <a:pPr indent="0" marL="0">
              <a:buNone/>
            </a:pPr>
            <a:r>
              <a:rPr lang="en-US" sz="2200" b="1" dirty="0">
                <a:solidFill>
                  <a:schemeClr val="tx1"/>
                </a:solidFill>
              </a:rPr>
              <a:t>You can't see the proof</a:t>
            </a:r>
            <a:endParaRPr lang="en-US" sz="2200" dirty="0"/>
          </a:p>
        </p:txBody>
      </p:sp>
      <p:sp>
        <p:nvSpPr>
          <p:cNvPr id="14" name="Text 9"/>
          <p:cNvSpPr txBox="1"/>
          <p:nvPr/>
        </p:nvSpPr>
        <p:spPr>
          <a:xfrm>
            <a:off x="1600200" y="4937760"/>
            <a:ext cx="4754880" cy="731520"/>
          </a:xfrm>
          <a:prstGeom prst="rect">
            <a:avLst/>
          </a:prstGeom>
          <a:noFill/>
          <a:ln/>
        </p:spPr>
        <p:txBody>
          <a:bodyPr wrap="square" lIns="0" tIns="0" rIns="0" bIns="0" rtlCol="0" anchor="t"/>
          <a:lstStyle/>
          <a:p>
            <a:pPr indent="0" marL="0">
              <a:buNone/>
            </a:pPr>
            <a:r>
              <a:rPr lang="en-US" sz="1600" dirty="0">
                <a:solidFill>
                  <a:schemeClr val="accent5"/>
                </a:solidFill>
              </a:rPr>
              <a:t>You get smooth text, but nothing shows the meaning stayed the same.</a:t>
            </a:r>
            <a:endParaRPr lang="en-US" sz="1600" dirty="0"/>
          </a:p>
        </p:txBody>
      </p:sp>
      <p:sp>
        <p:nvSpPr>
          <p:cNvPr id="15" name="idea card"/>
          <p:cNvSpPr/>
          <p:nvPr/>
        </p:nvSpPr>
        <p:spPr>
          <a:xfrm>
            <a:off x="6858000" y="1554480"/>
            <a:ext cx="4782312" cy="4206240"/>
          </a:xfrm>
          <a:prstGeom prst="roundRect">
            <a:avLst>
              <a:gd name="adj" fmla="val 2609"/>
            </a:avLst>
          </a:prstGeom>
          <a:solidFill>
            <a:schemeClr val="accent1"/>
          </a:solidFill>
          <a:ln/>
          <a:effectLst>
            <a:outerShdw sx="100000" sy="100000" kx="0" ky="0" algn="bl" rotWithShape="0" blurRad="76200" dist="25400" dir="5400000">
              <a:srgbClr val="000000">
                <a:alpha val="10000"/>
              </a:srgbClr>
            </a:outerShdw>
          </a:effectLst>
        </p:spPr>
      </p:sp>
      <p:sp>
        <p:nvSpPr>
          <p:cNvPr id="16" name="Text 11"/>
          <p:cNvSpPr txBox="1"/>
          <p:nvPr/>
        </p:nvSpPr>
        <p:spPr>
          <a:xfrm>
            <a:off x="7178040" y="1828800"/>
            <a:ext cx="4114800" cy="274320"/>
          </a:xfrm>
          <a:prstGeom prst="rect">
            <a:avLst/>
          </a:prstGeom>
          <a:noFill/>
          <a:ln/>
        </p:spPr>
        <p:txBody>
          <a:bodyPr wrap="square" lIns="0" tIns="0" rIns="0" bIns="0" rtlCol="0" anchor="t"/>
          <a:lstStyle/>
          <a:p>
            <a:pPr indent="0" marL="0">
              <a:buNone/>
            </a:pPr>
            <a:r>
              <a:rPr lang="en-US" sz="1400" b="1" dirty="0">
                <a:solidFill>
                  <a:schemeClr val="bg2"/>
                </a:solidFill>
              </a:rPr>
              <a:t>OUR IDEA</a:t>
            </a:r>
            <a:endParaRPr lang="en-US" sz="1400" dirty="0"/>
          </a:p>
        </p:txBody>
      </p:sp>
      <p:sp>
        <p:nvSpPr>
          <p:cNvPr id="17" name="Text 12"/>
          <p:cNvSpPr txBox="1"/>
          <p:nvPr/>
        </p:nvSpPr>
        <p:spPr>
          <a:xfrm>
            <a:off x="7178040" y="2286000"/>
            <a:ext cx="4160520" cy="2011680"/>
          </a:xfrm>
          <a:prstGeom prst="rect">
            <a:avLst/>
          </a:prstGeom>
          <a:noFill/>
          <a:ln/>
        </p:spPr>
        <p:txBody>
          <a:bodyPr wrap="square" lIns="0" tIns="0" rIns="0" bIns="0" rtlCol="0" anchor="t"/>
          <a:lstStyle/>
          <a:p>
            <a:pPr indent="0" marL="0">
              <a:buNone/>
            </a:pPr>
            <a:r>
              <a:rPr lang="en-US" sz="2800" b="1" dirty="0">
                <a:solidFill>
                  <a:schemeClr val="bg1"/>
                </a:solidFill>
              </a:rPr>
              <a:t>Sound more human, but never change the facts. And show the proof.</a:t>
            </a:r>
            <a:endParaRPr lang="en-US" sz="2800" dirty="0"/>
          </a:p>
        </p:txBody>
      </p:sp>
      <p:sp>
        <p:nvSpPr>
          <p:cNvPr id="18" name="Text 13"/>
          <p:cNvSpPr txBox="1"/>
          <p:nvPr/>
        </p:nvSpPr>
        <p:spPr>
          <a:xfrm>
            <a:off x="7178040" y="4526280"/>
            <a:ext cx="4160520" cy="914400"/>
          </a:xfrm>
          <a:prstGeom prst="rect">
            <a:avLst/>
          </a:prstGeom>
          <a:noFill/>
          <a:ln/>
        </p:spPr>
        <p:txBody>
          <a:bodyPr wrap="square" lIns="0" tIns="0" rIns="0" bIns="0" rtlCol="0" anchor="t"/>
          <a:lstStyle/>
          <a:p>
            <a:pPr indent="0" marL="0">
              <a:buNone/>
            </a:pPr>
            <a:r>
              <a:rPr lang="en-US" sz="1600" dirty="0">
                <a:solidFill>
                  <a:schemeClr val="bg2"/>
                </a:solidFill>
              </a:rPr>
              <a:t>We rewrite first, then check the result before anyone sees it.</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How it works</a:t>
            </a:r>
            <a:endParaRPr lang="en-US" sz="3600" dirty="0"/>
          </a:p>
        </p:txBody>
      </p:sp>
      <p:sp>
        <p:nvSpPr>
          <p:cNvPr id="3" name="step card 1"/>
          <p:cNvSpPr/>
          <p:nvPr/>
        </p:nvSpPr>
        <p:spPr>
          <a:xfrm>
            <a:off x="548640" y="1463040"/>
            <a:ext cx="1691640" cy="3246120"/>
          </a:xfrm>
          <a:prstGeom prst="roundRect">
            <a:avLst>
              <a:gd name="adj" fmla="val 6486"/>
            </a:avLst>
          </a:prstGeom>
          <a:solidFill>
            <a:schemeClr val="bg2"/>
          </a:solidFill>
          <a:ln/>
          <a:effectLst>
            <a:outerShdw sx="100000" sy="100000" kx="0" ky="0" algn="bl" rotWithShape="0" blurRad="76200" dist="25400" dir="5400000">
              <a:srgbClr val="000000">
                <a:alpha val="10000"/>
              </a:srgbClr>
            </a:outerShdw>
          </a:effectLst>
        </p:spPr>
      </p:sp>
      <p:sp>
        <p:nvSpPr>
          <p:cNvPr id="4" name="1. Paste circle"/>
          <p:cNvSpPr/>
          <p:nvPr/>
        </p:nvSpPr>
        <p:spPr>
          <a:xfrm>
            <a:off x="731520" y="1645920"/>
            <a:ext cx="566928" cy="566928"/>
          </a:xfrm>
          <a:prstGeom prst="ellipse">
            <a:avLst/>
          </a:prstGeom>
          <a:solidFill>
            <a:srgbClr val="0E7C7B"/>
          </a:solidFill>
          <a:ln/>
        </p:spPr>
      </p:sp>
      <p:pic>
        <p:nvPicPr>
          <p:cNvPr id="5" name="Image 0" descr="1. Add text">    </p:cNvPr>
          <p:cNvPicPr>
            <a:picLocks noChangeAspect="1"/>
          </p:cNvPicPr>
          <p:nvPr/>
        </p:nvPicPr>
        <p:blipFill>
          <a:blip r:embed="rId1"/>
          <a:stretch>
            <a:fillRect/>
          </a:stretch>
        </p:blipFill>
        <p:spPr>
          <a:xfrm>
            <a:off x="873252" y="1787652"/>
            <a:ext cx="283464" cy="283464"/>
          </a:xfrm>
          <a:prstGeom prst="rect">
            <a:avLst/>
          </a:prstGeom>
        </p:spPr>
      </p:pic>
      <p:sp>
        <p:nvSpPr>
          <p:cNvPr id="6" name="Text 3"/>
          <p:cNvSpPr txBox="1"/>
          <p:nvPr/>
        </p:nvSpPr>
        <p:spPr>
          <a:xfrm>
            <a:off x="731520" y="2331720"/>
            <a:ext cx="1371600" cy="548640"/>
          </a:xfrm>
          <a:prstGeom prst="rect">
            <a:avLst/>
          </a:prstGeom>
          <a:noFill/>
          <a:ln/>
        </p:spPr>
        <p:txBody>
          <a:bodyPr wrap="square" lIns="0" tIns="0" rIns="0" bIns="0" rtlCol="0" anchor="t"/>
          <a:lstStyle/>
          <a:p>
            <a:pPr indent="0" marL="0">
              <a:buNone/>
            </a:pPr>
            <a:r>
              <a:rPr lang="en-US" sz="1600" b="1" dirty="0">
                <a:solidFill>
                  <a:schemeClr val="tx1"/>
                </a:solidFill>
              </a:rPr>
              <a:t>1. Add text</a:t>
            </a:r>
            <a:endParaRPr lang="en-US" sz="1600" dirty="0"/>
          </a:p>
        </p:txBody>
      </p:sp>
      <p:sp>
        <p:nvSpPr>
          <p:cNvPr id="7" name="Text 4"/>
          <p:cNvSpPr txBox="1"/>
          <p:nvPr/>
        </p:nvSpPr>
        <p:spPr>
          <a:xfrm>
            <a:off x="731520" y="2926080"/>
            <a:ext cx="1371600" cy="1188720"/>
          </a:xfrm>
          <a:prstGeom prst="rect">
            <a:avLst/>
          </a:prstGeom>
          <a:noFill/>
          <a:ln/>
        </p:spPr>
        <p:txBody>
          <a:bodyPr wrap="square" lIns="0" tIns="0" rIns="0" bIns="0" rtlCol="0" anchor="t"/>
          <a:lstStyle/>
          <a:p>
            <a:pPr indent="0" marL="0">
              <a:buNone/>
            </a:pPr>
            <a:r>
              <a:rPr lang="en-US" sz="1400" dirty="0">
                <a:solidFill>
                  <a:schemeClr val="accent5"/>
                </a:solidFill>
              </a:rPr>
              <a:t>Type, speak or upload a screenshot, then pick type and tone</a:t>
            </a:r>
            <a:endParaRPr lang="en-US" sz="1400" dirty="0"/>
          </a:p>
        </p:txBody>
      </p:sp>
      <p:sp>
        <p:nvSpPr>
          <p:cNvPr id="8" name="tag 1"/>
          <p:cNvSpPr/>
          <p:nvPr/>
        </p:nvSpPr>
        <p:spPr>
          <a:xfrm>
            <a:off x="731520" y="4206240"/>
            <a:ext cx="1325880" cy="292608"/>
          </a:xfrm>
          <a:prstGeom prst="roundRect">
            <a:avLst>
              <a:gd name="adj" fmla="val 25000"/>
            </a:avLst>
          </a:prstGeom>
          <a:solidFill>
            <a:srgbClr val="F2A541"/>
          </a:solidFill>
          <a:ln/>
        </p:spPr>
      </p:sp>
      <p:sp>
        <p:nvSpPr>
          <p:cNvPr id="9" name="Text 6"/>
          <p:cNvSpPr txBox="1"/>
          <p:nvPr/>
        </p:nvSpPr>
        <p:spPr>
          <a:xfrm>
            <a:off x="731520" y="4206240"/>
            <a:ext cx="1325880" cy="292608"/>
          </a:xfrm>
          <a:prstGeom prst="rect">
            <a:avLst/>
          </a:prstGeom>
          <a:noFill/>
          <a:ln/>
        </p:spPr>
        <p:txBody>
          <a:bodyPr wrap="square" lIns="0" tIns="0" rIns="0" bIns="0" rtlCol="0" anchor="ctr"/>
          <a:lstStyle/>
          <a:p>
            <a:pPr algn="ctr" indent="0" marL="0">
              <a:buNone/>
            </a:pPr>
            <a:r>
              <a:rPr lang="en-US" sz="1100" b="1" dirty="0">
                <a:solidFill>
                  <a:schemeClr val="tx1"/>
                </a:solidFill>
              </a:rPr>
              <a:t>Code + AI</a:t>
            </a:r>
            <a:endParaRPr lang="en-US" sz="1100" dirty="0"/>
          </a:p>
        </p:txBody>
      </p:sp>
      <p:sp>
        <p:nvSpPr>
          <p:cNvPr id="10" name="flow arrow 1"/>
          <p:cNvSpPr/>
          <p:nvPr/>
        </p:nvSpPr>
        <p:spPr>
          <a:xfrm>
            <a:off x="2203704" y="2926080"/>
            <a:ext cx="261518" cy="310896"/>
          </a:xfrm>
          <a:prstGeom prst="chevron">
            <a:avLst/>
          </a:prstGeom>
          <a:solidFill>
            <a:schemeClr val="accent2"/>
          </a:solidFill>
          <a:ln/>
        </p:spPr>
      </p:sp>
      <p:sp>
        <p:nvSpPr>
          <p:cNvPr id="11" name="step card 2"/>
          <p:cNvSpPr/>
          <p:nvPr/>
        </p:nvSpPr>
        <p:spPr>
          <a:xfrm>
            <a:off x="2428646" y="1463040"/>
            <a:ext cx="1691640" cy="3246120"/>
          </a:xfrm>
          <a:prstGeom prst="roundRect">
            <a:avLst>
              <a:gd name="adj" fmla="val 6486"/>
            </a:avLst>
          </a:prstGeom>
          <a:solidFill>
            <a:schemeClr val="bg2"/>
          </a:solidFill>
          <a:ln/>
          <a:effectLst>
            <a:outerShdw sx="100000" sy="100000" kx="0" ky="0" algn="bl" rotWithShape="0" blurRad="76200" dist="25400" dir="5400000">
              <a:srgbClr val="000000">
                <a:alpha val="10000"/>
              </a:srgbClr>
            </a:outerShdw>
          </a:effectLst>
        </p:spPr>
      </p:sp>
      <p:sp>
        <p:nvSpPr>
          <p:cNvPr id="12" name="2. Lock facts circle"/>
          <p:cNvSpPr/>
          <p:nvPr/>
        </p:nvSpPr>
        <p:spPr>
          <a:xfrm>
            <a:off x="2611526" y="1645920"/>
            <a:ext cx="566928" cy="566928"/>
          </a:xfrm>
          <a:prstGeom prst="ellipse">
            <a:avLst/>
          </a:prstGeom>
          <a:solidFill>
            <a:srgbClr val="0E7C7B"/>
          </a:solidFill>
          <a:ln/>
        </p:spPr>
      </p:sp>
      <p:pic>
        <p:nvPicPr>
          <p:cNvPr id="13" name="Image 1" descr="2. Lock facts">    </p:cNvPr>
          <p:cNvPicPr>
            <a:picLocks noChangeAspect="1"/>
          </p:cNvPicPr>
          <p:nvPr/>
        </p:nvPicPr>
        <p:blipFill>
          <a:blip r:embed="rId2"/>
          <a:stretch>
            <a:fillRect/>
          </a:stretch>
        </p:blipFill>
        <p:spPr>
          <a:xfrm>
            <a:off x="2753258" y="1787652"/>
            <a:ext cx="283464" cy="283464"/>
          </a:xfrm>
          <a:prstGeom prst="rect">
            <a:avLst/>
          </a:prstGeom>
        </p:spPr>
      </p:pic>
      <p:sp>
        <p:nvSpPr>
          <p:cNvPr id="14" name="Text 10"/>
          <p:cNvSpPr txBox="1"/>
          <p:nvPr/>
        </p:nvSpPr>
        <p:spPr>
          <a:xfrm>
            <a:off x="2611526" y="2331720"/>
            <a:ext cx="1371600" cy="548640"/>
          </a:xfrm>
          <a:prstGeom prst="rect">
            <a:avLst/>
          </a:prstGeom>
          <a:noFill/>
          <a:ln/>
        </p:spPr>
        <p:txBody>
          <a:bodyPr wrap="square" lIns="0" tIns="0" rIns="0" bIns="0" rtlCol="0" anchor="t"/>
          <a:lstStyle/>
          <a:p>
            <a:pPr indent="0" marL="0">
              <a:buNone/>
            </a:pPr>
            <a:r>
              <a:rPr lang="en-US" sz="1600" b="1" dirty="0">
                <a:solidFill>
                  <a:schemeClr val="tx1"/>
                </a:solidFill>
              </a:rPr>
              <a:t>2. Lock facts</a:t>
            </a:r>
            <a:endParaRPr lang="en-US" sz="1600" dirty="0"/>
          </a:p>
        </p:txBody>
      </p:sp>
      <p:sp>
        <p:nvSpPr>
          <p:cNvPr id="15" name="Text 11"/>
          <p:cNvSpPr txBox="1"/>
          <p:nvPr/>
        </p:nvSpPr>
        <p:spPr>
          <a:xfrm>
            <a:off x="2611526" y="2926080"/>
            <a:ext cx="1371600" cy="1188720"/>
          </a:xfrm>
          <a:prstGeom prst="rect">
            <a:avLst/>
          </a:prstGeom>
          <a:noFill/>
          <a:ln/>
        </p:spPr>
        <p:txBody>
          <a:bodyPr wrap="square" lIns="0" tIns="0" rIns="0" bIns="0" rtlCol="0" anchor="t"/>
          <a:lstStyle/>
          <a:p>
            <a:pPr indent="0" marL="0">
              <a:buNone/>
            </a:pPr>
            <a:r>
              <a:rPr lang="en-US" sz="1400" dirty="0">
                <a:solidFill>
                  <a:schemeClr val="accent5"/>
                </a:solidFill>
              </a:rPr>
              <a:t>Lock names, dates, scores and key terms</a:t>
            </a:r>
            <a:endParaRPr lang="en-US" sz="1400" dirty="0"/>
          </a:p>
        </p:txBody>
      </p:sp>
      <p:sp>
        <p:nvSpPr>
          <p:cNvPr id="16" name="tag 2"/>
          <p:cNvSpPr/>
          <p:nvPr/>
        </p:nvSpPr>
        <p:spPr>
          <a:xfrm>
            <a:off x="2611526" y="4206240"/>
            <a:ext cx="1325880" cy="292608"/>
          </a:xfrm>
          <a:prstGeom prst="roundRect">
            <a:avLst>
              <a:gd name="adj" fmla="val 25000"/>
            </a:avLst>
          </a:prstGeom>
          <a:solidFill>
            <a:srgbClr val="5B6B7A"/>
          </a:solidFill>
          <a:ln/>
        </p:spPr>
      </p:sp>
      <p:sp>
        <p:nvSpPr>
          <p:cNvPr id="17" name="Text 13"/>
          <p:cNvSpPr txBox="1"/>
          <p:nvPr/>
        </p:nvSpPr>
        <p:spPr>
          <a:xfrm>
            <a:off x="2611526" y="4206240"/>
            <a:ext cx="1325880" cy="292608"/>
          </a:xfrm>
          <a:prstGeom prst="rect">
            <a:avLst/>
          </a:prstGeom>
          <a:noFill/>
          <a:ln/>
        </p:spPr>
        <p:txBody>
          <a:bodyPr wrap="square" lIns="0" tIns="0" rIns="0" bIns="0" rtlCol="0" anchor="ctr"/>
          <a:lstStyle/>
          <a:p>
            <a:pPr algn="ctr" indent="0" marL="0">
              <a:buNone/>
            </a:pPr>
            <a:r>
              <a:rPr lang="en-US" sz="1100" b="1" dirty="0">
                <a:solidFill>
                  <a:schemeClr val="bg1"/>
                </a:solidFill>
              </a:rPr>
              <a:t>Our code</a:t>
            </a:r>
            <a:endParaRPr lang="en-US" sz="1100" dirty="0"/>
          </a:p>
        </p:txBody>
      </p:sp>
      <p:sp>
        <p:nvSpPr>
          <p:cNvPr id="18" name="flow arrow 2"/>
          <p:cNvSpPr/>
          <p:nvPr/>
        </p:nvSpPr>
        <p:spPr>
          <a:xfrm>
            <a:off x="4083710" y="2926080"/>
            <a:ext cx="261518" cy="310896"/>
          </a:xfrm>
          <a:prstGeom prst="chevron">
            <a:avLst/>
          </a:prstGeom>
          <a:solidFill>
            <a:schemeClr val="accent2"/>
          </a:solidFill>
          <a:ln/>
        </p:spPr>
      </p:sp>
      <p:sp>
        <p:nvSpPr>
          <p:cNvPr id="19" name="step card 3"/>
          <p:cNvSpPr/>
          <p:nvPr/>
        </p:nvSpPr>
        <p:spPr>
          <a:xfrm>
            <a:off x="4308653" y="1463040"/>
            <a:ext cx="1691640" cy="3246120"/>
          </a:xfrm>
          <a:prstGeom prst="roundRect">
            <a:avLst>
              <a:gd name="adj" fmla="val 6486"/>
            </a:avLst>
          </a:prstGeom>
          <a:solidFill>
            <a:schemeClr val="bg2"/>
          </a:solidFill>
          <a:ln/>
          <a:effectLst>
            <a:outerShdw sx="100000" sy="100000" kx="0" ky="0" algn="bl" rotWithShape="0" blurRad="76200" dist="25400" dir="5400000">
              <a:srgbClr val="000000">
                <a:alpha val="10000"/>
              </a:srgbClr>
            </a:outerShdw>
          </a:effectLst>
        </p:spPr>
      </p:sp>
      <p:sp>
        <p:nvSpPr>
          <p:cNvPr id="20" name="3. Check style circle"/>
          <p:cNvSpPr/>
          <p:nvPr/>
        </p:nvSpPr>
        <p:spPr>
          <a:xfrm>
            <a:off x="4491533" y="1645920"/>
            <a:ext cx="566928" cy="566928"/>
          </a:xfrm>
          <a:prstGeom prst="ellipse">
            <a:avLst/>
          </a:prstGeom>
          <a:solidFill>
            <a:srgbClr val="0E7C7B"/>
          </a:solidFill>
          <a:ln/>
        </p:spPr>
      </p:sp>
      <p:pic>
        <p:nvPicPr>
          <p:cNvPr id="21" name="Image 2" descr="3. Check style">    </p:cNvPr>
          <p:cNvPicPr>
            <a:picLocks noChangeAspect="1"/>
          </p:cNvPicPr>
          <p:nvPr/>
        </p:nvPicPr>
        <p:blipFill>
          <a:blip r:embed="rId3"/>
          <a:stretch>
            <a:fillRect/>
          </a:stretch>
        </p:blipFill>
        <p:spPr>
          <a:xfrm>
            <a:off x="4633265" y="1787652"/>
            <a:ext cx="283464" cy="283464"/>
          </a:xfrm>
          <a:prstGeom prst="rect">
            <a:avLst/>
          </a:prstGeom>
        </p:spPr>
      </p:pic>
      <p:sp>
        <p:nvSpPr>
          <p:cNvPr id="22" name="Text 17"/>
          <p:cNvSpPr txBox="1"/>
          <p:nvPr/>
        </p:nvSpPr>
        <p:spPr>
          <a:xfrm>
            <a:off x="4491533" y="2331720"/>
            <a:ext cx="1371600" cy="548640"/>
          </a:xfrm>
          <a:prstGeom prst="rect">
            <a:avLst/>
          </a:prstGeom>
          <a:noFill/>
          <a:ln/>
        </p:spPr>
        <p:txBody>
          <a:bodyPr wrap="square" lIns="0" tIns="0" rIns="0" bIns="0" rtlCol="0" anchor="t"/>
          <a:lstStyle/>
          <a:p>
            <a:pPr indent="0" marL="0">
              <a:buNone/>
            </a:pPr>
            <a:r>
              <a:rPr lang="en-US" sz="1600" b="1" dirty="0">
                <a:solidFill>
                  <a:schemeClr val="tx1"/>
                </a:solidFill>
              </a:rPr>
              <a:t>3. Check style</a:t>
            </a:r>
            <a:endParaRPr lang="en-US" sz="1600" dirty="0"/>
          </a:p>
        </p:txBody>
      </p:sp>
      <p:sp>
        <p:nvSpPr>
          <p:cNvPr id="23" name="Text 18"/>
          <p:cNvSpPr txBox="1"/>
          <p:nvPr/>
        </p:nvSpPr>
        <p:spPr>
          <a:xfrm>
            <a:off x="4491533" y="2926080"/>
            <a:ext cx="1371600" cy="1188720"/>
          </a:xfrm>
          <a:prstGeom prst="rect">
            <a:avLst/>
          </a:prstGeom>
          <a:noFill/>
          <a:ln/>
        </p:spPr>
        <p:txBody>
          <a:bodyPr wrap="square" lIns="0" tIns="0" rIns="0" bIns="0" rtlCol="0" anchor="t"/>
          <a:lstStyle/>
          <a:p>
            <a:pPr indent="0" marL="0">
              <a:buNone/>
            </a:pPr>
            <a:r>
              <a:rPr lang="en-US" sz="1400" dirty="0">
                <a:solidFill>
                  <a:schemeClr val="accent5"/>
                </a:solidFill>
              </a:rPr>
              <a:t>Find stiff or repeated phrasing</a:t>
            </a:r>
            <a:endParaRPr lang="en-US" sz="1400" dirty="0"/>
          </a:p>
        </p:txBody>
      </p:sp>
      <p:sp>
        <p:nvSpPr>
          <p:cNvPr id="24" name="tag 3"/>
          <p:cNvSpPr/>
          <p:nvPr/>
        </p:nvSpPr>
        <p:spPr>
          <a:xfrm>
            <a:off x="4491533" y="4206240"/>
            <a:ext cx="1325880" cy="292608"/>
          </a:xfrm>
          <a:prstGeom prst="roundRect">
            <a:avLst>
              <a:gd name="adj" fmla="val 25000"/>
            </a:avLst>
          </a:prstGeom>
          <a:solidFill>
            <a:srgbClr val="5B6B7A"/>
          </a:solidFill>
          <a:ln/>
        </p:spPr>
      </p:sp>
      <p:sp>
        <p:nvSpPr>
          <p:cNvPr id="25" name="Text 20"/>
          <p:cNvSpPr txBox="1"/>
          <p:nvPr/>
        </p:nvSpPr>
        <p:spPr>
          <a:xfrm>
            <a:off x="4491533" y="4206240"/>
            <a:ext cx="1325880" cy="292608"/>
          </a:xfrm>
          <a:prstGeom prst="rect">
            <a:avLst/>
          </a:prstGeom>
          <a:noFill/>
          <a:ln/>
        </p:spPr>
        <p:txBody>
          <a:bodyPr wrap="square" lIns="0" tIns="0" rIns="0" bIns="0" rtlCol="0" anchor="ctr"/>
          <a:lstStyle/>
          <a:p>
            <a:pPr algn="ctr" indent="0" marL="0">
              <a:buNone/>
            </a:pPr>
            <a:r>
              <a:rPr lang="en-US" sz="1100" b="1" dirty="0">
                <a:solidFill>
                  <a:schemeClr val="bg1"/>
                </a:solidFill>
              </a:rPr>
              <a:t>Our code</a:t>
            </a:r>
            <a:endParaRPr lang="en-US" sz="1100" dirty="0"/>
          </a:p>
        </p:txBody>
      </p:sp>
      <p:sp>
        <p:nvSpPr>
          <p:cNvPr id="26" name="flow arrow 3"/>
          <p:cNvSpPr/>
          <p:nvPr/>
        </p:nvSpPr>
        <p:spPr>
          <a:xfrm>
            <a:off x="5963717" y="2926080"/>
            <a:ext cx="261518" cy="310896"/>
          </a:xfrm>
          <a:prstGeom prst="chevron">
            <a:avLst/>
          </a:prstGeom>
          <a:solidFill>
            <a:schemeClr val="accent2"/>
          </a:solidFill>
          <a:ln/>
        </p:spPr>
      </p:sp>
      <p:sp>
        <p:nvSpPr>
          <p:cNvPr id="27" name="step card 4"/>
          <p:cNvSpPr/>
          <p:nvPr/>
        </p:nvSpPr>
        <p:spPr>
          <a:xfrm>
            <a:off x="6188659" y="1463040"/>
            <a:ext cx="1691640" cy="3246120"/>
          </a:xfrm>
          <a:prstGeom prst="roundRect">
            <a:avLst>
              <a:gd name="adj" fmla="val 6486"/>
            </a:avLst>
          </a:prstGeom>
          <a:solidFill>
            <a:schemeClr val="bg2"/>
          </a:solidFill>
          <a:ln/>
          <a:effectLst>
            <a:outerShdw sx="100000" sy="100000" kx="0" ky="0" algn="bl" rotWithShape="0" blurRad="76200" dist="25400" dir="5400000">
              <a:srgbClr val="000000">
                <a:alpha val="10000"/>
              </a:srgbClr>
            </a:outerShdw>
          </a:effectLst>
        </p:spPr>
      </p:sp>
      <p:sp>
        <p:nvSpPr>
          <p:cNvPr id="28" name="4. Rewrite circle"/>
          <p:cNvSpPr/>
          <p:nvPr/>
        </p:nvSpPr>
        <p:spPr>
          <a:xfrm>
            <a:off x="6371539" y="1645920"/>
            <a:ext cx="566928" cy="566928"/>
          </a:xfrm>
          <a:prstGeom prst="ellipse">
            <a:avLst/>
          </a:prstGeom>
          <a:solidFill>
            <a:srgbClr val="0E7C7B"/>
          </a:solidFill>
          <a:ln/>
        </p:spPr>
      </p:sp>
      <p:pic>
        <p:nvPicPr>
          <p:cNvPr id="29" name="Image 3" descr="4. Rewrite">    </p:cNvPr>
          <p:cNvPicPr>
            <a:picLocks noChangeAspect="1"/>
          </p:cNvPicPr>
          <p:nvPr/>
        </p:nvPicPr>
        <p:blipFill>
          <a:blip r:embed="rId4"/>
          <a:stretch>
            <a:fillRect/>
          </a:stretch>
        </p:blipFill>
        <p:spPr>
          <a:xfrm>
            <a:off x="6513271" y="1787652"/>
            <a:ext cx="283464" cy="283464"/>
          </a:xfrm>
          <a:prstGeom prst="rect">
            <a:avLst/>
          </a:prstGeom>
        </p:spPr>
      </p:pic>
      <p:sp>
        <p:nvSpPr>
          <p:cNvPr id="30" name="Text 24"/>
          <p:cNvSpPr txBox="1"/>
          <p:nvPr/>
        </p:nvSpPr>
        <p:spPr>
          <a:xfrm>
            <a:off x="6371539" y="2331720"/>
            <a:ext cx="1371600" cy="548640"/>
          </a:xfrm>
          <a:prstGeom prst="rect">
            <a:avLst/>
          </a:prstGeom>
          <a:noFill/>
          <a:ln/>
        </p:spPr>
        <p:txBody>
          <a:bodyPr wrap="square" lIns="0" tIns="0" rIns="0" bIns="0" rtlCol="0" anchor="t"/>
          <a:lstStyle/>
          <a:p>
            <a:pPr indent="0" marL="0">
              <a:buNone/>
            </a:pPr>
            <a:r>
              <a:rPr lang="en-US" sz="1600" b="1" dirty="0">
                <a:solidFill>
                  <a:schemeClr val="tx1"/>
                </a:solidFill>
              </a:rPr>
              <a:t>4. Rewrite</a:t>
            </a:r>
            <a:endParaRPr lang="en-US" sz="1600" dirty="0"/>
          </a:p>
        </p:txBody>
      </p:sp>
      <p:sp>
        <p:nvSpPr>
          <p:cNvPr id="31" name="Text 25"/>
          <p:cNvSpPr txBox="1"/>
          <p:nvPr/>
        </p:nvSpPr>
        <p:spPr>
          <a:xfrm>
            <a:off x="6371539" y="2926080"/>
            <a:ext cx="1371600" cy="1188720"/>
          </a:xfrm>
          <a:prstGeom prst="rect">
            <a:avLst/>
          </a:prstGeom>
          <a:noFill/>
          <a:ln/>
        </p:spPr>
        <p:txBody>
          <a:bodyPr wrap="square" lIns="0" tIns="0" rIns="0" bIns="0" rtlCol="0" anchor="t"/>
          <a:lstStyle/>
          <a:p>
            <a:pPr indent="0" marL="0">
              <a:buNone/>
            </a:pPr>
            <a:r>
              <a:rPr lang="en-US" sz="1400" dirty="0">
                <a:solidFill>
                  <a:schemeClr val="accent5"/>
                </a:solidFill>
              </a:rPr>
              <a:t>AI rewrites it so it sounds natural</a:t>
            </a:r>
            <a:endParaRPr lang="en-US" sz="1400" dirty="0"/>
          </a:p>
        </p:txBody>
      </p:sp>
      <p:sp>
        <p:nvSpPr>
          <p:cNvPr id="32" name="tag 4"/>
          <p:cNvSpPr/>
          <p:nvPr/>
        </p:nvSpPr>
        <p:spPr>
          <a:xfrm>
            <a:off x="6371539" y="4206240"/>
            <a:ext cx="1325880" cy="292608"/>
          </a:xfrm>
          <a:prstGeom prst="roundRect">
            <a:avLst>
              <a:gd name="adj" fmla="val 25000"/>
            </a:avLst>
          </a:prstGeom>
          <a:solidFill>
            <a:srgbClr val="F2A541"/>
          </a:solidFill>
          <a:ln/>
        </p:spPr>
      </p:sp>
      <p:sp>
        <p:nvSpPr>
          <p:cNvPr id="33" name="Text 27"/>
          <p:cNvSpPr txBox="1"/>
          <p:nvPr/>
        </p:nvSpPr>
        <p:spPr>
          <a:xfrm>
            <a:off x="6371539" y="4206240"/>
            <a:ext cx="1325880" cy="292608"/>
          </a:xfrm>
          <a:prstGeom prst="rect">
            <a:avLst/>
          </a:prstGeom>
          <a:noFill/>
          <a:ln/>
        </p:spPr>
        <p:txBody>
          <a:bodyPr wrap="square" lIns="0" tIns="0" rIns="0" bIns="0" rtlCol="0" anchor="ctr"/>
          <a:lstStyle/>
          <a:p>
            <a:pPr algn="ctr" indent="0" marL="0">
              <a:buNone/>
            </a:pPr>
            <a:r>
              <a:rPr lang="en-US" sz="1100" b="1" dirty="0">
                <a:solidFill>
                  <a:schemeClr val="tx1"/>
                </a:solidFill>
              </a:rPr>
              <a:t>Gemini AI</a:t>
            </a:r>
            <a:endParaRPr lang="en-US" sz="1100" dirty="0"/>
          </a:p>
        </p:txBody>
      </p:sp>
      <p:sp>
        <p:nvSpPr>
          <p:cNvPr id="34" name="flow arrow 4"/>
          <p:cNvSpPr/>
          <p:nvPr/>
        </p:nvSpPr>
        <p:spPr>
          <a:xfrm>
            <a:off x="7843723" y="2926080"/>
            <a:ext cx="261518" cy="310896"/>
          </a:xfrm>
          <a:prstGeom prst="chevron">
            <a:avLst/>
          </a:prstGeom>
          <a:solidFill>
            <a:schemeClr val="accent2"/>
          </a:solidFill>
          <a:ln/>
        </p:spPr>
      </p:sp>
      <p:sp>
        <p:nvSpPr>
          <p:cNvPr id="35" name="step card 5"/>
          <p:cNvSpPr/>
          <p:nvPr/>
        </p:nvSpPr>
        <p:spPr>
          <a:xfrm>
            <a:off x="8068666" y="1463040"/>
            <a:ext cx="1691640" cy="3246120"/>
          </a:xfrm>
          <a:prstGeom prst="roundRect">
            <a:avLst>
              <a:gd name="adj" fmla="val 6486"/>
            </a:avLst>
          </a:prstGeom>
          <a:solidFill>
            <a:schemeClr val="bg2"/>
          </a:solidFill>
          <a:ln/>
          <a:effectLst>
            <a:outerShdw sx="100000" sy="100000" kx="0" ky="0" algn="bl" rotWithShape="0" blurRad="76200" dist="25400" dir="5400000">
              <a:srgbClr val="000000">
                <a:alpha val="10000"/>
              </a:srgbClr>
            </a:outerShdw>
          </a:effectLst>
        </p:spPr>
      </p:sp>
      <p:sp>
        <p:nvSpPr>
          <p:cNvPr id="36" name="5. Verify circle"/>
          <p:cNvSpPr/>
          <p:nvPr/>
        </p:nvSpPr>
        <p:spPr>
          <a:xfrm>
            <a:off x="8251546" y="1645920"/>
            <a:ext cx="566928" cy="566928"/>
          </a:xfrm>
          <a:prstGeom prst="ellipse">
            <a:avLst/>
          </a:prstGeom>
          <a:solidFill>
            <a:srgbClr val="0E7C7B"/>
          </a:solidFill>
          <a:ln/>
        </p:spPr>
      </p:sp>
      <p:pic>
        <p:nvPicPr>
          <p:cNvPr id="37" name="Image 4" descr="5. Verify">    </p:cNvPr>
          <p:cNvPicPr>
            <a:picLocks noChangeAspect="1"/>
          </p:cNvPicPr>
          <p:nvPr/>
        </p:nvPicPr>
        <p:blipFill>
          <a:blip r:embed="rId5"/>
          <a:stretch>
            <a:fillRect/>
          </a:stretch>
        </p:blipFill>
        <p:spPr>
          <a:xfrm>
            <a:off x="8393278" y="1787652"/>
            <a:ext cx="283464" cy="283464"/>
          </a:xfrm>
          <a:prstGeom prst="rect">
            <a:avLst/>
          </a:prstGeom>
        </p:spPr>
      </p:pic>
      <p:sp>
        <p:nvSpPr>
          <p:cNvPr id="38" name="Text 31"/>
          <p:cNvSpPr txBox="1"/>
          <p:nvPr/>
        </p:nvSpPr>
        <p:spPr>
          <a:xfrm>
            <a:off x="8251546" y="2331720"/>
            <a:ext cx="1371600" cy="548640"/>
          </a:xfrm>
          <a:prstGeom prst="rect">
            <a:avLst/>
          </a:prstGeom>
          <a:noFill/>
          <a:ln/>
        </p:spPr>
        <p:txBody>
          <a:bodyPr wrap="square" lIns="0" tIns="0" rIns="0" bIns="0" rtlCol="0" anchor="t"/>
          <a:lstStyle/>
          <a:p>
            <a:pPr indent="0" marL="0">
              <a:buNone/>
            </a:pPr>
            <a:r>
              <a:rPr lang="en-US" sz="1600" b="1" dirty="0">
                <a:solidFill>
                  <a:schemeClr val="tx1"/>
                </a:solidFill>
              </a:rPr>
              <a:t>5. Verify</a:t>
            </a:r>
            <a:endParaRPr lang="en-US" sz="1600" dirty="0"/>
          </a:p>
        </p:txBody>
      </p:sp>
      <p:sp>
        <p:nvSpPr>
          <p:cNvPr id="39" name="Text 32"/>
          <p:cNvSpPr txBox="1"/>
          <p:nvPr/>
        </p:nvSpPr>
        <p:spPr>
          <a:xfrm>
            <a:off x="8251546" y="2926080"/>
            <a:ext cx="1371600" cy="1188720"/>
          </a:xfrm>
          <a:prstGeom prst="rect">
            <a:avLst/>
          </a:prstGeom>
          <a:noFill/>
          <a:ln/>
        </p:spPr>
        <p:txBody>
          <a:bodyPr wrap="square" lIns="0" tIns="0" rIns="0" bIns="0" rtlCol="0" anchor="t"/>
          <a:lstStyle/>
          <a:p>
            <a:pPr indent="0" marL="0">
              <a:buNone/>
            </a:pPr>
            <a:r>
              <a:rPr lang="en-US" sz="1400" dirty="0">
                <a:solidFill>
                  <a:schemeClr val="accent5"/>
                </a:solidFill>
              </a:rPr>
              <a:t>Check every locked fact is still there</a:t>
            </a:r>
            <a:endParaRPr lang="en-US" sz="1400" dirty="0"/>
          </a:p>
        </p:txBody>
      </p:sp>
      <p:sp>
        <p:nvSpPr>
          <p:cNvPr id="40" name="tag 5"/>
          <p:cNvSpPr/>
          <p:nvPr/>
        </p:nvSpPr>
        <p:spPr>
          <a:xfrm>
            <a:off x="8251546" y="4206240"/>
            <a:ext cx="1325880" cy="292608"/>
          </a:xfrm>
          <a:prstGeom prst="roundRect">
            <a:avLst>
              <a:gd name="adj" fmla="val 25000"/>
            </a:avLst>
          </a:prstGeom>
          <a:solidFill>
            <a:srgbClr val="F2A541"/>
          </a:solidFill>
          <a:ln/>
        </p:spPr>
      </p:sp>
      <p:sp>
        <p:nvSpPr>
          <p:cNvPr id="41" name="Text 34"/>
          <p:cNvSpPr txBox="1"/>
          <p:nvPr/>
        </p:nvSpPr>
        <p:spPr>
          <a:xfrm>
            <a:off x="8251546" y="4206240"/>
            <a:ext cx="1325880" cy="292608"/>
          </a:xfrm>
          <a:prstGeom prst="rect">
            <a:avLst/>
          </a:prstGeom>
          <a:noFill/>
          <a:ln/>
        </p:spPr>
        <p:txBody>
          <a:bodyPr wrap="square" lIns="0" tIns="0" rIns="0" bIns="0" rtlCol="0" anchor="ctr"/>
          <a:lstStyle/>
          <a:p>
            <a:pPr algn="ctr" indent="0" marL="0">
              <a:buNone/>
            </a:pPr>
            <a:r>
              <a:rPr lang="en-US" sz="1100" b="1" dirty="0">
                <a:solidFill>
                  <a:schemeClr val="tx1"/>
                </a:solidFill>
              </a:rPr>
              <a:t>Code + AI</a:t>
            </a:r>
            <a:endParaRPr lang="en-US" sz="1100" dirty="0"/>
          </a:p>
        </p:txBody>
      </p:sp>
      <p:sp>
        <p:nvSpPr>
          <p:cNvPr id="42" name="flow arrow 5"/>
          <p:cNvSpPr/>
          <p:nvPr/>
        </p:nvSpPr>
        <p:spPr>
          <a:xfrm>
            <a:off x="9723730" y="2926080"/>
            <a:ext cx="261518" cy="310896"/>
          </a:xfrm>
          <a:prstGeom prst="chevron">
            <a:avLst/>
          </a:prstGeom>
          <a:solidFill>
            <a:schemeClr val="accent2"/>
          </a:solidFill>
          <a:ln/>
        </p:spPr>
      </p:sp>
      <p:sp>
        <p:nvSpPr>
          <p:cNvPr id="43" name="step card 6"/>
          <p:cNvSpPr/>
          <p:nvPr/>
        </p:nvSpPr>
        <p:spPr>
          <a:xfrm>
            <a:off x="9948672" y="1463040"/>
            <a:ext cx="1691640" cy="3246120"/>
          </a:xfrm>
          <a:prstGeom prst="roundRect">
            <a:avLst>
              <a:gd name="adj" fmla="val 6486"/>
            </a:avLst>
          </a:prstGeom>
          <a:solidFill>
            <a:schemeClr val="bg2"/>
          </a:solidFill>
          <a:ln/>
          <a:effectLst>
            <a:outerShdw sx="100000" sy="100000" kx="0" ky="0" algn="bl" rotWithShape="0" blurRad="76200" dist="25400" dir="5400000">
              <a:srgbClr val="000000">
                <a:alpha val="10000"/>
              </a:srgbClr>
            </a:outerShdw>
          </a:effectLst>
        </p:spPr>
      </p:sp>
      <p:sp>
        <p:nvSpPr>
          <p:cNvPr id="44" name="6. Show proof circle"/>
          <p:cNvSpPr/>
          <p:nvPr/>
        </p:nvSpPr>
        <p:spPr>
          <a:xfrm>
            <a:off x="10131552" y="1645920"/>
            <a:ext cx="566928" cy="566928"/>
          </a:xfrm>
          <a:prstGeom prst="ellipse">
            <a:avLst/>
          </a:prstGeom>
          <a:solidFill>
            <a:srgbClr val="0E7C7B"/>
          </a:solidFill>
          <a:ln/>
        </p:spPr>
      </p:sp>
      <p:pic>
        <p:nvPicPr>
          <p:cNvPr id="45" name="Image 5" descr="6. Show proof">    </p:cNvPr>
          <p:cNvPicPr>
            <a:picLocks noChangeAspect="1"/>
          </p:cNvPicPr>
          <p:nvPr/>
        </p:nvPicPr>
        <p:blipFill>
          <a:blip r:embed="rId6"/>
          <a:stretch>
            <a:fillRect/>
          </a:stretch>
        </p:blipFill>
        <p:spPr>
          <a:xfrm>
            <a:off x="10273284" y="1787652"/>
            <a:ext cx="283464" cy="283464"/>
          </a:xfrm>
          <a:prstGeom prst="rect">
            <a:avLst/>
          </a:prstGeom>
        </p:spPr>
      </p:pic>
      <p:sp>
        <p:nvSpPr>
          <p:cNvPr id="46" name="Text 38"/>
          <p:cNvSpPr txBox="1"/>
          <p:nvPr/>
        </p:nvSpPr>
        <p:spPr>
          <a:xfrm>
            <a:off x="10131552" y="2331720"/>
            <a:ext cx="1371600" cy="548640"/>
          </a:xfrm>
          <a:prstGeom prst="rect">
            <a:avLst/>
          </a:prstGeom>
          <a:noFill/>
          <a:ln/>
        </p:spPr>
        <p:txBody>
          <a:bodyPr wrap="square" lIns="0" tIns="0" rIns="0" bIns="0" rtlCol="0" anchor="t"/>
          <a:lstStyle/>
          <a:p>
            <a:pPr indent="0" marL="0">
              <a:buNone/>
            </a:pPr>
            <a:r>
              <a:rPr lang="en-US" sz="1600" b="1" dirty="0">
                <a:solidFill>
                  <a:schemeClr val="tx1"/>
                </a:solidFill>
              </a:rPr>
              <a:t>6. Show proof</a:t>
            </a:r>
            <a:endParaRPr lang="en-US" sz="1600" dirty="0"/>
          </a:p>
        </p:txBody>
      </p:sp>
      <p:sp>
        <p:nvSpPr>
          <p:cNvPr id="47" name="Text 39"/>
          <p:cNvSpPr txBox="1"/>
          <p:nvPr/>
        </p:nvSpPr>
        <p:spPr>
          <a:xfrm>
            <a:off x="10131552" y="2926080"/>
            <a:ext cx="1371600" cy="1188720"/>
          </a:xfrm>
          <a:prstGeom prst="rect">
            <a:avLst/>
          </a:prstGeom>
          <a:noFill/>
          <a:ln/>
        </p:spPr>
        <p:txBody>
          <a:bodyPr wrap="square" lIns="0" tIns="0" rIns="0" bIns="0" rtlCol="0" anchor="t"/>
          <a:lstStyle/>
          <a:p>
            <a:pPr indent="0" marL="0">
              <a:buNone/>
            </a:pPr>
            <a:r>
              <a:rPr lang="en-US" sz="1400" dirty="0">
                <a:solidFill>
                  <a:schemeClr val="accent5"/>
                </a:solidFill>
              </a:rPr>
              <a:t>Show PASS, REVIEW or BLOCKED with proof</a:t>
            </a:r>
            <a:endParaRPr lang="en-US" sz="1400" dirty="0"/>
          </a:p>
        </p:txBody>
      </p:sp>
      <p:sp>
        <p:nvSpPr>
          <p:cNvPr id="48" name="tag 6"/>
          <p:cNvSpPr/>
          <p:nvPr/>
        </p:nvSpPr>
        <p:spPr>
          <a:xfrm>
            <a:off x="10131552" y="4206240"/>
            <a:ext cx="1325880" cy="292608"/>
          </a:xfrm>
          <a:prstGeom prst="roundRect">
            <a:avLst>
              <a:gd name="adj" fmla="val 25000"/>
            </a:avLst>
          </a:prstGeom>
          <a:solidFill>
            <a:srgbClr val="5B6B7A"/>
          </a:solidFill>
          <a:ln/>
        </p:spPr>
      </p:sp>
      <p:sp>
        <p:nvSpPr>
          <p:cNvPr id="49" name="Text 41"/>
          <p:cNvSpPr txBox="1"/>
          <p:nvPr/>
        </p:nvSpPr>
        <p:spPr>
          <a:xfrm>
            <a:off x="10131552" y="4206240"/>
            <a:ext cx="1325880" cy="292608"/>
          </a:xfrm>
          <a:prstGeom prst="rect">
            <a:avLst/>
          </a:prstGeom>
          <a:noFill/>
          <a:ln/>
        </p:spPr>
        <p:txBody>
          <a:bodyPr wrap="square" lIns="0" tIns="0" rIns="0" bIns="0" rtlCol="0" anchor="ctr"/>
          <a:lstStyle/>
          <a:p>
            <a:pPr algn="ctr" indent="0" marL="0">
              <a:buNone/>
            </a:pPr>
            <a:r>
              <a:rPr lang="en-US" sz="1100" b="1" dirty="0">
                <a:solidFill>
                  <a:schemeClr val="bg1"/>
                </a:solidFill>
              </a:rPr>
              <a:t>Our code</a:t>
            </a:r>
            <a:endParaRPr lang="en-US" sz="1100" dirty="0"/>
          </a:p>
        </p:txBody>
      </p:sp>
      <p:sp>
        <p:nvSpPr>
          <p:cNvPr id="50" name="retry callout"/>
          <p:cNvSpPr/>
          <p:nvPr/>
        </p:nvSpPr>
        <p:spPr>
          <a:xfrm>
            <a:off x="548640" y="4983480"/>
            <a:ext cx="5440680" cy="1188720"/>
          </a:xfrm>
          <a:prstGeom prst="roundRect">
            <a:avLst>
              <a:gd name="adj" fmla="val 9231"/>
            </a:avLst>
          </a:prstGeom>
          <a:solidFill>
            <a:schemeClr val="bg2"/>
          </a:solidFill>
          <a:ln/>
          <a:effectLst>
            <a:outerShdw sx="100000" sy="100000" kx="0" ky="0" algn="bl" rotWithShape="0" blurRad="76200" dist="25400" dir="5400000">
              <a:srgbClr val="000000">
                <a:alpha val="10000"/>
              </a:srgbClr>
            </a:outerShdw>
          </a:effectLst>
        </p:spPr>
      </p:sp>
      <p:sp>
        <p:nvSpPr>
          <p:cNvPr id="51" name="retry circle"/>
          <p:cNvSpPr/>
          <p:nvPr/>
        </p:nvSpPr>
        <p:spPr>
          <a:xfrm>
            <a:off x="731520" y="5257800"/>
            <a:ext cx="640080" cy="640080"/>
          </a:xfrm>
          <a:prstGeom prst="ellipse">
            <a:avLst/>
          </a:prstGeom>
          <a:solidFill>
            <a:srgbClr val="C0392B"/>
          </a:solidFill>
          <a:ln/>
        </p:spPr>
      </p:sp>
      <p:pic>
        <p:nvPicPr>
          <p:cNvPr id="52" name="Image 6" descr="retry">    </p:cNvPr>
          <p:cNvPicPr>
            <a:picLocks noChangeAspect="1"/>
          </p:cNvPicPr>
          <p:nvPr/>
        </p:nvPicPr>
        <p:blipFill>
          <a:blip r:embed="rId7"/>
          <a:stretch>
            <a:fillRect/>
          </a:stretch>
        </p:blipFill>
        <p:spPr>
          <a:xfrm>
            <a:off x="891540" y="5417820"/>
            <a:ext cx="320040" cy="320040"/>
          </a:xfrm>
          <a:prstGeom prst="rect">
            <a:avLst/>
          </a:prstGeom>
        </p:spPr>
      </p:pic>
      <p:sp>
        <p:nvSpPr>
          <p:cNvPr id="53" name="Text 44"/>
          <p:cNvSpPr txBox="1"/>
          <p:nvPr/>
        </p:nvSpPr>
        <p:spPr>
          <a:xfrm>
            <a:off x="1554480" y="5120640"/>
            <a:ext cx="4251960" cy="914400"/>
          </a:xfrm>
          <a:prstGeom prst="rect">
            <a:avLst/>
          </a:prstGeom>
          <a:noFill/>
          <a:ln/>
        </p:spPr>
        <p:txBody>
          <a:bodyPr wrap="square" lIns="0" tIns="0" rIns="0" bIns="0" rtlCol="0" anchor="ctr"/>
          <a:lstStyle/>
          <a:p>
            <a:pPr indent="0" marL="0">
              <a:buNone/>
            </a:pPr>
            <a:r>
              <a:rPr lang="en-US" sz="1400" dirty="0">
                <a:solidFill>
                  <a:schemeClr val="tx1"/>
                </a:solidFill>
              </a:rPr>
              <a:t>If a check fails, we try again. If it still fails, we block it and never call it approved.</a:t>
            </a:r>
            <a:endParaRPr lang="en-US" sz="1400" dirty="0"/>
          </a:p>
        </p:txBody>
      </p:sp>
      <p:sp>
        <p:nvSpPr>
          <p:cNvPr id="54" name="fallback callout"/>
          <p:cNvSpPr/>
          <p:nvPr/>
        </p:nvSpPr>
        <p:spPr>
          <a:xfrm>
            <a:off x="6199632" y="4983480"/>
            <a:ext cx="5440680" cy="1188720"/>
          </a:xfrm>
          <a:prstGeom prst="roundRect">
            <a:avLst>
              <a:gd name="adj" fmla="val 9231"/>
            </a:avLst>
          </a:prstGeom>
          <a:solidFill>
            <a:schemeClr val="bg2"/>
          </a:solidFill>
          <a:ln/>
          <a:effectLst>
            <a:outerShdw sx="100000" sy="100000" kx="0" ky="0" algn="bl" rotWithShape="0" blurRad="76200" dist="25400" dir="5400000">
              <a:srgbClr val="000000">
                <a:alpha val="10000"/>
              </a:srgbClr>
            </a:outerShdw>
          </a:effectLst>
        </p:spPr>
      </p:sp>
      <p:sp>
        <p:nvSpPr>
          <p:cNvPr id="55" name="fallback circle"/>
          <p:cNvSpPr/>
          <p:nvPr/>
        </p:nvSpPr>
        <p:spPr>
          <a:xfrm>
            <a:off x="6382512" y="5257800"/>
            <a:ext cx="640080" cy="640080"/>
          </a:xfrm>
          <a:prstGeom prst="ellipse">
            <a:avLst/>
          </a:prstGeom>
          <a:solidFill>
            <a:srgbClr val="0E7C7B"/>
          </a:solidFill>
          <a:ln/>
        </p:spPr>
      </p:sp>
      <p:pic>
        <p:nvPicPr>
          <p:cNvPr id="56" name="Image 7" descr="fallback">    </p:cNvPr>
          <p:cNvPicPr>
            <a:picLocks noChangeAspect="1"/>
          </p:cNvPicPr>
          <p:nvPr/>
        </p:nvPicPr>
        <p:blipFill>
          <a:blip r:embed="rId8"/>
          <a:stretch>
            <a:fillRect/>
          </a:stretch>
        </p:blipFill>
        <p:spPr>
          <a:xfrm>
            <a:off x="6542532" y="5417820"/>
            <a:ext cx="320040" cy="320040"/>
          </a:xfrm>
          <a:prstGeom prst="rect">
            <a:avLst/>
          </a:prstGeom>
        </p:spPr>
      </p:pic>
      <p:sp>
        <p:nvSpPr>
          <p:cNvPr id="57" name="Text 47"/>
          <p:cNvSpPr txBox="1"/>
          <p:nvPr/>
        </p:nvSpPr>
        <p:spPr>
          <a:xfrm>
            <a:off x="7205472" y="5120640"/>
            <a:ext cx="4251960" cy="914400"/>
          </a:xfrm>
          <a:prstGeom prst="rect">
            <a:avLst/>
          </a:prstGeom>
          <a:noFill/>
          <a:ln/>
        </p:spPr>
        <p:txBody>
          <a:bodyPr wrap="square" lIns="0" tIns="0" rIns="0" bIns="0" rtlCol="0" anchor="ctr"/>
          <a:lstStyle/>
          <a:p>
            <a:pPr indent="0" marL="0">
              <a:buNone/>
            </a:pPr>
            <a:r>
              <a:rPr lang="en-US" sz="1400" dirty="0">
                <a:solidFill>
                  <a:schemeClr val="tx1"/>
                </a:solidFill>
              </a:rPr>
              <a:t>If the AI is unavailable, a simple backup rewriter keeps the app working. Fact checks still run.</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What we've built</a:t>
            </a:r>
            <a:endParaRPr lang="en-US" sz="3600" dirty="0"/>
          </a:p>
        </p:txBody>
      </p:sp>
      <p:sp>
        <p:nvSpPr>
          <p:cNvPr id="3" name="built card 1"/>
          <p:cNvSpPr/>
          <p:nvPr/>
        </p:nvSpPr>
        <p:spPr>
          <a:xfrm>
            <a:off x="548640"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4" name="Fact lock circle"/>
          <p:cNvSpPr/>
          <p:nvPr/>
        </p:nvSpPr>
        <p:spPr>
          <a:xfrm>
            <a:off x="777240" y="1618488"/>
            <a:ext cx="548640" cy="548640"/>
          </a:xfrm>
          <a:prstGeom prst="ellipse">
            <a:avLst/>
          </a:prstGeom>
          <a:solidFill>
            <a:srgbClr val="0E7C7B"/>
          </a:solidFill>
          <a:ln/>
        </p:spPr>
      </p:sp>
      <p:pic>
        <p:nvPicPr>
          <p:cNvPr id="5" name="Image 0" descr="Fact lock">    </p:cNvPr>
          <p:cNvPicPr>
            <a:picLocks noChangeAspect="1"/>
          </p:cNvPicPr>
          <p:nvPr/>
        </p:nvPicPr>
        <p:blipFill>
          <a:blip r:embed="rId1"/>
          <a:stretch>
            <a:fillRect/>
          </a:stretch>
        </p:blipFill>
        <p:spPr>
          <a:xfrm>
            <a:off x="914400" y="1755648"/>
            <a:ext cx="274320" cy="274320"/>
          </a:xfrm>
          <a:prstGeom prst="rect">
            <a:avLst/>
          </a:prstGeom>
        </p:spPr>
      </p:pic>
      <p:sp>
        <p:nvSpPr>
          <p:cNvPr id="6" name="done tag 1"/>
          <p:cNvSpPr/>
          <p:nvPr/>
        </p:nvSpPr>
        <p:spPr>
          <a:xfrm>
            <a:off x="3063240" y="1746504"/>
            <a:ext cx="822960" cy="274320"/>
          </a:xfrm>
          <a:prstGeom prst="roundRect">
            <a:avLst>
              <a:gd name="adj" fmla="val 26667"/>
            </a:avLst>
          </a:prstGeom>
          <a:solidFill>
            <a:srgbClr val="2E8B57"/>
          </a:solidFill>
          <a:ln/>
        </p:spPr>
      </p:sp>
      <p:sp>
        <p:nvSpPr>
          <p:cNvPr id="7" name="Text 4"/>
          <p:cNvSpPr txBox="1"/>
          <p:nvPr/>
        </p:nvSpPr>
        <p:spPr>
          <a:xfrm>
            <a:off x="3063240" y="1746504"/>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Working</a:t>
            </a:r>
            <a:endParaRPr lang="en-US" sz="1100" dirty="0"/>
          </a:p>
        </p:txBody>
      </p:sp>
      <p:sp>
        <p:nvSpPr>
          <p:cNvPr id="8" name="Text 5"/>
          <p:cNvSpPr txBox="1"/>
          <p:nvPr/>
        </p:nvSpPr>
        <p:spPr>
          <a:xfrm>
            <a:off x="777240"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Fact lock</a:t>
            </a:r>
            <a:endParaRPr lang="en-US" sz="1800" dirty="0"/>
          </a:p>
        </p:txBody>
      </p:sp>
      <p:sp>
        <p:nvSpPr>
          <p:cNvPr id="9" name="Text 6"/>
          <p:cNvSpPr txBox="1"/>
          <p:nvPr/>
        </p:nvSpPr>
        <p:spPr>
          <a:xfrm>
            <a:off x="777240"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Finds names, dates, times, scores and tech terms, and keeps them safe.</a:t>
            </a:r>
            <a:endParaRPr lang="en-US" sz="1400" dirty="0"/>
          </a:p>
        </p:txBody>
      </p:sp>
      <p:sp>
        <p:nvSpPr>
          <p:cNvPr id="10" name="built card 2"/>
          <p:cNvSpPr/>
          <p:nvPr/>
        </p:nvSpPr>
        <p:spPr>
          <a:xfrm>
            <a:off x="4311396"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11" name="Style detector circle"/>
          <p:cNvSpPr/>
          <p:nvPr/>
        </p:nvSpPr>
        <p:spPr>
          <a:xfrm>
            <a:off x="4539996" y="1618488"/>
            <a:ext cx="548640" cy="548640"/>
          </a:xfrm>
          <a:prstGeom prst="ellipse">
            <a:avLst/>
          </a:prstGeom>
          <a:solidFill>
            <a:srgbClr val="0E7C7B"/>
          </a:solidFill>
          <a:ln/>
        </p:spPr>
      </p:sp>
      <p:pic>
        <p:nvPicPr>
          <p:cNvPr id="12" name="Image 1" descr="Style detector">    </p:cNvPr>
          <p:cNvPicPr>
            <a:picLocks noChangeAspect="1"/>
          </p:cNvPicPr>
          <p:nvPr/>
        </p:nvPicPr>
        <p:blipFill>
          <a:blip r:embed="rId2"/>
          <a:stretch>
            <a:fillRect/>
          </a:stretch>
        </p:blipFill>
        <p:spPr>
          <a:xfrm>
            <a:off x="4677156" y="1755648"/>
            <a:ext cx="274320" cy="274320"/>
          </a:xfrm>
          <a:prstGeom prst="rect">
            <a:avLst/>
          </a:prstGeom>
        </p:spPr>
      </p:pic>
      <p:sp>
        <p:nvSpPr>
          <p:cNvPr id="13" name="done tag 2"/>
          <p:cNvSpPr/>
          <p:nvPr/>
        </p:nvSpPr>
        <p:spPr>
          <a:xfrm>
            <a:off x="6825996" y="1746504"/>
            <a:ext cx="822960" cy="274320"/>
          </a:xfrm>
          <a:prstGeom prst="roundRect">
            <a:avLst>
              <a:gd name="adj" fmla="val 26667"/>
            </a:avLst>
          </a:prstGeom>
          <a:solidFill>
            <a:srgbClr val="2E8B57"/>
          </a:solidFill>
          <a:ln/>
        </p:spPr>
      </p:sp>
      <p:sp>
        <p:nvSpPr>
          <p:cNvPr id="14" name="Text 10"/>
          <p:cNvSpPr txBox="1"/>
          <p:nvPr/>
        </p:nvSpPr>
        <p:spPr>
          <a:xfrm>
            <a:off x="6825996" y="1746504"/>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Working</a:t>
            </a:r>
            <a:endParaRPr lang="en-US" sz="1100" dirty="0"/>
          </a:p>
        </p:txBody>
      </p:sp>
      <p:sp>
        <p:nvSpPr>
          <p:cNvPr id="15" name="Text 11"/>
          <p:cNvSpPr txBox="1"/>
          <p:nvPr/>
        </p:nvSpPr>
        <p:spPr>
          <a:xfrm>
            <a:off x="4539996"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Style detector</a:t>
            </a:r>
            <a:endParaRPr lang="en-US" sz="1800" dirty="0"/>
          </a:p>
        </p:txBody>
      </p:sp>
      <p:sp>
        <p:nvSpPr>
          <p:cNvPr id="16" name="Text 12"/>
          <p:cNvSpPr txBox="1"/>
          <p:nvPr/>
        </p:nvSpPr>
        <p:spPr>
          <a:xfrm>
            <a:off x="4539996"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Gives a 0 to 100 'robotic' score and highlights stiff or repeated phrases.</a:t>
            </a:r>
            <a:endParaRPr lang="en-US" sz="1400" dirty="0"/>
          </a:p>
        </p:txBody>
      </p:sp>
      <p:sp>
        <p:nvSpPr>
          <p:cNvPr id="17" name="built card 3"/>
          <p:cNvSpPr/>
          <p:nvPr/>
        </p:nvSpPr>
        <p:spPr>
          <a:xfrm>
            <a:off x="8074152"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18" name="Tone control circle"/>
          <p:cNvSpPr/>
          <p:nvPr/>
        </p:nvSpPr>
        <p:spPr>
          <a:xfrm>
            <a:off x="8302752" y="1618488"/>
            <a:ext cx="548640" cy="548640"/>
          </a:xfrm>
          <a:prstGeom prst="ellipse">
            <a:avLst/>
          </a:prstGeom>
          <a:solidFill>
            <a:srgbClr val="0E7C7B"/>
          </a:solidFill>
          <a:ln/>
        </p:spPr>
      </p:sp>
      <p:pic>
        <p:nvPicPr>
          <p:cNvPr id="19" name="Image 2" descr="Tone control">    </p:cNvPr>
          <p:cNvPicPr>
            <a:picLocks noChangeAspect="1"/>
          </p:cNvPicPr>
          <p:nvPr/>
        </p:nvPicPr>
        <p:blipFill>
          <a:blip r:embed="rId3"/>
          <a:stretch>
            <a:fillRect/>
          </a:stretch>
        </p:blipFill>
        <p:spPr>
          <a:xfrm>
            <a:off x="8439912" y="1755648"/>
            <a:ext cx="274320" cy="274320"/>
          </a:xfrm>
          <a:prstGeom prst="rect">
            <a:avLst/>
          </a:prstGeom>
        </p:spPr>
      </p:pic>
      <p:sp>
        <p:nvSpPr>
          <p:cNvPr id="20" name="done tag 3"/>
          <p:cNvSpPr/>
          <p:nvPr/>
        </p:nvSpPr>
        <p:spPr>
          <a:xfrm>
            <a:off x="10588752" y="1746504"/>
            <a:ext cx="822960" cy="274320"/>
          </a:xfrm>
          <a:prstGeom prst="roundRect">
            <a:avLst>
              <a:gd name="adj" fmla="val 26667"/>
            </a:avLst>
          </a:prstGeom>
          <a:solidFill>
            <a:srgbClr val="2E8B57"/>
          </a:solidFill>
          <a:ln/>
        </p:spPr>
      </p:sp>
      <p:sp>
        <p:nvSpPr>
          <p:cNvPr id="21" name="Text 16"/>
          <p:cNvSpPr txBox="1"/>
          <p:nvPr/>
        </p:nvSpPr>
        <p:spPr>
          <a:xfrm>
            <a:off x="10588752" y="1746504"/>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Working</a:t>
            </a:r>
            <a:endParaRPr lang="en-US" sz="1100" dirty="0"/>
          </a:p>
        </p:txBody>
      </p:sp>
      <p:sp>
        <p:nvSpPr>
          <p:cNvPr id="22" name="Text 17"/>
          <p:cNvSpPr txBox="1"/>
          <p:nvPr/>
        </p:nvSpPr>
        <p:spPr>
          <a:xfrm>
            <a:off x="8302752"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Tone control</a:t>
            </a:r>
            <a:endParaRPr lang="en-US" sz="1800" dirty="0"/>
          </a:p>
        </p:txBody>
      </p:sp>
      <p:sp>
        <p:nvSpPr>
          <p:cNvPr id="23" name="Text 18"/>
          <p:cNvSpPr txBox="1"/>
          <p:nvPr/>
        </p:nvSpPr>
        <p:spPr>
          <a:xfrm>
            <a:off x="8302752"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5 content types and 3 tone levels, plus your own voice notes.</a:t>
            </a:r>
            <a:endParaRPr lang="en-US" sz="1400" dirty="0"/>
          </a:p>
        </p:txBody>
      </p:sp>
      <p:sp>
        <p:nvSpPr>
          <p:cNvPr id="24" name="built card 4"/>
          <p:cNvSpPr/>
          <p:nvPr/>
        </p:nvSpPr>
        <p:spPr>
          <a:xfrm>
            <a:off x="548640"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25" name="Fact checker circle"/>
          <p:cNvSpPr/>
          <p:nvPr/>
        </p:nvSpPr>
        <p:spPr>
          <a:xfrm>
            <a:off x="777240" y="4041648"/>
            <a:ext cx="548640" cy="548640"/>
          </a:xfrm>
          <a:prstGeom prst="ellipse">
            <a:avLst/>
          </a:prstGeom>
          <a:solidFill>
            <a:srgbClr val="0E7C7B"/>
          </a:solidFill>
          <a:ln/>
        </p:spPr>
      </p:sp>
      <p:pic>
        <p:nvPicPr>
          <p:cNvPr id="26" name="Image 3" descr="Fact checker">    </p:cNvPr>
          <p:cNvPicPr>
            <a:picLocks noChangeAspect="1"/>
          </p:cNvPicPr>
          <p:nvPr/>
        </p:nvPicPr>
        <p:blipFill>
          <a:blip r:embed="rId4"/>
          <a:stretch>
            <a:fillRect/>
          </a:stretch>
        </p:blipFill>
        <p:spPr>
          <a:xfrm>
            <a:off x="914400" y="4178808"/>
            <a:ext cx="274320" cy="274320"/>
          </a:xfrm>
          <a:prstGeom prst="rect">
            <a:avLst/>
          </a:prstGeom>
        </p:spPr>
      </p:pic>
      <p:sp>
        <p:nvSpPr>
          <p:cNvPr id="27" name="done tag 4"/>
          <p:cNvSpPr/>
          <p:nvPr/>
        </p:nvSpPr>
        <p:spPr>
          <a:xfrm>
            <a:off x="3063240" y="4169664"/>
            <a:ext cx="822960" cy="274320"/>
          </a:xfrm>
          <a:prstGeom prst="roundRect">
            <a:avLst>
              <a:gd name="adj" fmla="val 26667"/>
            </a:avLst>
          </a:prstGeom>
          <a:solidFill>
            <a:srgbClr val="2E8B57"/>
          </a:solidFill>
          <a:ln/>
        </p:spPr>
      </p:sp>
      <p:sp>
        <p:nvSpPr>
          <p:cNvPr id="28" name="Text 22"/>
          <p:cNvSpPr txBox="1"/>
          <p:nvPr/>
        </p:nvSpPr>
        <p:spPr>
          <a:xfrm>
            <a:off x="3063240" y="4169664"/>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Working</a:t>
            </a:r>
            <a:endParaRPr lang="en-US" sz="1100" dirty="0"/>
          </a:p>
        </p:txBody>
      </p:sp>
      <p:sp>
        <p:nvSpPr>
          <p:cNvPr id="29" name="Text 23"/>
          <p:cNvSpPr txBox="1"/>
          <p:nvPr/>
        </p:nvSpPr>
        <p:spPr>
          <a:xfrm>
            <a:off x="777240"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Fact checker</a:t>
            </a:r>
            <a:endParaRPr lang="en-US" sz="1800" dirty="0"/>
          </a:p>
        </p:txBody>
      </p:sp>
      <p:sp>
        <p:nvSpPr>
          <p:cNvPr id="30" name="Text 24"/>
          <p:cNvSpPr txBox="1"/>
          <p:nvPr/>
        </p:nvSpPr>
        <p:spPr>
          <a:xfrm>
            <a:off x="777240"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Spots missing, changed or made-up facts and gives a clear verdict.</a:t>
            </a:r>
            <a:endParaRPr lang="en-US" sz="1400" dirty="0"/>
          </a:p>
        </p:txBody>
      </p:sp>
      <p:sp>
        <p:nvSpPr>
          <p:cNvPr id="31" name="built card 5"/>
          <p:cNvSpPr/>
          <p:nvPr/>
        </p:nvSpPr>
        <p:spPr>
          <a:xfrm>
            <a:off x="4311396"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32" name="Skip check circle"/>
          <p:cNvSpPr/>
          <p:nvPr/>
        </p:nvSpPr>
        <p:spPr>
          <a:xfrm>
            <a:off x="4539996" y="4041648"/>
            <a:ext cx="548640" cy="548640"/>
          </a:xfrm>
          <a:prstGeom prst="ellipse">
            <a:avLst/>
          </a:prstGeom>
          <a:solidFill>
            <a:srgbClr val="0E7C7B"/>
          </a:solidFill>
          <a:ln/>
        </p:spPr>
      </p:sp>
      <p:pic>
        <p:nvPicPr>
          <p:cNvPr id="33" name="Image 4" descr="Skip check">    </p:cNvPr>
          <p:cNvPicPr>
            <a:picLocks noChangeAspect="1"/>
          </p:cNvPicPr>
          <p:nvPr/>
        </p:nvPicPr>
        <p:blipFill>
          <a:blip r:embed="rId5"/>
          <a:stretch>
            <a:fillRect/>
          </a:stretch>
        </p:blipFill>
        <p:spPr>
          <a:xfrm>
            <a:off x="4677156" y="4178808"/>
            <a:ext cx="274320" cy="274320"/>
          </a:xfrm>
          <a:prstGeom prst="rect">
            <a:avLst/>
          </a:prstGeom>
        </p:spPr>
      </p:pic>
      <p:sp>
        <p:nvSpPr>
          <p:cNvPr id="34" name="done tag 5"/>
          <p:cNvSpPr/>
          <p:nvPr/>
        </p:nvSpPr>
        <p:spPr>
          <a:xfrm>
            <a:off x="6825996" y="4169664"/>
            <a:ext cx="822960" cy="274320"/>
          </a:xfrm>
          <a:prstGeom prst="roundRect">
            <a:avLst>
              <a:gd name="adj" fmla="val 26667"/>
            </a:avLst>
          </a:prstGeom>
          <a:solidFill>
            <a:srgbClr val="2E8B57"/>
          </a:solidFill>
          <a:ln/>
        </p:spPr>
      </p:sp>
      <p:sp>
        <p:nvSpPr>
          <p:cNvPr id="35" name="Text 28"/>
          <p:cNvSpPr txBox="1"/>
          <p:nvPr/>
        </p:nvSpPr>
        <p:spPr>
          <a:xfrm>
            <a:off x="6825996" y="4169664"/>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Working</a:t>
            </a:r>
            <a:endParaRPr lang="en-US" sz="1100" dirty="0"/>
          </a:p>
        </p:txBody>
      </p:sp>
      <p:sp>
        <p:nvSpPr>
          <p:cNvPr id="36" name="Text 29"/>
          <p:cNvSpPr txBox="1"/>
          <p:nvPr/>
        </p:nvSpPr>
        <p:spPr>
          <a:xfrm>
            <a:off x="4539996"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Skip check</a:t>
            </a:r>
            <a:endParaRPr lang="en-US" sz="1800" dirty="0"/>
          </a:p>
        </p:txBody>
      </p:sp>
      <p:sp>
        <p:nvSpPr>
          <p:cNvPr id="37" name="Text 30"/>
          <p:cNvSpPr txBox="1"/>
          <p:nvPr/>
        </p:nvSpPr>
        <p:spPr>
          <a:xfrm>
            <a:off x="4539996"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If the text already sounds natural, we leave it alone.</a:t>
            </a:r>
            <a:endParaRPr lang="en-US" sz="1400" dirty="0"/>
          </a:p>
        </p:txBody>
      </p:sp>
      <p:sp>
        <p:nvSpPr>
          <p:cNvPr id="38" name="built card 6"/>
          <p:cNvSpPr/>
          <p:nvPr/>
        </p:nvSpPr>
        <p:spPr>
          <a:xfrm>
            <a:off x="8074152"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39" name="Results screen circle"/>
          <p:cNvSpPr/>
          <p:nvPr/>
        </p:nvSpPr>
        <p:spPr>
          <a:xfrm>
            <a:off x="8302752" y="4041648"/>
            <a:ext cx="548640" cy="548640"/>
          </a:xfrm>
          <a:prstGeom prst="ellipse">
            <a:avLst/>
          </a:prstGeom>
          <a:solidFill>
            <a:srgbClr val="0E7C7B"/>
          </a:solidFill>
          <a:ln/>
        </p:spPr>
      </p:sp>
      <p:pic>
        <p:nvPicPr>
          <p:cNvPr id="40" name="Image 5" descr="Results screen">    </p:cNvPr>
          <p:cNvPicPr>
            <a:picLocks noChangeAspect="1"/>
          </p:cNvPicPr>
          <p:nvPr/>
        </p:nvPicPr>
        <p:blipFill>
          <a:blip r:embed="rId6"/>
          <a:stretch>
            <a:fillRect/>
          </a:stretch>
        </p:blipFill>
        <p:spPr>
          <a:xfrm>
            <a:off x="8439912" y="4178808"/>
            <a:ext cx="274320" cy="274320"/>
          </a:xfrm>
          <a:prstGeom prst="rect">
            <a:avLst/>
          </a:prstGeom>
        </p:spPr>
      </p:pic>
      <p:sp>
        <p:nvSpPr>
          <p:cNvPr id="41" name="done tag 6"/>
          <p:cNvSpPr/>
          <p:nvPr/>
        </p:nvSpPr>
        <p:spPr>
          <a:xfrm>
            <a:off x="10588752" y="4169664"/>
            <a:ext cx="822960" cy="274320"/>
          </a:xfrm>
          <a:prstGeom prst="roundRect">
            <a:avLst>
              <a:gd name="adj" fmla="val 26667"/>
            </a:avLst>
          </a:prstGeom>
          <a:solidFill>
            <a:srgbClr val="2E8B57"/>
          </a:solidFill>
          <a:ln/>
        </p:spPr>
      </p:sp>
      <p:sp>
        <p:nvSpPr>
          <p:cNvPr id="42" name="Text 34"/>
          <p:cNvSpPr txBox="1"/>
          <p:nvPr/>
        </p:nvSpPr>
        <p:spPr>
          <a:xfrm>
            <a:off x="10588752" y="4169664"/>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Working</a:t>
            </a:r>
            <a:endParaRPr lang="en-US" sz="1100" dirty="0"/>
          </a:p>
        </p:txBody>
      </p:sp>
      <p:sp>
        <p:nvSpPr>
          <p:cNvPr id="43" name="Text 35"/>
          <p:cNvSpPr txBox="1"/>
          <p:nvPr/>
        </p:nvSpPr>
        <p:spPr>
          <a:xfrm>
            <a:off x="8302752"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Results screen</a:t>
            </a:r>
            <a:endParaRPr lang="en-US" sz="1800" dirty="0"/>
          </a:p>
        </p:txBody>
      </p:sp>
      <p:sp>
        <p:nvSpPr>
          <p:cNvPr id="44" name="Text 36"/>
          <p:cNvSpPr txBox="1"/>
          <p:nvPr/>
        </p:nvSpPr>
        <p:spPr>
          <a:xfrm>
            <a:off x="8302752"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Side-by-side view, word-level changes, editable text and a test panel.</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It rewrites, and it catches mistakes</a:t>
            </a:r>
            <a:endParaRPr lang="en-US" sz="3600" dirty="0"/>
          </a:p>
        </p:txBody>
      </p:sp>
      <p:sp>
        <p:nvSpPr>
          <p:cNvPr id="3" name="before card"/>
          <p:cNvSpPr/>
          <p:nvPr/>
        </p:nvSpPr>
        <p:spPr>
          <a:xfrm>
            <a:off x="548640" y="1417320"/>
            <a:ext cx="5120640" cy="3246120"/>
          </a:xfrm>
          <a:prstGeom prst="roundRect">
            <a:avLst>
              <a:gd name="adj" fmla="val 3380"/>
            </a:avLst>
          </a:prstGeom>
          <a:solidFill>
            <a:schemeClr val="bg2"/>
          </a:solidFill>
          <a:ln/>
          <a:effectLst>
            <a:outerShdw sx="100000" sy="100000" kx="0" ky="0" algn="bl" rotWithShape="0" blurRad="76200" dist="25400" dir="5400000">
              <a:srgbClr val="000000">
                <a:alpha val="10000"/>
              </a:srgbClr>
            </a:outerShdw>
          </a:effectLst>
        </p:spPr>
      </p:sp>
      <p:sp>
        <p:nvSpPr>
          <p:cNvPr id="4" name="Text 2"/>
          <p:cNvSpPr txBox="1"/>
          <p:nvPr/>
        </p:nvSpPr>
        <p:spPr>
          <a:xfrm>
            <a:off x="822960" y="1645920"/>
            <a:ext cx="4572000" cy="274320"/>
          </a:xfrm>
          <a:prstGeom prst="rect">
            <a:avLst/>
          </a:prstGeom>
          <a:noFill/>
          <a:ln/>
        </p:spPr>
        <p:txBody>
          <a:bodyPr wrap="square" lIns="0" tIns="0" rIns="0" bIns="0" rtlCol="0" anchor="t"/>
          <a:lstStyle/>
          <a:p>
            <a:pPr indent="0" marL="0">
              <a:buNone/>
            </a:pPr>
            <a:r>
              <a:rPr lang="en-US" sz="1400" b="1" dirty="0">
                <a:solidFill>
                  <a:schemeClr val="accent4"/>
                </a:solidFill>
              </a:rPr>
              <a:t>BEFORE: stiff</a:t>
            </a:r>
            <a:endParaRPr lang="en-US" sz="1400" dirty="0"/>
          </a:p>
        </p:txBody>
      </p:sp>
      <p:sp>
        <p:nvSpPr>
          <p:cNvPr id="5" name="Text 3"/>
          <p:cNvSpPr txBox="1"/>
          <p:nvPr/>
        </p:nvSpPr>
        <p:spPr>
          <a:xfrm>
            <a:off x="822960" y="2057400"/>
            <a:ext cx="4572000" cy="2377440"/>
          </a:xfrm>
          <a:prstGeom prst="rect">
            <a:avLst/>
          </a:prstGeom>
          <a:noFill/>
          <a:ln/>
        </p:spPr>
        <p:txBody>
          <a:bodyPr wrap="square" lIns="0" tIns="0" rIns="0" bIns="0" rtlCol="0" anchor="t"/>
          <a:lstStyle/>
          <a:p>
            <a:pPr indent="0" marL="0">
              <a:buNone/>
            </a:pPr>
            <a:r>
              <a:rPr lang="en-US" sz="1400" dirty="0">
                <a:solidFill>
                  <a:schemeClr val="tx1"/>
                </a:solidFill>
              </a:rPr>
              <a:t>The candidate, Asha Rao, scored 82/100 in Python and 74/100 in SQL on 8 October 2026. The candidate demonstrated a good understanding of Python fundamentals but needs further assessment in SQL query optimization. The candidate is recommended for a second technical interview.</a:t>
            </a:r>
            <a:endParaRPr lang="en-US" sz="1400" dirty="0"/>
          </a:p>
        </p:txBody>
      </p:sp>
      <p:sp>
        <p:nvSpPr>
          <p:cNvPr id="6" name="arrow right"/>
          <p:cNvSpPr/>
          <p:nvPr/>
        </p:nvSpPr>
        <p:spPr>
          <a:xfrm>
            <a:off x="5806440" y="2697480"/>
            <a:ext cx="594360" cy="502920"/>
          </a:xfrm>
          <a:prstGeom prst="rightArrow">
            <a:avLst/>
          </a:prstGeom>
          <a:solidFill>
            <a:schemeClr val="accent2"/>
          </a:solidFill>
          <a:ln/>
        </p:spPr>
      </p:sp>
      <p:sp>
        <p:nvSpPr>
          <p:cNvPr id="7" name="after card"/>
          <p:cNvSpPr/>
          <p:nvPr/>
        </p:nvSpPr>
        <p:spPr>
          <a:xfrm>
            <a:off x="6519672" y="1417320"/>
            <a:ext cx="5120640" cy="3246120"/>
          </a:xfrm>
          <a:prstGeom prst="roundRect">
            <a:avLst>
              <a:gd name="adj" fmla="val 3380"/>
            </a:avLst>
          </a:prstGeom>
          <a:solidFill>
            <a:schemeClr val="accent1"/>
          </a:solidFill>
          <a:ln/>
          <a:effectLst>
            <a:outerShdw sx="100000" sy="100000" kx="0" ky="0" algn="bl" rotWithShape="0" blurRad="76200" dist="25400" dir="5400000">
              <a:srgbClr val="000000">
                <a:alpha val="10000"/>
              </a:srgbClr>
            </a:outerShdw>
          </a:effectLst>
        </p:spPr>
      </p:sp>
      <p:sp>
        <p:nvSpPr>
          <p:cNvPr id="8" name="Text 6"/>
          <p:cNvSpPr txBox="1"/>
          <p:nvPr/>
        </p:nvSpPr>
        <p:spPr>
          <a:xfrm>
            <a:off x="6793992" y="1645920"/>
            <a:ext cx="4572000" cy="274320"/>
          </a:xfrm>
          <a:prstGeom prst="rect">
            <a:avLst/>
          </a:prstGeom>
          <a:noFill/>
          <a:ln/>
        </p:spPr>
        <p:txBody>
          <a:bodyPr wrap="square" lIns="0" tIns="0" rIns="0" bIns="0" rtlCol="0" anchor="t"/>
          <a:lstStyle/>
          <a:p>
            <a:pPr indent="0" marL="0">
              <a:buNone/>
            </a:pPr>
            <a:r>
              <a:rPr lang="en-US" sz="1400" b="1" dirty="0">
                <a:solidFill>
                  <a:schemeClr val="bg1"/>
                </a:solidFill>
              </a:rPr>
              <a:t>AFTER: natural, facts kept</a:t>
            </a:r>
            <a:endParaRPr lang="en-US" sz="1400" dirty="0"/>
          </a:p>
        </p:txBody>
      </p:sp>
      <p:sp>
        <p:nvSpPr>
          <p:cNvPr id="9" name="Text 7"/>
          <p:cNvSpPr txBox="1"/>
          <p:nvPr/>
        </p:nvSpPr>
        <p:spPr>
          <a:xfrm>
            <a:off x="6793992" y="2057400"/>
            <a:ext cx="4572000" cy="1280160"/>
          </a:xfrm>
          <a:prstGeom prst="rect">
            <a:avLst/>
          </a:prstGeom>
          <a:noFill/>
          <a:ln/>
        </p:spPr>
        <p:txBody>
          <a:bodyPr wrap="square" lIns="0" tIns="0" rIns="0" bIns="0" rtlCol="0" anchor="t"/>
          <a:lstStyle/>
          <a:p>
            <a:pPr indent="0" marL="0">
              <a:buNone/>
            </a:pPr>
            <a:r>
              <a:rPr lang="en-US" sz="1400" dirty="0">
                <a:solidFill>
                  <a:schemeClr val="bg1"/>
                </a:solidFill>
              </a:rPr>
              <a:t>Asha Rao scored 82/100 in Python and 74/100 in SQL on 8 October 2026. Python fundamentals are solid, but SQL query optimization needs further assessment. A second technical interview is recommended.</a:t>
            </a:r>
            <a:endParaRPr lang="en-US" sz="1400" dirty="0"/>
          </a:p>
        </p:txBody>
      </p:sp>
      <p:sp>
        <p:nvSpPr>
          <p:cNvPr id="10" name="Text 8"/>
          <p:cNvSpPr txBox="1"/>
          <p:nvPr/>
        </p:nvSpPr>
        <p:spPr>
          <a:xfrm>
            <a:off x="6793992" y="3383280"/>
            <a:ext cx="2743200" cy="256032"/>
          </a:xfrm>
          <a:prstGeom prst="rect">
            <a:avLst/>
          </a:prstGeom>
          <a:noFill/>
          <a:ln/>
        </p:spPr>
        <p:txBody>
          <a:bodyPr wrap="square" lIns="0" tIns="0" rIns="0" bIns="0" rtlCol="0" anchor="t"/>
          <a:lstStyle/>
          <a:p>
            <a:pPr indent="0" marL="0">
              <a:buNone/>
            </a:pPr>
            <a:r>
              <a:rPr lang="en-US" sz="1200" b="1" dirty="0">
                <a:solidFill>
                  <a:schemeClr val="bg2"/>
                </a:solidFill>
              </a:rPr>
              <a:t>Facts kept:</a:t>
            </a:r>
            <a:endParaRPr lang="en-US" sz="1200" dirty="0"/>
          </a:p>
        </p:txBody>
      </p:sp>
      <p:sp>
        <p:nvSpPr>
          <p:cNvPr id="11" name="fact chip"/>
          <p:cNvSpPr/>
          <p:nvPr/>
        </p:nvSpPr>
        <p:spPr>
          <a:xfrm>
            <a:off x="6793992" y="3703320"/>
            <a:ext cx="1234440" cy="310896"/>
          </a:xfrm>
          <a:prstGeom prst="roundRect">
            <a:avLst>
              <a:gd name="adj" fmla="val 23529"/>
            </a:avLst>
          </a:prstGeom>
          <a:solidFill>
            <a:srgbClr val="FFFFFF"/>
          </a:solidFill>
          <a:ln/>
        </p:spPr>
      </p:sp>
      <p:sp>
        <p:nvSpPr>
          <p:cNvPr id="12" name="Text 10"/>
          <p:cNvSpPr txBox="1"/>
          <p:nvPr/>
        </p:nvSpPr>
        <p:spPr>
          <a:xfrm>
            <a:off x="6793992" y="3703320"/>
            <a:ext cx="1234440" cy="310896"/>
          </a:xfrm>
          <a:prstGeom prst="rect">
            <a:avLst/>
          </a:prstGeom>
          <a:noFill/>
          <a:ln/>
        </p:spPr>
        <p:txBody>
          <a:bodyPr wrap="square" lIns="0" tIns="0" rIns="0" bIns="0" rtlCol="0" anchor="ctr"/>
          <a:lstStyle/>
          <a:p>
            <a:pPr algn="ctr" indent="0" marL="0">
              <a:buNone/>
            </a:pPr>
            <a:r>
              <a:rPr lang="en-US" sz="1200" b="1" dirty="0">
                <a:solidFill>
                  <a:schemeClr val="accent1"/>
                </a:solidFill>
              </a:rPr>
              <a:t>Asha Rao</a:t>
            </a:r>
            <a:endParaRPr lang="en-US" sz="1200" dirty="0"/>
          </a:p>
        </p:txBody>
      </p:sp>
      <p:sp>
        <p:nvSpPr>
          <p:cNvPr id="13" name="fact chip"/>
          <p:cNvSpPr/>
          <p:nvPr/>
        </p:nvSpPr>
        <p:spPr>
          <a:xfrm>
            <a:off x="8165592" y="3703320"/>
            <a:ext cx="1097280" cy="310896"/>
          </a:xfrm>
          <a:prstGeom prst="roundRect">
            <a:avLst>
              <a:gd name="adj" fmla="val 23529"/>
            </a:avLst>
          </a:prstGeom>
          <a:solidFill>
            <a:srgbClr val="FFFFFF"/>
          </a:solidFill>
          <a:ln/>
        </p:spPr>
      </p:sp>
      <p:sp>
        <p:nvSpPr>
          <p:cNvPr id="14" name="Text 12"/>
          <p:cNvSpPr txBox="1"/>
          <p:nvPr/>
        </p:nvSpPr>
        <p:spPr>
          <a:xfrm>
            <a:off x="8165592" y="3703320"/>
            <a:ext cx="1097280" cy="310896"/>
          </a:xfrm>
          <a:prstGeom prst="rect">
            <a:avLst/>
          </a:prstGeom>
          <a:noFill/>
          <a:ln/>
        </p:spPr>
        <p:txBody>
          <a:bodyPr wrap="square" lIns="0" tIns="0" rIns="0" bIns="0" rtlCol="0" anchor="ctr"/>
          <a:lstStyle/>
          <a:p>
            <a:pPr algn="ctr" indent="0" marL="0">
              <a:buNone/>
            </a:pPr>
            <a:r>
              <a:rPr lang="en-US" sz="1200" b="1" dirty="0">
                <a:solidFill>
                  <a:schemeClr val="accent1"/>
                </a:solidFill>
              </a:rPr>
              <a:t>82/100</a:t>
            </a:r>
            <a:endParaRPr lang="en-US" sz="1200" dirty="0"/>
          </a:p>
        </p:txBody>
      </p:sp>
      <p:sp>
        <p:nvSpPr>
          <p:cNvPr id="15" name="fact chip"/>
          <p:cNvSpPr/>
          <p:nvPr/>
        </p:nvSpPr>
        <p:spPr>
          <a:xfrm>
            <a:off x="9400032" y="3703320"/>
            <a:ext cx="1097280" cy="310896"/>
          </a:xfrm>
          <a:prstGeom prst="roundRect">
            <a:avLst>
              <a:gd name="adj" fmla="val 23529"/>
            </a:avLst>
          </a:prstGeom>
          <a:solidFill>
            <a:srgbClr val="FFFFFF"/>
          </a:solidFill>
          <a:ln/>
        </p:spPr>
      </p:sp>
      <p:sp>
        <p:nvSpPr>
          <p:cNvPr id="16" name="Text 14"/>
          <p:cNvSpPr txBox="1"/>
          <p:nvPr/>
        </p:nvSpPr>
        <p:spPr>
          <a:xfrm>
            <a:off x="9400032" y="3703320"/>
            <a:ext cx="1097280" cy="310896"/>
          </a:xfrm>
          <a:prstGeom prst="rect">
            <a:avLst/>
          </a:prstGeom>
          <a:noFill/>
          <a:ln/>
        </p:spPr>
        <p:txBody>
          <a:bodyPr wrap="square" lIns="0" tIns="0" rIns="0" bIns="0" rtlCol="0" anchor="ctr"/>
          <a:lstStyle/>
          <a:p>
            <a:pPr algn="ctr" indent="0" marL="0">
              <a:buNone/>
            </a:pPr>
            <a:r>
              <a:rPr lang="en-US" sz="1200" b="1" dirty="0">
                <a:solidFill>
                  <a:schemeClr val="accent1"/>
                </a:solidFill>
              </a:rPr>
              <a:t>74/100</a:t>
            </a:r>
            <a:endParaRPr lang="en-US" sz="1200" dirty="0"/>
          </a:p>
        </p:txBody>
      </p:sp>
      <p:sp>
        <p:nvSpPr>
          <p:cNvPr id="17" name="fact chip"/>
          <p:cNvSpPr/>
          <p:nvPr/>
        </p:nvSpPr>
        <p:spPr>
          <a:xfrm>
            <a:off x="6793992" y="4114800"/>
            <a:ext cx="1783080" cy="310896"/>
          </a:xfrm>
          <a:prstGeom prst="roundRect">
            <a:avLst>
              <a:gd name="adj" fmla="val 23529"/>
            </a:avLst>
          </a:prstGeom>
          <a:solidFill>
            <a:srgbClr val="FFFFFF"/>
          </a:solidFill>
          <a:ln/>
        </p:spPr>
      </p:sp>
      <p:sp>
        <p:nvSpPr>
          <p:cNvPr id="18" name="Text 16"/>
          <p:cNvSpPr txBox="1"/>
          <p:nvPr/>
        </p:nvSpPr>
        <p:spPr>
          <a:xfrm>
            <a:off x="6793992" y="4114800"/>
            <a:ext cx="1783080" cy="310896"/>
          </a:xfrm>
          <a:prstGeom prst="rect">
            <a:avLst/>
          </a:prstGeom>
          <a:noFill/>
          <a:ln/>
        </p:spPr>
        <p:txBody>
          <a:bodyPr wrap="square" lIns="0" tIns="0" rIns="0" bIns="0" rtlCol="0" anchor="ctr"/>
          <a:lstStyle/>
          <a:p>
            <a:pPr algn="ctr" indent="0" marL="0">
              <a:buNone/>
            </a:pPr>
            <a:r>
              <a:rPr lang="en-US" sz="1200" b="1" dirty="0">
                <a:solidFill>
                  <a:schemeClr val="accent1"/>
                </a:solidFill>
              </a:rPr>
              <a:t>8 October 2026</a:t>
            </a:r>
            <a:endParaRPr lang="en-US" sz="1200" dirty="0"/>
          </a:p>
        </p:txBody>
      </p:sp>
      <p:sp>
        <p:nvSpPr>
          <p:cNvPr id="19" name="fact chip"/>
          <p:cNvSpPr/>
          <p:nvPr/>
        </p:nvSpPr>
        <p:spPr>
          <a:xfrm>
            <a:off x="8714232" y="4114800"/>
            <a:ext cx="1097280" cy="310896"/>
          </a:xfrm>
          <a:prstGeom prst="roundRect">
            <a:avLst>
              <a:gd name="adj" fmla="val 23529"/>
            </a:avLst>
          </a:prstGeom>
          <a:solidFill>
            <a:srgbClr val="FFFFFF"/>
          </a:solidFill>
          <a:ln/>
        </p:spPr>
      </p:sp>
      <p:sp>
        <p:nvSpPr>
          <p:cNvPr id="20" name="Text 18"/>
          <p:cNvSpPr txBox="1"/>
          <p:nvPr/>
        </p:nvSpPr>
        <p:spPr>
          <a:xfrm>
            <a:off x="8714232" y="4114800"/>
            <a:ext cx="1097280" cy="310896"/>
          </a:xfrm>
          <a:prstGeom prst="rect">
            <a:avLst/>
          </a:prstGeom>
          <a:noFill/>
          <a:ln/>
        </p:spPr>
        <p:txBody>
          <a:bodyPr wrap="square" lIns="0" tIns="0" rIns="0" bIns="0" rtlCol="0" anchor="ctr"/>
          <a:lstStyle/>
          <a:p>
            <a:pPr algn="ctr" indent="0" marL="0">
              <a:buNone/>
            </a:pPr>
            <a:r>
              <a:rPr lang="en-US" sz="1200" b="1" dirty="0">
                <a:solidFill>
                  <a:schemeClr val="accent1"/>
                </a:solidFill>
              </a:rPr>
              <a:t>Python</a:t>
            </a:r>
            <a:endParaRPr lang="en-US" sz="1200" dirty="0"/>
          </a:p>
        </p:txBody>
      </p:sp>
      <p:sp>
        <p:nvSpPr>
          <p:cNvPr id="21" name="fact chip"/>
          <p:cNvSpPr/>
          <p:nvPr/>
        </p:nvSpPr>
        <p:spPr>
          <a:xfrm>
            <a:off x="9948672" y="4114800"/>
            <a:ext cx="914400" cy="310896"/>
          </a:xfrm>
          <a:prstGeom prst="roundRect">
            <a:avLst>
              <a:gd name="adj" fmla="val 23529"/>
            </a:avLst>
          </a:prstGeom>
          <a:solidFill>
            <a:srgbClr val="FFFFFF"/>
          </a:solidFill>
          <a:ln/>
        </p:spPr>
      </p:sp>
      <p:sp>
        <p:nvSpPr>
          <p:cNvPr id="22" name="Text 20"/>
          <p:cNvSpPr txBox="1"/>
          <p:nvPr/>
        </p:nvSpPr>
        <p:spPr>
          <a:xfrm>
            <a:off x="9948672" y="4114800"/>
            <a:ext cx="914400" cy="310896"/>
          </a:xfrm>
          <a:prstGeom prst="rect">
            <a:avLst/>
          </a:prstGeom>
          <a:noFill/>
          <a:ln/>
        </p:spPr>
        <p:txBody>
          <a:bodyPr wrap="square" lIns="0" tIns="0" rIns="0" bIns="0" rtlCol="0" anchor="ctr"/>
          <a:lstStyle/>
          <a:p>
            <a:pPr algn="ctr" indent="0" marL="0">
              <a:buNone/>
            </a:pPr>
            <a:r>
              <a:rPr lang="en-US" sz="1200" b="1" dirty="0">
                <a:solidFill>
                  <a:schemeClr val="accent1"/>
                </a:solidFill>
              </a:rPr>
              <a:t>SQL</a:t>
            </a:r>
            <a:endParaRPr lang="en-US" sz="1200" dirty="0"/>
          </a:p>
        </p:txBody>
      </p:sp>
      <p:sp>
        <p:nvSpPr>
          <p:cNvPr id="23" name="Text 21"/>
          <p:cNvSpPr txBox="1"/>
          <p:nvPr/>
        </p:nvSpPr>
        <p:spPr>
          <a:xfrm>
            <a:off x="548640" y="475488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The before and after is an example of what we aim for. The test below shows how the app really behaves.</a:t>
            </a:r>
            <a:endParaRPr lang="en-US" sz="1200" dirty="0"/>
          </a:p>
        </p:txBody>
      </p:sp>
      <p:sp>
        <p:nvSpPr>
          <p:cNvPr id="24" name="tamper band"/>
          <p:cNvSpPr/>
          <p:nvPr/>
        </p:nvSpPr>
        <p:spPr>
          <a:xfrm>
            <a:off x="548640" y="5166360"/>
            <a:ext cx="11091672" cy="1051560"/>
          </a:xfrm>
          <a:prstGeom prst="roundRect">
            <a:avLst>
              <a:gd name="adj" fmla="val 10435"/>
            </a:avLst>
          </a:prstGeom>
          <a:solidFill>
            <a:schemeClr val="accent4"/>
          </a:solidFill>
          <a:ln/>
          <a:effectLst>
            <a:outerShdw sx="100000" sy="100000" kx="0" ky="0" algn="bl" rotWithShape="0" blurRad="76200" dist="25400" dir="5400000">
              <a:srgbClr val="000000">
                <a:alpha val="10000"/>
              </a:srgbClr>
            </a:outerShdw>
          </a:effectLst>
        </p:spPr>
      </p:sp>
      <p:sp>
        <p:nvSpPr>
          <p:cNvPr id="25" name="tamper circle"/>
          <p:cNvSpPr/>
          <p:nvPr/>
        </p:nvSpPr>
        <p:spPr>
          <a:xfrm>
            <a:off x="822960" y="5394960"/>
            <a:ext cx="594360" cy="594360"/>
          </a:xfrm>
          <a:prstGeom prst="ellipse">
            <a:avLst/>
          </a:prstGeom>
          <a:solidFill>
            <a:srgbClr val="0F2A2E"/>
          </a:solidFill>
          <a:ln/>
        </p:spPr>
      </p:sp>
      <p:pic>
        <p:nvPicPr>
          <p:cNvPr id="26" name="Image 0" descr="tamper">    </p:cNvPr>
          <p:cNvPicPr>
            <a:picLocks noChangeAspect="1"/>
          </p:cNvPicPr>
          <p:nvPr/>
        </p:nvPicPr>
        <p:blipFill>
          <a:blip r:embed="rId1"/>
          <a:stretch>
            <a:fillRect/>
          </a:stretch>
        </p:blipFill>
        <p:spPr>
          <a:xfrm>
            <a:off x="971550" y="5543550"/>
            <a:ext cx="297180" cy="297180"/>
          </a:xfrm>
          <a:prstGeom prst="rect">
            <a:avLst/>
          </a:prstGeom>
        </p:spPr>
      </p:pic>
      <p:sp>
        <p:nvSpPr>
          <p:cNvPr id="27" name="Text 24"/>
          <p:cNvSpPr txBox="1"/>
          <p:nvPr/>
        </p:nvSpPr>
        <p:spPr>
          <a:xfrm>
            <a:off x="1645920" y="5321808"/>
            <a:ext cx="9692640" cy="365760"/>
          </a:xfrm>
          <a:prstGeom prst="rect">
            <a:avLst/>
          </a:prstGeom>
          <a:noFill/>
          <a:ln/>
        </p:spPr>
        <p:txBody>
          <a:bodyPr wrap="square" lIns="0" tIns="0" rIns="0" bIns="0" rtlCol="0" anchor="t"/>
          <a:lstStyle/>
          <a:p>
            <a:pPr indent="0" marL="0">
              <a:buNone/>
            </a:pPr>
            <a:r>
              <a:rPr lang="en-US" sz="1800" b="1" dirty="0">
                <a:solidFill>
                  <a:schemeClr val="bg1"/>
                </a:solidFill>
              </a:rPr>
              <a:t>Test: we change 82/100 to 92/100 in the rewrite</a:t>
            </a:r>
            <a:endParaRPr lang="en-US" sz="1800" dirty="0"/>
          </a:p>
        </p:txBody>
      </p:sp>
      <p:sp>
        <p:nvSpPr>
          <p:cNvPr id="28" name="Text 25"/>
          <p:cNvSpPr txBox="1"/>
          <p:nvPr/>
        </p:nvSpPr>
        <p:spPr>
          <a:xfrm>
            <a:off x="1645920" y="5760720"/>
            <a:ext cx="9692640" cy="320040"/>
          </a:xfrm>
          <a:prstGeom prst="rect">
            <a:avLst/>
          </a:prstGeom>
          <a:noFill/>
          <a:ln/>
        </p:spPr>
        <p:txBody>
          <a:bodyPr wrap="square" lIns="0" tIns="0" rIns="0" bIns="0" rtlCol="0" anchor="t"/>
          <a:lstStyle/>
          <a:p>
            <a:pPr indent="0" marL="0">
              <a:buNone/>
            </a:pPr>
            <a:r>
              <a:rPr lang="en-US" sz="1600" dirty="0">
                <a:solidFill>
                  <a:schemeClr val="bg1"/>
                </a:solidFill>
              </a:rPr>
              <a:t>Result: BLOCKED. The app says '82/100' became '92/100' and won't approve it.</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How we match the brief</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657600"/>
                <a:gridCol w="1188720"/>
                <a:gridCol w="6245352"/>
              </a:tblGrid>
              <a:tr h="438912">
                <a:tc>
                  <a:txBody>
                    <a:bodyPr/>
                    <a:lstStyle/>
                    <a:p>
                      <a:pPr indent="0" marL="0">
                        <a:buNone/>
                      </a:pPr>
                      <a:r>
                        <a:rPr lang="en-US" sz="1400" b="1" dirty="0">
                          <a:solidFill>
                            <a:srgbClr val="FFFFFF"/>
                          </a:solidFill>
                        </a:rPr>
                        <a:t>What the brief asks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rPr>
                        <a:t>Status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rPr>
                        <a:t>In plain words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0E7C7B"/>
                    </a:solidFill>
                  </a:tcPr>
                </a:tc>
              </a:tr>
              <a:tr h="438912">
                <a:tc>
                  <a:txBody>
                    <a:bodyPr/>
                    <a:lstStyle/>
                    <a:p>
                      <a:pPr indent="0" marL="0">
                        <a:buNone/>
                      </a:pPr>
                      <a:r>
                        <a:rPr lang="en-US" sz="1400" b="1" dirty="0">
                          <a:solidFill>
                            <a:srgbClr val="0F2A2E"/>
                          </a:solidFill>
                        </a:rPr>
                        <a:t>Find stiff, robotic language</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c>
                  <a:txBody>
                    <a:bodyPr/>
                    <a:lstStyle/>
                    <a:p>
                      <a:pPr algn="ctr" indent="0" marL="0">
                        <a:buNone/>
                      </a:pPr>
                      <a:r>
                        <a:rPr lang="en-US" sz="1400" b="1" dirty="0">
                          <a:solidFill>
                            <a:srgbClr val="FFFFFF"/>
                          </a:solidFill>
                        </a:rPr>
                        <a:t>Done</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2E8B57"/>
                    </a:solidFill>
                  </a:tcPr>
                </a:tc>
                <a:tc>
                  <a:txBody>
                    <a:bodyPr/>
                    <a:lstStyle/>
                    <a:p>
                      <a:pPr indent="0" marL="0">
                        <a:buNone/>
                      </a:pPr>
                      <a:r>
                        <a:rPr lang="en-US" sz="1400" dirty="0">
                          <a:solidFill>
                            <a:srgbClr val="0F2A2E"/>
                          </a:solidFill>
                        </a:rPr>
                        <a:t>Spots stiff, repeated and templated phrases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r>
              <a:tr h="438912">
                <a:tc>
                  <a:txBody>
                    <a:bodyPr/>
                    <a:lstStyle/>
                    <a:p>
                      <a:pPr indent="0" marL="0">
                        <a:buNone/>
                      </a:pPr>
                      <a:r>
                        <a:rPr lang="en-US" sz="1400" b="1" dirty="0">
                          <a:solidFill>
                            <a:srgbClr val="0F2A2E"/>
                          </a:solidFill>
                        </a:rPr>
                        <a:t>Match tone to the context</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rPr>
                        <a:t>Done</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2E8B57"/>
                    </a:solidFill>
                  </a:tcPr>
                </a:tc>
                <a:tc>
                  <a:txBody>
                    <a:bodyPr/>
                    <a:lstStyle/>
                    <a:p>
                      <a:pPr indent="0" marL="0">
                        <a:buNone/>
                      </a:pPr>
                      <a:r>
                        <a:rPr lang="en-US" sz="1400" dirty="0">
                          <a:solidFill>
                            <a:srgbClr val="0F2A2E"/>
                          </a:solidFill>
                        </a:rPr>
                        <a:t>5 content types and 3 tone levels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F2A2E"/>
                          </a:solidFill>
                        </a:rPr>
                        <a:t>Keep names, scores, dates, terms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c>
                  <a:txBody>
                    <a:bodyPr/>
                    <a:lstStyle/>
                    <a:p>
                      <a:pPr algn="ctr" indent="0" marL="0">
                        <a:buNone/>
                      </a:pPr>
                      <a:r>
                        <a:rPr lang="en-US" sz="1400" b="1" dirty="0">
                          <a:solidFill>
                            <a:srgbClr val="FFFFFF"/>
                          </a:solidFill>
                        </a:rPr>
                        <a:t>Done</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2E8B57"/>
                    </a:solidFill>
                  </a:tcPr>
                </a:tc>
                <a:tc>
                  <a:txBody>
                    <a:bodyPr/>
                    <a:lstStyle/>
                    <a:p>
                      <a:pPr indent="0" marL="0">
                        <a:buNone/>
                      </a:pPr>
                      <a:r>
                        <a:rPr lang="en-US" sz="1400" dirty="0">
                          <a:solidFill>
                            <a:srgbClr val="0F2A2E"/>
                          </a:solidFill>
                        </a:rPr>
                        <a:t>Our code checks them every time</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r>
              <a:tr h="438912">
                <a:tc>
                  <a:txBody>
                    <a:bodyPr/>
                    <a:lstStyle/>
                    <a:p>
                      <a:pPr indent="0" marL="0">
                        <a:buNone/>
                      </a:pPr>
                      <a:r>
                        <a:rPr lang="en-US" sz="1400" b="1" dirty="0">
                          <a:solidFill>
                            <a:srgbClr val="0F2A2E"/>
                          </a:solidFill>
                        </a:rPr>
                        <a:t>Check before showing the result</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rPr>
                        <a:t>Done</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2E8B57"/>
                    </a:solidFill>
                  </a:tcPr>
                </a:tc>
                <a:tc>
                  <a:txBody>
                    <a:bodyPr/>
                    <a:lstStyle/>
                    <a:p>
                      <a:pPr indent="0" marL="0">
                        <a:buNone/>
                      </a:pPr>
                      <a:r>
                        <a:rPr lang="en-US" sz="1400" dirty="0">
                          <a:solidFill>
                            <a:srgbClr val="0F2A2E"/>
                          </a:solidFill>
                        </a:rPr>
                        <a:t>Labelled PASS, REVIEW or BLOCKED</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F2A2E"/>
                          </a:solidFill>
                        </a:rPr>
                        <a:t>Keep the meaning</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c>
                  <a:txBody>
                    <a:bodyPr/>
                    <a:lstStyle/>
                    <a:p>
                      <a:pPr algn="ctr" indent="0" marL="0">
                        <a:buNone/>
                      </a:pPr>
                      <a:r>
                        <a:rPr lang="en-US" sz="1400" b="1" dirty="0">
                          <a:solidFill>
                            <a:srgbClr val="0F2A2E"/>
                          </a:solidFill>
                        </a:rPr>
                        <a:t>Mostly</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2A541"/>
                    </a:solidFill>
                  </a:tcPr>
                </a:tc>
                <a:tc>
                  <a:txBody>
                    <a:bodyPr/>
                    <a:lstStyle/>
                    <a:p>
                      <a:pPr indent="0" marL="0">
                        <a:buNone/>
                      </a:pPr>
                      <a:r>
                        <a:rPr lang="en-US" sz="1400" dirty="0">
                          <a:solidFill>
                            <a:srgbClr val="0F2A2E"/>
                          </a:solidFill>
                        </a:rPr>
                        <a:t>The AI judge helps check meaning</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r>
              <a:tr h="438912">
                <a:tc>
                  <a:txBody>
                    <a:bodyPr/>
                    <a:lstStyle/>
                    <a:p>
                      <a:pPr indent="0" marL="0">
                        <a:buNone/>
                      </a:pPr>
                      <a:r>
                        <a:rPr lang="en-US" sz="1400" b="1" dirty="0">
                          <a:solidFill>
                            <a:srgbClr val="0F2A2E"/>
                          </a:solidFill>
                        </a:rPr>
                        <a:t>No made-up facts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2A2E"/>
                          </a:solidFill>
                        </a:rPr>
                        <a:t>Mostly</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2A541"/>
                    </a:solidFill>
                  </a:tcPr>
                </a:tc>
                <a:tc>
                  <a:txBody>
                    <a:bodyPr/>
                    <a:lstStyle/>
                    <a:p>
                      <a:pPr indent="0" marL="0">
                        <a:buNone/>
                      </a:pPr>
                      <a:r>
                        <a:rPr lang="en-US" sz="1400" dirty="0">
                          <a:solidFill>
                            <a:srgbClr val="0F2A2E"/>
                          </a:solidFill>
                        </a:rPr>
                        <a:t>Fake numbers caught; other claims need a person</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F2A2E"/>
                          </a:solidFill>
                        </a:rPr>
                        <a:t>Same voice across messages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c>
                  <a:txBody>
                    <a:bodyPr/>
                    <a:lstStyle/>
                    <a:p>
                      <a:pPr algn="ctr" indent="0" marL="0">
                        <a:buNone/>
                      </a:pPr>
                      <a:r>
                        <a:rPr lang="en-US" sz="1400" b="1" dirty="0">
                          <a:solidFill>
                            <a:srgbClr val="0F2A2E"/>
                          </a:solidFill>
                        </a:rPr>
                        <a:t>Mostly</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2A541"/>
                    </a:solidFill>
                  </a:tcPr>
                </a:tc>
                <a:tc>
                  <a:txBody>
                    <a:bodyPr/>
                    <a:lstStyle/>
                    <a:p>
                      <a:pPr indent="0" marL="0">
                        <a:buNone/>
                      </a:pPr>
                      <a:r>
                        <a:rPr lang="en-US" sz="1400" dirty="0">
                          <a:solidFill>
                            <a:srgbClr val="0F2A2E"/>
                          </a:solidFill>
                        </a:rPr>
                        <a:t>Voice notes work; a batch check is next</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r>
              <a:tr h="438912">
                <a:tc>
                  <a:txBody>
                    <a:bodyPr/>
                    <a:lstStyle/>
                    <a:p>
                      <a:pPr indent="0" marL="0">
                        <a:buNone/>
                      </a:pPr>
                      <a:r>
                        <a:rPr lang="en-US" sz="1400" b="1" dirty="0">
                          <a:solidFill>
                            <a:srgbClr val="0F2A2E"/>
                          </a:solidFill>
                        </a:rPr>
                        <a:t>State the intent</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rPr>
                        <a:t>To do</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C0392B"/>
                    </a:solidFill>
                  </a:tcPr>
                </a:tc>
                <a:tc>
                  <a:txBody>
                    <a:bodyPr/>
                    <a:lstStyle/>
                    <a:p>
                      <a:pPr indent="0" marL="0">
                        <a:buNone/>
                      </a:pPr>
                      <a:r>
                        <a:rPr lang="en-US" sz="1400" dirty="0">
                          <a:solidFill>
                            <a:srgbClr val="0F2A2E"/>
                          </a:solidFill>
                        </a:rPr>
                        <a:t>We keep the facts but don't state the intent yet</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F2A2E"/>
                          </a:solidFill>
                        </a:rPr>
                        <a:t>Prove it with tests</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c>
                  <a:txBody>
                    <a:bodyPr/>
                    <a:lstStyle/>
                    <a:p>
                      <a:pPr algn="ctr" indent="0" marL="0">
                        <a:buNone/>
                      </a:pPr>
                      <a:r>
                        <a:rPr lang="en-US" sz="1400" b="1" dirty="0">
                          <a:solidFill>
                            <a:srgbClr val="0F2A2E"/>
                          </a:solidFill>
                        </a:rPr>
                        <a:t>Mostly</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2A541"/>
                    </a:solidFill>
                  </a:tcPr>
                </a:tc>
                <a:tc>
                  <a:txBody>
                    <a:bodyPr/>
                    <a:lstStyle/>
                    <a:p>
                      <a:pPr indent="0" marL="0">
                        <a:buNone/>
                      </a:pPr>
                      <a:r>
                        <a:rPr lang="en-US" sz="1400" dirty="0">
                          <a:solidFill>
                            <a:srgbClr val="0F2A2E"/>
                          </a:solidFill>
                        </a:rPr>
                        <a:t>Fact tests done; meaning and tone tests next</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EAF3F3"/>
                    </a:solidFill>
                  </a:tcPr>
                </a:tc>
              </a:tr>
              <a:tr h="438912">
                <a:tc>
                  <a:txBody>
                    <a:bodyPr/>
                    <a:lstStyle/>
                    <a:p>
                      <a:pPr indent="0" marL="0">
                        <a:buNone/>
                      </a:pPr>
                      <a:r>
                        <a:rPr lang="en-US" sz="1400" b="1" dirty="0">
                          <a:solidFill>
                            <a:srgbClr val="0F2A2E"/>
                          </a:solidFill>
                        </a:rPr>
                        <a:t>Live public website</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rPr>
                        <a:t>To do</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C0392B"/>
                    </a:solidFill>
                  </a:tcPr>
                </a:tc>
                <a:tc>
                  <a:txBody>
                    <a:bodyPr/>
                    <a:lstStyle/>
                    <a:p>
                      <a:pPr indent="0" marL="0">
                        <a:buNone/>
                      </a:pPr>
                      <a:r>
                        <a:rPr lang="en-US" sz="1400" dirty="0">
                          <a:solidFill>
                            <a:srgbClr val="0F2A2E"/>
                          </a:solidFill>
                        </a:rPr>
                        <a:t>Deploy it and test the link</a:t>
                      </a:r>
                      <a:endParaRPr lang="en-US" sz="1400" dirty="0"/>
                    </a:p>
                  </a:txBody>
                  <a:tcPr marL="101600" marR="101600" marT="25400" marB="25400" anchor="ctr">
                    <a:lnL w="6350" cap="flat" cmpd="sng" algn="ctr">
                      <a:solidFill>
                        <a:srgbClr val="D5E3E3"/>
                      </a:solidFill>
                      <a:prstDash val="solid"/>
                      <a:round/>
                      <a:headEnd type="none" w="med" len="med"/>
                      <a:tailEnd type="none" w="med" len="med"/>
                    </a:lnL>
                    <a:lnR w="6350" cap="flat" cmpd="sng" algn="ctr">
                      <a:solidFill>
                        <a:srgbClr val="D5E3E3"/>
                      </a:solidFill>
                      <a:prstDash val="solid"/>
                      <a:round/>
                      <a:headEnd type="none" w="med" len="med"/>
                      <a:tailEnd type="none" w="med" len="med"/>
                    </a:lnR>
                    <a:lnT w="6350" cap="flat" cmpd="sng" algn="ctr">
                      <a:solidFill>
                        <a:srgbClr val="D5E3E3"/>
                      </a:solidFill>
                      <a:prstDash val="solid"/>
                      <a:round/>
                      <a:headEnd type="none" w="med" len="med"/>
                      <a:tailEnd type="none" w="med" len="med"/>
                    </a:lnT>
                    <a:lnB w="6350" cap="flat" cmpd="sng" algn="ctr">
                      <a:solidFill>
                        <a:srgbClr val="D5E3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What's left to finish</a:t>
            </a:r>
            <a:endParaRPr lang="en-US" sz="3600" dirty="0"/>
          </a:p>
        </p:txBody>
      </p:sp>
      <p:sp>
        <p:nvSpPr>
          <p:cNvPr id="3" name="left row 1"/>
          <p:cNvSpPr/>
          <p:nvPr/>
        </p:nvSpPr>
        <p:spPr>
          <a:xfrm>
            <a:off x="548640" y="1371600"/>
            <a:ext cx="11091672" cy="713232"/>
          </a:xfrm>
          <a:prstGeom prst="roundRect">
            <a:avLst>
              <a:gd name="adj" fmla="val 15385"/>
            </a:avLst>
          </a:prstGeom>
          <a:solidFill>
            <a:schemeClr val="bg2"/>
          </a:solidFill>
          <a:ln/>
          <a:effectLst>
            <a:outerShdw sx="100000" sy="100000" kx="0" ky="0" algn="bl" rotWithShape="0" blurRad="76200" dist="25400" dir="5400000">
              <a:srgbClr val="000000">
                <a:alpha val="10000"/>
              </a:srgbClr>
            </a:outerShdw>
          </a:effectLst>
        </p:spPr>
      </p:sp>
      <p:sp>
        <p:nvSpPr>
          <p:cNvPr id="4" name="priority 1"/>
          <p:cNvSpPr/>
          <p:nvPr/>
        </p:nvSpPr>
        <p:spPr>
          <a:xfrm>
            <a:off x="731520" y="1572768"/>
            <a:ext cx="1188720" cy="310896"/>
          </a:xfrm>
          <a:prstGeom prst="roundRect">
            <a:avLst>
              <a:gd name="adj" fmla="val 23529"/>
            </a:avLst>
          </a:prstGeom>
          <a:solidFill>
            <a:srgbClr val="C0392B"/>
          </a:solidFill>
          <a:ln/>
        </p:spPr>
      </p:sp>
      <p:sp>
        <p:nvSpPr>
          <p:cNvPr id="5" name="Text 3"/>
          <p:cNvSpPr txBox="1"/>
          <p:nvPr/>
        </p:nvSpPr>
        <p:spPr>
          <a:xfrm>
            <a:off x="731520" y="157276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Must do</a:t>
            </a:r>
            <a:endParaRPr lang="en-US" sz="1200" dirty="0"/>
          </a:p>
        </p:txBody>
      </p:sp>
      <p:sp>
        <p:nvSpPr>
          <p:cNvPr id="6" name="Text 4"/>
          <p:cNvSpPr txBox="1"/>
          <p:nvPr/>
        </p:nvSpPr>
        <p:spPr>
          <a:xfrm>
            <a:off x="2148840" y="1444752"/>
            <a:ext cx="7223760" cy="292608"/>
          </a:xfrm>
          <a:prstGeom prst="rect">
            <a:avLst/>
          </a:prstGeom>
          <a:noFill/>
          <a:ln/>
        </p:spPr>
        <p:txBody>
          <a:bodyPr wrap="square" lIns="0" tIns="0" rIns="0" bIns="0" rtlCol="0" anchor="t"/>
          <a:lstStyle/>
          <a:p>
            <a:pPr indent="0" marL="0">
              <a:buNone/>
            </a:pPr>
            <a:r>
              <a:rPr lang="en-US" sz="1600" b="1" dirty="0">
                <a:solidFill>
                  <a:schemeClr val="tx1"/>
                </a:solidFill>
              </a:rPr>
              <a:t>Show the intent</a:t>
            </a:r>
            <a:endParaRPr lang="en-US" sz="1600" dirty="0"/>
          </a:p>
        </p:txBody>
      </p:sp>
      <p:sp>
        <p:nvSpPr>
          <p:cNvPr id="7" name="Text 5"/>
          <p:cNvSpPr txBox="1"/>
          <p:nvPr/>
        </p:nvSpPr>
        <p:spPr>
          <a:xfrm>
            <a:off x="2148840" y="1737360"/>
            <a:ext cx="7315200" cy="274320"/>
          </a:xfrm>
          <a:prstGeom prst="rect">
            <a:avLst/>
          </a:prstGeom>
          <a:noFill/>
          <a:ln/>
        </p:spPr>
        <p:txBody>
          <a:bodyPr wrap="square" lIns="0" tIns="0" rIns="0" bIns="0" rtlCol="0" anchor="t"/>
          <a:lstStyle/>
          <a:p>
            <a:pPr indent="0" marL="0">
              <a:buNone/>
            </a:pPr>
            <a:r>
              <a:rPr lang="en-US" sz="1400" dirty="0">
                <a:solidFill>
                  <a:schemeClr val="accent5"/>
                </a:solidFill>
              </a:rPr>
              <a:t>AI states what the text is trying to say, and we check the rewrite still says it.</a:t>
            </a:r>
            <a:endParaRPr lang="en-US" sz="1400" dirty="0"/>
          </a:p>
        </p:txBody>
      </p:sp>
      <p:sp>
        <p:nvSpPr>
          <p:cNvPr id="8" name="owner 1"/>
          <p:cNvSpPr/>
          <p:nvPr/>
        </p:nvSpPr>
        <p:spPr>
          <a:xfrm>
            <a:off x="9601200" y="1554480"/>
            <a:ext cx="1783080" cy="347472"/>
          </a:xfrm>
          <a:prstGeom prst="roundRect">
            <a:avLst>
              <a:gd name="adj" fmla="val 21053"/>
            </a:avLst>
          </a:prstGeom>
          <a:solidFill>
            <a:srgbClr val="0E7C7B"/>
          </a:solidFill>
          <a:ln/>
        </p:spPr>
      </p:sp>
      <p:sp>
        <p:nvSpPr>
          <p:cNvPr id="9" name="Text 7"/>
          <p:cNvSpPr txBox="1"/>
          <p:nvPr/>
        </p:nvSpPr>
        <p:spPr>
          <a:xfrm>
            <a:off x="9601200" y="1554480"/>
            <a:ext cx="1783080" cy="347472"/>
          </a:xfrm>
          <a:prstGeom prst="rect">
            <a:avLst/>
          </a:prstGeom>
          <a:noFill/>
          <a:ln/>
        </p:spPr>
        <p:txBody>
          <a:bodyPr wrap="square" lIns="0" tIns="0" rIns="0" bIns="0" rtlCol="0" anchor="ctr"/>
          <a:lstStyle/>
          <a:p>
            <a:pPr algn="ctr" indent="0" marL="0">
              <a:buNone/>
            </a:pPr>
            <a:r>
              <a:rPr lang="en-US" sz="1400" b="1" dirty="0">
                <a:solidFill>
                  <a:schemeClr val="bg1"/>
                </a:solidFill>
              </a:rPr>
              <a:t>Member 2</a:t>
            </a:r>
            <a:endParaRPr lang="en-US" sz="1400" dirty="0"/>
          </a:p>
        </p:txBody>
      </p:sp>
      <p:sp>
        <p:nvSpPr>
          <p:cNvPr id="10" name="left row 2"/>
          <p:cNvSpPr/>
          <p:nvPr/>
        </p:nvSpPr>
        <p:spPr>
          <a:xfrm>
            <a:off x="548640" y="2176272"/>
            <a:ext cx="11091672" cy="713232"/>
          </a:xfrm>
          <a:prstGeom prst="roundRect">
            <a:avLst>
              <a:gd name="adj" fmla="val 15385"/>
            </a:avLst>
          </a:prstGeom>
          <a:solidFill>
            <a:schemeClr val="bg2"/>
          </a:solidFill>
          <a:ln/>
          <a:effectLst>
            <a:outerShdw sx="100000" sy="100000" kx="0" ky="0" algn="bl" rotWithShape="0" blurRad="76200" dist="25400" dir="5400000">
              <a:srgbClr val="000000">
                <a:alpha val="10000"/>
              </a:srgbClr>
            </a:outerShdw>
          </a:effectLst>
        </p:spPr>
      </p:sp>
      <p:sp>
        <p:nvSpPr>
          <p:cNvPr id="11" name="priority 2"/>
          <p:cNvSpPr/>
          <p:nvPr/>
        </p:nvSpPr>
        <p:spPr>
          <a:xfrm>
            <a:off x="731520" y="2377440"/>
            <a:ext cx="1188720" cy="310896"/>
          </a:xfrm>
          <a:prstGeom prst="roundRect">
            <a:avLst>
              <a:gd name="adj" fmla="val 23529"/>
            </a:avLst>
          </a:prstGeom>
          <a:solidFill>
            <a:srgbClr val="C0392B"/>
          </a:solidFill>
          <a:ln/>
        </p:spPr>
      </p:sp>
      <p:sp>
        <p:nvSpPr>
          <p:cNvPr id="12" name="Text 10"/>
          <p:cNvSpPr txBox="1"/>
          <p:nvPr/>
        </p:nvSpPr>
        <p:spPr>
          <a:xfrm>
            <a:off x="731520" y="237744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Must do</a:t>
            </a:r>
            <a:endParaRPr lang="en-US" sz="1200" dirty="0"/>
          </a:p>
        </p:txBody>
      </p:sp>
      <p:sp>
        <p:nvSpPr>
          <p:cNvPr id="13" name="Text 11"/>
          <p:cNvSpPr txBox="1"/>
          <p:nvPr/>
        </p:nvSpPr>
        <p:spPr>
          <a:xfrm>
            <a:off x="2148840" y="2249424"/>
            <a:ext cx="7223760" cy="292608"/>
          </a:xfrm>
          <a:prstGeom prst="rect">
            <a:avLst/>
          </a:prstGeom>
          <a:noFill/>
          <a:ln/>
        </p:spPr>
        <p:txBody>
          <a:bodyPr wrap="square" lIns="0" tIns="0" rIns="0" bIns="0" rtlCol="0" anchor="t"/>
          <a:lstStyle/>
          <a:p>
            <a:pPr indent="0" marL="0">
              <a:buNone/>
            </a:pPr>
            <a:r>
              <a:rPr lang="en-US" sz="1600" b="1" dirty="0">
                <a:solidFill>
                  <a:schemeClr val="tx1"/>
                </a:solidFill>
              </a:rPr>
              <a:t>Check a set of messages</a:t>
            </a:r>
            <a:endParaRPr lang="en-US" sz="1600" dirty="0"/>
          </a:p>
        </p:txBody>
      </p:sp>
      <p:sp>
        <p:nvSpPr>
          <p:cNvPr id="14" name="Text 12"/>
          <p:cNvSpPr txBox="1"/>
          <p:nvPr/>
        </p:nvSpPr>
        <p:spPr>
          <a:xfrm>
            <a:off x="2148840" y="2542032"/>
            <a:ext cx="7315200" cy="274320"/>
          </a:xfrm>
          <a:prstGeom prst="rect">
            <a:avLst/>
          </a:prstGeom>
          <a:noFill/>
          <a:ln/>
        </p:spPr>
        <p:txBody>
          <a:bodyPr wrap="square" lIns="0" tIns="0" rIns="0" bIns="0" rtlCol="0" anchor="t"/>
          <a:lstStyle/>
          <a:p>
            <a:pPr indent="0" marL="0">
              <a:buNone/>
            </a:pPr>
            <a:r>
              <a:rPr lang="en-US" sz="1400" dirty="0">
                <a:solidFill>
                  <a:schemeClr val="accent5"/>
                </a:solidFill>
              </a:rPr>
              <a:t>Rewrite related messages together and score how consistent they sound.</a:t>
            </a:r>
            <a:endParaRPr lang="en-US" sz="1400" dirty="0"/>
          </a:p>
        </p:txBody>
      </p:sp>
      <p:sp>
        <p:nvSpPr>
          <p:cNvPr id="15" name="owner 2"/>
          <p:cNvSpPr/>
          <p:nvPr/>
        </p:nvSpPr>
        <p:spPr>
          <a:xfrm>
            <a:off x="9601200" y="2359152"/>
            <a:ext cx="1783080" cy="347472"/>
          </a:xfrm>
          <a:prstGeom prst="roundRect">
            <a:avLst>
              <a:gd name="adj" fmla="val 21053"/>
            </a:avLst>
          </a:prstGeom>
          <a:solidFill>
            <a:srgbClr val="0E7C7B"/>
          </a:solidFill>
          <a:ln/>
        </p:spPr>
      </p:sp>
      <p:sp>
        <p:nvSpPr>
          <p:cNvPr id="16" name="Text 14"/>
          <p:cNvSpPr txBox="1"/>
          <p:nvPr/>
        </p:nvSpPr>
        <p:spPr>
          <a:xfrm>
            <a:off x="9601200" y="2359152"/>
            <a:ext cx="1783080" cy="347472"/>
          </a:xfrm>
          <a:prstGeom prst="rect">
            <a:avLst/>
          </a:prstGeom>
          <a:noFill/>
          <a:ln/>
        </p:spPr>
        <p:txBody>
          <a:bodyPr wrap="square" lIns="0" tIns="0" rIns="0" bIns="0" rtlCol="0" anchor="ctr"/>
          <a:lstStyle/>
          <a:p>
            <a:pPr algn="ctr" indent="0" marL="0">
              <a:buNone/>
            </a:pPr>
            <a:r>
              <a:rPr lang="en-US" sz="1400" b="1" dirty="0">
                <a:solidFill>
                  <a:schemeClr val="bg1"/>
                </a:solidFill>
              </a:rPr>
              <a:t>Member 4</a:t>
            </a:r>
            <a:endParaRPr lang="en-US" sz="1400" dirty="0"/>
          </a:p>
        </p:txBody>
      </p:sp>
      <p:sp>
        <p:nvSpPr>
          <p:cNvPr id="17" name="left row 3"/>
          <p:cNvSpPr/>
          <p:nvPr/>
        </p:nvSpPr>
        <p:spPr>
          <a:xfrm>
            <a:off x="548640" y="2980944"/>
            <a:ext cx="11091672" cy="713232"/>
          </a:xfrm>
          <a:prstGeom prst="roundRect">
            <a:avLst>
              <a:gd name="adj" fmla="val 15385"/>
            </a:avLst>
          </a:prstGeom>
          <a:solidFill>
            <a:schemeClr val="bg2"/>
          </a:solidFill>
          <a:ln/>
          <a:effectLst>
            <a:outerShdw sx="100000" sy="100000" kx="0" ky="0" algn="bl" rotWithShape="0" blurRad="76200" dist="25400" dir="5400000">
              <a:srgbClr val="000000">
                <a:alpha val="10000"/>
              </a:srgbClr>
            </a:outerShdw>
          </a:effectLst>
        </p:spPr>
      </p:sp>
      <p:sp>
        <p:nvSpPr>
          <p:cNvPr id="18" name="priority 3"/>
          <p:cNvSpPr/>
          <p:nvPr/>
        </p:nvSpPr>
        <p:spPr>
          <a:xfrm>
            <a:off x="731520" y="3182112"/>
            <a:ext cx="1188720" cy="310896"/>
          </a:xfrm>
          <a:prstGeom prst="roundRect">
            <a:avLst>
              <a:gd name="adj" fmla="val 23529"/>
            </a:avLst>
          </a:prstGeom>
          <a:solidFill>
            <a:srgbClr val="C0392B"/>
          </a:solidFill>
          <a:ln/>
        </p:spPr>
      </p:sp>
      <p:sp>
        <p:nvSpPr>
          <p:cNvPr id="19" name="Text 17"/>
          <p:cNvSpPr txBox="1"/>
          <p:nvPr/>
        </p:nvSpPr>
        <p:spPr>
          <a:xfrm>
            <a:off x="731520" y="318211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Must do</a:t>
            </a:r>
            <a:endParaRPr lang="en-US" sz="1200" dirty="0"/>
          </a:p>
        </p:txBody>
      </p:sp>
      <p:sp>
        <p:nvSpPr>
          <p:cNvPr id="20" name="Text 18"/>
          <p:cNvSpPr txBox="1"/>
          <p:nvPr/>
        </p:nvSpPr>
        <p:spPr>
          <a:xfrm>
            <a:off x="2148840" y="3054096"/>
            <a:ext cx="7223760" cy="292608"/>
          </a:xfrm>
          <a:prstGeom prst="rect">
            <a:avLst/>
          </a:prstGeom>
          <a:noFill/>
          <a:ln/>
        </p:spPr>
        <p:txBody>
          <a:bodyPr wrap="square" lIns="0" tIns="0" rIns="0" bIns="0" rtlCol="0" anchor="t"/>
          <a:lstStyle/>
          <a:p>
            <a:pPr indent="0" marL="0">
              <a:buNone/>
            </a:pPr>
            <a:r>
              <a:rPr lang="en-US" sz="1600" b="1" dirty="0">
                <a:solidFill>
                  <a:schemeClr val="tx1"/>
                </a:solidFill>
              </a:rPr>
              <a:t>Test meaning, tone, voice and screenshots</a:t>
            </a:r>
            <a:endParaRPr lang="en-US" sz="1600" dirty="0"/>
          </a:p>
        </p:txBody>
      </p:sp>
      <p:sp>
        <p:nvSpPr>
          <p:cNvPr id="21" name="Text 19"/>
          <p:cNvSpPr txBox="1"/>
          <p:nvPr/>
        </p:nvSpPr>
        <p:spPr>
          <a:xfrm>
            <a:off x="2148840" y="3346704"/>
            <a:ext cx="7315200" cy="274320"/>
          </a:xfrm>
          <a:prstGeom prst="rect">
            <a:avLst/>
          </a:prstGeom>
          <a:noFill/>
          <a:ln/>
        </p:spPr>
        <p:txBody>
          <a:bodyPr wrap="square" lIns="0" tIns="0" rIns="0" bIns="0" rtlCol="0" anchor="t"/>
          <a:lstStyle/>
          <a:p>
            <a:pPr indent="0" marL="0">
              <a:buNone/>
            </a:pPr>
            <a:r>
              <a:rPr lang="en-US" sz="1400" dirty="0">
                <a:solidFill>
                  <a:schemeClr val="accent5"/>
                </a:solidFill>
              </a:rPr>
              <a:t>Run tests with Gemini, try voice and screenshots live, and add meaning and tone checks.</a:t>
            </a:r>
            <a:endParaRPr lang="en-US" sz="1400" dirty="0"/>
          </a:p>
        </p:txBody>
      </p:sp>
      <p:sp>
        <p:nvSpPr>
          <p:cNvPr id="22" name="owner 3"/>
          <p:cNvSpPr/>
          <p:nvPr/>
        </p:nvSpPr>
        <p:spPr>
          <a:xfrm>
            <a:off x="9601200" y="3163824"/>
            <a:ext cx="1783080" cy="347472"/>
          </a:xfrm>
          <a:prstGeom prst="roundRect">
            <a:avLst>
              <a:gd name="adj" fmla="val 21053"/>
            </a:avLst>
          </a:prstGeom>
          <a:solidFill>
            <a:srgbClr val="0E7C7B"/>
          </a:solidFill>
          <a:ln/>
        </p:spPr>
      </p:sp>
      <p:sp>
        <p:nvSpPr>
          <p:cNvPr id="23" name="Text 21"/>
          <p:cNvSpPr txBox="1"/>
          <p:nvPr/>
        </p:nvSpPr>
        <p:spPr>
          <a:xfrm>
            <a:off x="9601200" y="3163824"/>
            <a:ext cx="1783080" cy="347472"/>
          </a:xfrm>
          <a:prstGeom prst="rect">
            <a:avLst/>
          </a:prstGeom>
          <a:noFill/>
          <a:ln/>
        </p:spPr>
        <p:txBody>
          <a:bodyPr wrap="square" lIns="0" tIns="0" rIns="0" bIns="0" rtlCol="0" anchor="ctr"/>
          <a:lstStyle/>
          <a:p>
            <a:pPr algn="ctr" indent="0" marL="0">
              <a:buNone/>
            </a:pPr>
            <a:r>
              <a:rPr lang="en-US" sz="1400" b="1" dirty="0">
                <a:solidFill>
                  <a:schemeClr val="bg1"/>
                </a:solidFill>
              </a:rPr>
              <a:t>Member 5</a:t>
            </a:r>
            <a:endParaRPr lang="en-US" sz="1400" dirty="0"/>
          </a:p>
        </p:txBody>
      </p:sp>
      <p:sp>
        <p:nvSpPr>
          <p:cNvPr id="24" name="left row 4"/>
          <p:cNvSpPr/>
          <p:nvPr/>
        </p:nvSpPr>
        <p:spPr>
          <a:xfrm>
            <a:off x="548640" y="3785616"/>
            <a:ext cx="11091672" cy="713232"/>
          </a:xfrm>
          <a:prstGeom prst="roundRect">
            <a:avLst>
              <a:gd name="adj" fmla="val 15385"/>
            </a:avLst>
          </a:prstGeom>
          <a:solidFill>
            <a:schemeClr val="bg2"/>
          </a:solidFill>
          <a:ln/>
          <a:effectLst>
            <a:outerShdw sx="100000" sy="100000" kx="0" ky="0" algn="bl" rotWithShape="0" blurRad="76200" dist="25400" dir="5400000">
              <a:srgbClr val="000000">
                <a:alpha val="10000"/>
              </a:srgbClr>
            </a:outerShdw>
          </a:effectLst>
        </p:spPr>
      </p:sp>
      <p:sp>
        <p:nvSpPr>
          <p:cNvPr id="25" name="priority 4"/>
          <p:cNvSpPr/>
          <p:nvPr/>
        </p:nvSpPr>
        <p:spPr>
          <a:xfrm>
            <a:off x="731520" y="3986784"/>
            <a:ext cx="1188720" cy="310896"/>
          </a:xfrm>
          <a:prstGeom prst="roundRect">
            <a:avLst>
              <a:gd name="adj" fmla="val 23529"/>
            </a:avLst>
          </a:prstGeom>
          <a:solidFill>
            <a:srgbClr val="C0392B"/>
          </a:solidFill>
          <a:ln/>
        </p:spPr>
      </p:sp>
      <p:sp>
        <p:nvSpPr>
          <p:cNvPr id="26" name="Text 24"/>
          <p:cNvSpPr txBox="1"/>
          <p:nvPr/>
        </p:nvSpPr>
        <p:spPr>
          <a:xfrm>
            <a:off x="731520" y="3986784"/>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Must do</a:t>
            </a:r>
            <a:endParaRPr lang="en-US" sz="1200" dirty="0"/>
          </a:p>
        </p:txBody>
      </p:sp>
      <p:sp>
        <p:nvSpPr>
          <p:cNvPr id="27" name="Text 25"/>
          <p:cNvSpPr txBox="1"/>
          <p:nvPr/>
        </p:nvSpPr>
        <p:spPr>
          <a:xfrm>
            <a:off x="2148840" y="3858768"/>
            <a:ext cx="7223760" cy="292608"/>
          </a:xfrm>
          <a:prstGeom prst="rect">
            <a:avLst/>
          </a:prstGeom>
          <a:noFill/>
          <a:ln/>
        </p:spPr>
        <p:txBody>
          <a:bodyPr wrap="square" lIns="0" tIns="0" rIns="0" bIns="0" rtlCol="0" anchor="t"/>
          <a:lstStyle/>
          <a:p>
            <a:pPr indent="0" marL="0">
              <a:buNone/>
            </a:pPr>
            <a:r>
              <a:rPr lang="en-US" sz="1600" b="1" dirty="0">
                <a:solidFill>
                  <a:schemeClr val="tx1"/>
                </a:solidFill>
              </a:rPr>
              <a:t>Publish the live link</a:t>
            </a:r>
            <a:endParaRPr lang="en-US" sz="1600" dirty="0"/>
          </a:p>
        </p:txBody>
      </p:sp>
      <p:sp>
        <p:nvSpPr>
          <p:cNvPr id="28" name="Text 26"/>
          <p:cNvSpPr txBox="1"/>
          <p:nvPr/>
        </p:nvSpPr>
        <p:spPr>
          <a:xfrm>
            <a:off x="2148840" y="4151376"/>
            <a:ext cx="7315200" cy="274320"/>
          </a:xfrm>
          <a:prstGeom prst="rect">
            <a:avLst/>
          </a:prstGeom>
          <a:noFill/>
          <a:ln/>
        </p:spPr>
        <p:txBody>
          <a:bodyPr wrap="square" lIns="0" tIns="0" rIns="0" bIns="0" rtlCol="0" anchor="t"/>
          <a:lstStyle/>
          <a:p>
            <a:pPr indent="0" marL="0">
              <a:buNone/>
            </a:pPr>
            <a:r>
              <a:rPr lang="en-US" sz="1400" dirty="0">
                <a:solidFill>
                  <a:schemeClr val="accent5"/>
                </a:solidFill>
              </a:rPr>
              <a:t>Deploy it, then test on a phone and another network.</a:t>
            </a:r>
            <a:endParaRPr lang="en-US" sz="1400" dirty="0"/>
          </a:p>
        </p:txBody>
      </p:sp>
      <p:sp>
        <p:nvSpPr>
          <p:cNvPr id="29" name="owner 4"/>
          <p:cNvSpPr/>
          <p:nvPr/>
        </p:nvSpPr>
        <p:spPr>
          <a:xfrm>
            <a:off x="9601200" y="3968496"/>
            <a:ext cx="1783080" cy="347472"/>
          </a:xfrm>
          <a:prstGeom prst="roundRect">
            <a:avLst>
              <a:gd name="adj" fmla="val 21053"/>
            </a:avLst>
          </a:prstGeom>
          <a:solidFill>
            <a:srgbClr val="0E7C7B"/>
          </a:solidFill>
          <a:ln/>
        </p:spPr>
      </p:sp>
      <p:sp>
        <p:nvSpPr>
          <p:cNvPr id="30" name="Text 28"/>
          <p:cNvSpPr txBox="1"/>
          <p:nvPr/>
        </p:nvSpPr>
        <p:spPr>
          <a:xfrm>
            <a:off x="9601200" y="3968496"/>
            <a:ext cx="1783080" cy="347472"/>
          </a:xfrm>
          <a:prstGeom prst="rect">
            <a:avLst/>
          </a:prstGeom>
          <a:noFill/>
          <a:ln/>
        </p:spPr>
        <p:txBody>
          <a:bodyPr wrap="square" lIns="0" tIns="0" rIns="0" bIns="0" rtlCol="0" anchor="ctr"/>
          <a:lstStyle/>
          <a:p>
            <a:pPr algn="ctr" indent="0" marL="0">
              <a:buNone/>
            </a:pPr>
            <a:r>
              <a:rPr lang="en-US" sz="1400" b="1" dirty="0">
                <a:solidFill>
                  <a:schemeClr val="bg1"/>
                </a:solidFill>
              </a:rPr>
              <a:t>Member 1</a:t>
            </a:r>
            <a:endParaRPr lang="en-US" sz="1400" dirty="0"/>
          </a:p>
        </p:txBody>
      </p:sp>
      <p:sp>
        <p:nvSpPr>
          <p:cNvPr id="31" name="left row 5"/>
          <p:cNvSpPr/>
          <p:nvPr/>
        </p:nvSpPr>
        <p:spPr>
          <a:xfrm>
            <a:off x="548640" y="4590288"/>
            <a:ext cx="11091672" cy="713232"/>
          </a:xfrm>
          <a:prstGeom prst="roundRect">
            <a:avLst>
              <a:gd name="adj" fmla="val 15385"/>
            </a:avLst>
          </a:prstGeom>
          <a:solidFill>
            <a:schemeClr val="bg2"/>
          </a:solidFill>
          <a:ln/>
          <a:effectLst>
            <a:outerShdw sx="100000" sy="100000" kx="0" ky="0" algn="bl" rotWithShape="0" blurRad="76200" dist="25400" dir="5400000">
              <a:srgbClr val="000000">
                <a:alpha val="10000"/>
              </a:srgbClr>
            </a:outerShdw>
          </a:effectLst>
        </p:spPr>
      </p:sp>
      <p:sp>
        <p:nvSpPr>
          <p:cNvPr id="32" name="priority 5"/>
          <p:cNvSpPr/>
          <p:nvPr/>
        </p:nvSpPr>
        <p:spPr>
          <a:xfrm>
            <a:off x="731520" y="4791456"/>
            <a:ext cx="1188720" cy="310896"/>
          </a:xfrm>
          <a:prstGeom prst="roundRect">
            <a:avLst>
              <a:gd name="adj" fmla="val 23529"/>
            </a:avLst>
          </a:prstGeom>
          <a:solidFill>
            <a:srgbClr val="5B6B7A"/>
          </a:solidFill>
          <a:ln/>
        </p:spPr>
      </p:sp>
      <p:sp>
        <p:nvSpPr>
          <p:cNvPr id="33" name="Text 31"/>
          <p:cNvSpPr txBox="1"/>
          <p:nvPr/>
        </p:nvSpPr>
        <p:spPr>
          <a:xfrm>
            <a:off x="731520" y="4791456"/>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Nice to have</a:t>
            </a:r>
            <a:endParaRPr lang="en-US" sz="1200" dirty="0"/>
          </a:p>
        </p:txBody>
      </p:sp>
      <p:sp>
        <p:nvSpPr>
          <p:cNvPr id="34" name="Text 32"/>
          <p:cNvSpPr txBox="1"/>
          <p:nvPr/>
        </p:nvSpPr>
        <p:spPr>
          <a:xfrm>
            <a:off x="2148840" y="4663440"/>
            <a:ext cx="7223760" cy="292608"/>
          </a:xfrm>
          <a:prstGeom prst="rect">
            <a:avLst/>
          </a:prstGeom>
          <a:noFill/>
          <a:ln/>
        </p:spPr>
        <p:txBody>
          <a:bodyPr wrap="square" lIns="0" tIns="0" rIns="0" bIns="0" rtlCol="0" anchor="t"/>
          <a:lstStyle/>
          <a:p>
            <a:pPr indent="0" marL="0">
              <a:buNone/>
            </a:pPr>
            <a:r>
              <a:rPr lang="en-US" sz="1600" b="1" dirty="0">
                <a:solidFill>
                  <a:schemeClr val="tx1"/>
                </a:solidFill>
              </a:rPr>
              <a:t>Catch made-up claims</a:t>
            </a:r>
            <a:endParaRPr lang="en-US" sz="1600" dirty="0"/>
          </a:p>
        </p:txBody>
      </p:sp>
      <p:sp>
        <p:nvSpPr>
          <p:cNvPr id="35" name="Text 33"/>
          <p:cNvSpPr txBox="1"/>
          <p:nvPr/>
        </p:nvSpPr>
        <p:spPr>
          <a:xfrm>
            <a:off x="2148840" y="4956048"/>
            <a:ext cx="7315200" cy="274320"/>
          </a:xfrm>
          <a:prstGeom prst="rect">
            <a:avLst/>
          </a:prstGeom>
          <a:noFill/>
          <a:ln/>
        </p:spPr>
        <p:txBody>
          <a:bodyPr wrap="square" lIns="0" tIns="0" rIns="0" bIns="0" rtlCol="0" anchor="t"/>
          <a:lstStyle/>
          <a:p>
            <a:pPr indent="0" marL="0">
              <a:buNone/>
            </a:pPr>
            <a:r>
              <a:rPr lang="en-US" sz="1400" dirty="0">
                <a:solidFill>
                  <a:schemeClr val="accent5"/>
                </a:solidFill>
              </a:rPr>
              <a:t>Compare the claims in each sentence, not just numbers and names.</a:t>
            </a:r>
            <a:endParaRPr lang="en-US" sz="1400" dirty="0"/>
          </a:p>
        </p:txBody>
      </p:sp>
      <p:sp>
        <p:nvSpPr>
          <p:cNvPr id="36" name="owner 5"/>
          <p:cNvSpPr/>
          <p:nvPr/>
        </p:nvSpPr>
        <p:spPr>
          <a:xfrm>
            <a:off x="9601200" y="4773168"/>
            <a:ext cx="1783080" cy="347472"/>
          </a:xfrm>
          <a:prstGeom prst="roundRect">
            <a:avLst>
              <a:gd name="adj" fmla="val 21053"/>
            </a:avLst>
          </a:prstGeom>
          <a:solidFill>
            <a:srgbClr val="0E7C7B"/>
          </a:solidFill>
          <a:ln/>
        </p:spPr>
      </p:sp>
      <p:sp>
        <p:nvSpPr>
          <p:cNvPr id="37" name="Text 35"/>
          <p:cNvSpPr txBox="1"/>
          <p:nvPr/>
        </p:nvSpPr>
        <p:spPr>
          <a:xfrm>
            <a:off x="9601200" y="4773168"/>
            <a:ext cx="1783080" cy="347472"/>
          </a:xfrm>
          <a:prstGeom prst="rect">
            <a:avLst/>
          </a:prstGeom>
          <a:noFill/>
          <a:ln/>
        </p:spPr>
        <p:txBody>
          <a:bodyPr wrap="square" lIns="0" tIns="0" rIns="0" bIns="0" rtlCol="0" anchor="ctr"/>
          <a:lstStyle/>
          <a:p>
            <a:pPr algn="ctr" indent="0" marL="0">
              <a:buNone/>
            </a:pPr>
            <a:r>
              <a:rPr lang="en-US" sz="1400" b="1" dirty="0">
                <a:solidFill>
                  <a:schemeClr val="bg1"/>
                </a:solidFill>
              </a:rPr>
              <a:t>Member 3</a:t>
            </a:r>
            <a:endParaRPr lang="en-US" sz="1400" dirty="0"/>
          </a:p>
        </p:txBody>
      </p:sp>
      <p:sp>
        <p:nvSpPr>
          <p:cNvPr id="38" name="left row 6"/>
          <p:cNvSpPr/>
          <p:nvPr/>
        </p:nvSpPr>
        <p:spPr>
          <a:xfrm>
            <a:off x="548640" y="5394960"/>
            <a:ext cx="11091672" cy="713232"/>
          </a:xfrm>
          <a:prstGeom prst="roundRect">
            <a:avLst>
              <a:gd name="adj" fmla="val 15385"/>
            </a:avLst>
          </a:prstGeom>
          <a:solidFill>
            <a:schemeClr val="bg2"/>
          </a:solidFill>
          <a:ln/>
          <a:effectLst>
            <a:outerShdw sx="100000" sy="100000" kx="0" ky="0" algn="bl" rotWithShape="0" blurRad="76200" dist="25400" dir="5400000">
              <a:srgbClr val="000000">
                <a:alpha val="10000"/>
              </a:srgbClr>
            </a:outerShdw>
          </a:effectLst>
        </p:spPr>
      </p:sp>
      <p:sp>
        <p:nvSpPr>
          <p:cNvPr id="39" name="priority 6"/>
          <p:cNvSpPr/>
          <p:nvPr/>
        </p:nvSpPr>
        <p:spPr>
          <a:xfrm>
            <a:off x="731520" y="5596128"/>
            <a:ext cx="1188720" cy="310896"/>
          </a:xfrm>
          <a:prstGeom prst="roundRect">
            <a:avLst>
              <a:gd name="adj" fmla="val 23529"/>
            </a:avLst>
          </a:prstGeom>
          <a:solidFill>
            <a:srgbClr val="5B6B7A"/>
          </a:solidFill>
          <a:ln/>
        </p:spPr>
      </p:sp>
      <p:sp>
        <p:nvSpPr>
          <p:cNvPr id="40" name="Text 38"/>
          <p:cNvSpPr txBox="1"/>
          <p:nvPr/>
        </p:nvSpPr>
        <p:spPr>
          <a:xfrm>
            <a:off x="731520" y="559612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Nice to have</a:t>
            </a:r>
            <a:endParaRPr lang="en-US" sz="1200" dirty="0"/>
          </a:p>
        </p:txBody>
      </p:sp>
      <p:sp>
        <p:nvSpPr>
          <p:cNvPr id="41" name="Text 39"/>
          <p:cNvSpPr txBox="1"/>
          <p:nvPr/>
        </p:nvSpPr>
        <p:spPr>
          <a:xfrm>
            <a:off x="2148840" y="5468112"/>
            <a:ext cx="7223760" cy="292608"/>
          </a:xfrm>
          <a:prstGeom prst="rect">
            <a:avLst/>
          </a:prstGeom>
          <a:noFill/>
          <a:ln/>
        </p:spPr>
        <p:txBody>
          <a:bodyPr wrap="square" lIns="0" tIns="0" rIns="0" bIns="0" rtlCol="0" anchor="t"/>
          <a:lstStyle/>
          <a:p>
            <a:pPr indent="0" marL="0">
              <a:buNone/>
            </a:pPr>
            <a:r>
              <a:rPr lang="en-US" sz="1600" b="1" dirty="0">
                <a:solidFill>
                  <a:schemeClr val="tx1"/>
                </a:solidFill>
              </a:rPr>
              <a:t>Ask real people</a:t>
            </a:r>
            <a:endParaRPr lang="en-US" sz="1600" dirty="0"/>
          </a:p>
        </p:txBody>
      </p:sp>
      <p:sp>
        <p:nvSpPr>
          <p:cNvPr id="42" name="Text 40"/>
          <p:cNvSpPr txBox="1"/>
          <p:nvPr/>
        </p:nvSpPr>
        <p:spPr>
          <a:xfrm>
            <a:off x="2148840" y="5760720"/>
            <a:ext cx="7315200" cy="274320"/>
          </a:xfrm>
          <a:prstGeom prst="rect">
            <a:avLst/>
          </a:prstGeom>
          <a:noFill/>
          <a:ln/>
        </p:spPr>
        <p:txBody>
          <a:bodyPr wrap="square" lIns="0" tIns="0" rIns="0" bIns="0" rtlCol="0" anchor="t"/>
          <a:lstStyle/>
          <a:p>
            <a:pPr indent="0" marL="0">
              <a:buNone/>
            </a:pPr>
            <a:r>
              <a:rPr lang="en-US" sz="1400" dirty="0">
                <a:solidFill>
                  <a:schemeClr val="accent5"/>
                </a:solidFill>
              </a:rPr>
              <a:t>Have 10 people rate how natural and accurate the rewrites feel.</a:t>
            </a:r>
            <a:endParaRPr lang="en-US" sz="1400" dirty="0"/>
          </a:p>
        </p:txBody>
      </p:sp>
      <p:sp>
        <p:nvSpPr>
          <p:cNvPr id="43" name="owner 6"/>
          <p:cNvSpPr/>
          <p:nvPr/>
        </p:nvSpPr>
        <p:spPr>
          <a:xfrm>
            <a:off x="9601200" y="5577840"/>
            <a:ext cx="1783080" cy="347472"/>
          </a:xfrm>
          <a:prstGeom prst="roundRect">
            <a:avLst>
              <a:gd name="adj" fmla="val 21053"/>
            </a:avLst>
          </a:prstGeom>
          <a:solidFill>
            <a:srgbClr val="0E7C7B"/>
          </a:solidFill>
          <a:ln/>
        </p:spPr>
      </p:sp>
      <p:sp>
        <p:nvSpPr>
          <p:cNvPr id="44" name="Text 42"/>
          <p:cNvSpPr txBox="1"/>
          <p:nvPr/>
        </p:nvSpPr>
        <p:spPr>
          <a:xfrm>
            <a:off x="9601200" y="5577840"/>
            <a:ext cx="1783080" cy="347472"/>
          </a:xfrm>
          <a:prstGeom prst="rect">
            <a:avLst/>
          </a:prstGeom>
          <a:noFill/>
          <a:ln/>
        </p:spPr>
        <p:txBody>
          <a:bodyPr wrap="square" lIns="0" tIns="0" rIns="0" bIns="0" rtlCol="0" anchor="ctr"/>
          <a:lstStyle/>
          <a:p>
            <a:pPr algn="ctr" indent="0" marL="0">
              <a:buNone/>
            </a:pPr>
            <a:r>
              <a:rPr lang="en-US" sz="1400" b="1" dirty="0">
                <a:solidFill>
                  <a:schemeClr val="bg1"/>
                </a:solidFill>
              </a:rPr>
              <a:t>Member 5</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Extra features to stand out</a:t>
            </a:r>
            <a:endParaRPr lang="en-US" sz="3600" dirty="0"/>
          </a:p>
        </p:txBody>
      </p:sp>
      <p:sp>
        <p:nvSpPr>
          <p:cNvPr id="3" name="extra card 1"/>
          <p:cNvSpPr/>
          <p:nvPr/>
        </p:nvSpPr>
        <p:spPr>
          <a:xfrm>
            <a:off x="548640"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4" name="PII shield circle"/>
          <p:cNvSpPr/>
          <p:nvPr/>
        </p:nvSpPr>
        <p:spPr>
          <a:xfrm>
            <a:off x="777240" y="1618488"/>
            <a:ext cx="548640" cy="548640"/>
          </a:xfrm>
          <a:prstGeom prst="ellipse">
            <a:avLst/>
          </a:prstGeom>
          <a:solidFill>
            <a:srgbClr val="0E7C7B"/>
          </a:solidFill>
          <a:ln/>
        </p:spPr>
      </p:sp>
      <p:pic>
        <p:nvPicPr>
          <p:cNvPr id="5" name="Image 0" descr="PII shield">    </p:cNvPr>
          <p:cNvPicPr>
            <a:picLocks noChangeAspect="1"/>
          </p:cNvPicPr>
          <p:nvPr/>
        </p:nvPicPr>
        <p:blipFill>
          <a:blip r:embed="rId1"/>
          <a:stretch>
            <a:fillRect/>
          </a:stretch>
        </p:blipFill>
        <p:spPr>
          <a:xfrm>
            <a:off x="914400" y="1755648"/>
            <a:ext cx="274320" cy="274320"/>
          </a:xfrm>
          <a:prstGeom prst="rect">
            <a:avLst/>
          </a:prstGeom>
        </p:spPr>
      </p:pic>
      <p:sp>
        <p:nvSpPr>
          <p:cNvPr id="6" name="idea tag 1"/>
          <p:cNvSpPr/>
          <p:nvPr/>
        </p:nvSpPr>
        <p:spPr>
          <a:xfrm>
            <a:off x="3200400" y="1746504"/>
            <a:ext cx="685800" cy="274320"/>
          </a:xfrm>
          <a:prstGeom prst="roundRect">
            <a:avLst>
              <a:gd name="adj" fmla="val 26667"/>
            </a:avLst>
          </a:prstGeom>
          <a:solidFill>
            <a:srgbClr val="F2A541"/>
          </a:solidFill>
          <a:ln/>
        </p:spPr>
      </p:sp>
      <p:sp>
        <p:nvSpPr>
          <p:cNvPr id="7" name="Text 4"/>
          <p:cNvSpPr txBox="1"/>
          <p:nvPr/>
        </p:nvSpPr>
        <p:spPr>
          <a:xfrm>
            <a:off x="3200400" y="1746504"/>
            <a:ext cx="685800" cy="274320"/>
          </a:xfrm>
          <a:prstGeom prst="rect">
            <a:avLst/>
          </a:prstGeom>
          <a:noFill/>
          <a:ln/>
        </p:spPr>
        <p:txBody>
          <a:bodyPr wrap="square" lIns="0" tIns="0" rIns="0" bIns="0" rtlCol="0" anchor="ctr"/>
          <a:lstStyle/>
          <a:p>
            <a:pPr algn="ctr" indent="0" marL="0">
              <a:buNone/>
            </a:pPr>
            <a:r>
              <a:rPr lang="en-US" sz="1100" b="1" dirty="0">
                <a:solidFill>
                  <a:schemeClr val="tx1"/>
                </a:solidFill>
              </a:rPr>
              <a:t>Idea</a:t>
            </a:r>
            <a:endParaRPr lang="en-US" sz="1100" dirty="0"/>
          </a:p>
        </p:txBody>
      </p:sp>
      <p:sp>
        <p:nvSpPr>
          <p:cNvPr id="8" name="Text 5"/>
          <p:cNvSpPr txBox="1"/>
          <p:nvPr/>
        </p:nvSpPr>
        <p:spPr>
          <a:xfrm>
            <a:off x="777240"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PII shield</a:t>
            </a:r>
            <a:endParaRPr lang="en-US" sz="1800" dirty="0"/>
          </a:p>
        </p:txBody>
      </p:sp>
      <p:sp>
        <p:nvSpPr>
          <p:cNvPr id="9" name="Text 6"/>
          <p:cNvSpPr txBox="1"/>
          <p:nvPr/>
        </p:nvSpPr>
        <p:spPr>
          <a:xfrm>
            <a:off x="777240"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Hides names and phone numbers from the AI, then puts them back.</a:t>
            </a:r>
            <a:endParaRPr lang="en-US" sz="1400" dirty="0"/>
          </a:p>
        </p:txBody>
      </p:sp>
      <p:sp>
        <p:nvSpPr>
          <p:cNvPr id="10" name="extra card 2"/>
          <p:cNvSpPr/>
          <p:nvPr/>
        </p:nvSpPr>
        <p:spPr>
          <a:xfrm>
            <a:off x="4311396"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11" name="Explain each change circle"/>
          <p:cNvSpPr/>
          <p:nvPr/>
        </p:nvSpPr>
        <p:spPr>
          <a:xfrm>
            <a:off x="4539996" y="1618488"/>
            <a:ext cx="548640" cy="548640"/>
          </a:xfrm>
          <a:prstGeom prst="ellipse">
            <a:avLst/>
          </a:prstGeom>
          <a:solidFill>
            <a:srgbClr val="0E7C7B"/>
          </a:solidFill>
          <a:ln/>
        </p:spPr>
      </p:sp>
      <p:pic>
        <p:nvPicPr>
          <p:cNvPr id="12" name="Image 1" descr="Explain each change">    </p:cNvPr>
          <p:cNvPicPr>
            <a:picLocks noChangeAspect="1"/>
          </p:cNvPicPr>
          <p:nvPr/>
        </p:nvPicPr>
        <p:blipFill>
          <a:blip r:embed="rId2"/>
          <a:stretch>
            <a:fillRect/>
          </a:stretch>
        </p:blipFill>
        <p:spPr>
          <a:xfrm>
            <a:off x="4677156" y="1755648"/>
            <a:ext cx="274320" cy="274320"/>
          </a:xfrm>
          <a:prstGeom prst="rect">
            <a:avLst/>
          </a:prstGeom>
        </p:spPr>
      </p:pic>
      <p:sp>
        <p:nvSpPr>
          <p:cNvPr id="13" name="idea tag 2"/>
          <p:cNvSpPr/>
          <p:nvPr/>
        </p:nvSpPr>
        <p:spPr>
          <a:xfrm>
            <a:off x="6963156" y="1746504"/>
            <a:ext cx="685800" cy="274320"/>
          </a:xfrm>
          <a:prstGeom prst="roundRect">
            <a:avLst>
              <a:gd name="adj" fmla="val 26667"/>
            </a:avLst>
          </a:prstGeom>
          <a:solidFill>
            <a:srgbClr val="F2A541"/>
          </a:solidFill>
          <a:ln/>
        </p:spPr>
      </p:sp>
      <p:sp>
        <p:nvSpPr>
          <p:cNvPr id="14" name="Text 10"/>
          <p:cNvSpPr txBox="1"/>
          <p:nvPr/>
        </p:nvSpPr>
        <p:spPr>
          <a:xfrm>
            <a:off x="6963156" y="1746504"/>
            <a:ext cx="685800" cy="274320"/>
          </a:xfrm>
          <a:prstGeom prst="rect">
            <a:avLst/>
          </a:prstGeom>
          <a:noFill/>
          <a:ln/>
        </p:spPr>
        <p:txBody>
          <a:bodyPr wrap="square" lIns="0" tIns="0" rIns="0" bIns="0" rtlCol="0" anchor="ctr"/>
          <a:lstStyle/>
          <a:p>
            <a:pPr algn="ctr" indent="0" marL="0">
              <a:buNone/>
            </a:pPr>
            <a:r>
              <a:rPr lang="en-US" sz="1100" b="1" dirty="0">
                <a:solidFill>
                  <a:schemeClr val="tx1"/>
                </a:solidFill>
              </a:rPr>
              <a:t>Idea</a:t>
            </a:r>
            <a:endParaRPr lang="en-US" sz="1100" dirty="0"/>
          </a:p>
        </p:txBody>
      </p:sp>
      <p:sp>
        <p:nvSpPr>
          <p:cNvPr id="15" name="Text 11"/>
          <p:cNvSpPr txBox="1"/>
          <p:nvPr/>
        </p:nvSpPr>
        <p:spPr>
          <a:xfrm>
            <a:off x="4539996"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Explain each change</a:t>
            </a:r>
            <a:endParaRPr lang="en-US" sz="1800" dirty="0"/>
          </a:p>
        </p:txBody>
      </p:sp>
      <p:sp>
        <p:nvSpPr>
          <p:cNvPr id="16" name="Text 12"/>
          <p:cNvSpPr txBox="1"/>
          <p:nvPr/>
        </p:nvSpPr>
        <p:spPr>
          <a:xfrm>
            <a:off x="4539996"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Shows why a sentence was changed, in plain words.</a:t>
            </a:r>
            <a:endParaRPr lang="en-US" sz="1400" dirty="0"/>
          </a:p>
        </p:txBody>
      </p:sp>
      <p:sp>
        <p:nvSpPr>
          <p:cNvPr id="17" name="extra card 3"/>
          <p:cNvSpPr/>
          <p:nvPr/>
        </p:nvSpPr>
        <p:spPr>
          <a:xfrm>
            <a:off x="8074152"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18" name="Risk heatmap circle"/>
          <p:cNvSpPr/>
          <p:nvPr/>
        </p:nvSpPr>
        <p:spPr>
          <a:xfrm>
            <a:off x="8302752" y="1618488"/>
            <a:ext cx="548640" cy="548640"/>
          </a:xfrm>
          <a:prstGeom prst="ellipse">
            <a:avLst/>
          </a:prstGeom>
          <a:solidFill>
            <a:srgbClr val="0E7C7B"/>
          </a:solidFill>
          <a:ln/>
        </p:spPr>
      </p:sp>
      <p:pic>
        <p:nvPicPr>
          <p:cNvPr id="19" name="Image 2" descr="Risk heatmap">    </p:cNvPr>
          <p:cNvPicPr>
            <a:picLocks noChangeAspect="1"/>
          </p:cNvPicPr>
          <p:nvPr/>
        </p:nvPicPr>
        <p:blipFill>
          <a:blip r:embed="rId3"/>
          <a:stretch>
            <a:fillRect/>
          </a:stretch>
        </p:blipFill>
        <p:spPr>
          <a:xfrm>
            <a:off x="8439912" y="1755648"/>
            <a:ext cx="274320" cy="274320"/>
          </a:xfrm>
          <a:prstGeom prst="rect">
            <a:avLst/>
          </a:prstGeom>
        </p:spPr>
      </p:pic>
      <p:sp>
        <p:nvSpPr>
          <p:cNvPr id="20" name="idea tag 3"/>
          <p:cNvSpPr/>
          <p:nvPr/>
        </p:nvSpPr>
        <p:spPr>
          <a:xfrm>
            <a:off x="10725912" y="1746504"/>
            <a:ext cx="685800" cy="274320"/>
          </a:xfrm>
          <a:prstGeom prst="roundRect">
            <a:avLst>
              <a:gd name="adj" fmla="val 26667"/>
            </a:avLst>
          </a:prstGeom>
          <a:solidFill>
            <a:srgbClr val="F2A541"/>
          </a:solidFill>
          <a:ln/>
        </p:spPr>
      </p:sp>
      <p:sp>
        <p:nvSpPr>
          <p:cNvPr id="21" name="Text 16"/>
          <p:cNvSpPr txBox="1"/>
          <p:nvPr/>
        </p:nvSpPr>
        <p:spPr>
          <a:xfrm>
            <a:off x="10725912" y="1746504"/>
            <a:ext cx="685800" cy="274320"/>
          </a:xfrm>
          <a:prstGeom prst="rect">
            <a:avLst/>
          </a:prstGeom>
          <a:noFill/>
          <a:ln/>
        </p:spPr>
        <p:txBody>
          <a:bodyPr wrap="square" lIns="0" tIns="0" rIns="0" bIns="0" rtlCol="0" anchor="ctr"/>
          <a:lstStyle/>
          <a:p>
            <a:pPr algn="ctr" indent="0" marL="0">
              <a:buNone/>
            </a:pPr>
            <a:r>
              <a:rPr lang="en-US" sz="1100" b="1" dirty="0">
                <a:solidFill>
                  <a:schemeClr val="tx1"/>
                </a:solidFill>
              </a:rPr>
              <a:t>Idea</a:t>
            </a:r>
            <a:endParaRPr lang="en-US" sz="1100" dirty="0"/>
          </a:p>
        </p:txBody>
      </p:sp>
      <p:sp>
        <p:nvSpPr>
          <p:cNvPr id="22" name="Text 17"/>
          <p:cNvSpPr txBox="1"/>
          <p:nvPr/>
        </p:nvSpPr>
        <p:spPr>
          <a:xfrm>
            <a:off x="8302752"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Risk heatmap</a:t>
            </a:r>
            <a:endParaRPr lang="en-US" sz="1800" dirty="0"/>
          </a:p>
        </p:txBody>
      </p:sp>
      <p:sp>
        <p:nvSpPr>
          <p:cNvPr id="23" name="Text 18"/>
          <p:cNvSpPr txBox="1"/>
          <p:nvPr/>
        </p:nvSpPr>
        <p:spPr>
          <a:xfrm>
            <a:off x="8302752"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Colors sentences by how likely their meaning changed, so reviewers look there first.</a:t>
            </a:r>
            <a:endParaRPr lang="en-US" sz="1400" dirty="0"/>
          </a:p>
        </p:txBody>
      </p:sp>
      <p:sp>
        <p:nvSpPr>
          <p:cNvPr id="24" name="extra card 4"/>
          <p:cNvSpPr/>
          <p:nvPr/>
        </p:nvSpPr>
        <p:spPr>
          <a:xfrm>
            <a:off x="548640"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25" name="Voice profiles circle"/>
          <p:cNvSpPr/>
          <p:nvPr/>
        </p:nvSpPr>
        <p:spPr>
          <a:xfrm>
            <a:off x="777240" y="4041648"/>
            <a:ext cx="548640" cy="548640"/>
          </a:xfrm>
          <a:prstGeom prst="ellipse">
            <a:avLst/>
          </a:prstGeom>
          <a:solidFill>
            <a:srgbClr val="0E7C7B"/>
          </a:solidFill>
          <a:ln/>
        </p:spPr>
      </p:sp>
      <p:pic>
        <p:nvPicPr>
          <p:cNvPr id="26" name="Image 3" descr="Voice profiles">    </p:cNvPr>
          <p:cNvPicPr>
            <a:picLocks noChangeAspect="1"/>
          </p:cNvPicPr>
          <p:nvPr/>
        </p:nvPicPr>
        <p:blipFill>
          <a:blip r:embed="rId4"/>
          <a:stretch>
            <a:fillRect/>
          </a:stretch>
        </p:blipFill>
        <p:spPr>
          <a:xfrm>
            <a:off x="914400" y="4178808"/>
            <a:ext cx="274320" cy="274320"/>
          </a:xfrm>
          <a:prstGeom prst="rect">
            <a:avLst/>
          </a:prstGeom>
        </p:spPr>
      </p:pic>
      <p:sp>
        <p:nvSpPr>
          <p:cNvPr id="27" name="idea tag 4"/>
          <p:cNvSpPr/>
          <p:nvPr/>
        </p:nvSpPr>
        <p:spPr>
          <a:xfrm>
            <a:off x="3200400" y="4169664"/>
            <a:ext cx="685800" cy="274320"/>
          </a:xfrm>
          <a:prstGeom prst="roundRect">
            <a:avLst>
              <a:gd name="adj" fmla="val 26667"/>
            </a:avLst>
          </a:prstGeom>
          <a:solidFill>
            <a:srgbClr val="F2A541"/>
          </a:solidFill>
          <a:ln/>
        </p:spPr>
      </p:sp>
      <p:sp>
        <p:nvSpPr>
          <p:cNvPr id="28" name="Text 22"/>
          <p:cNvSpPr txBox="1"/>
          <p:nvPr/>
        </p:nvSpPr>
        <p:spPr>
          <a:xfrm>
            <a:off x="3200400" y="4169664"/>
            <a:ext cx="685800" cy="274320"/>
          </a:xfrm>
          <a:prstGeom prst="rect">
            <a:avLst/>
          </a:prstGeom>
          <a:noFill/>
          <a:ln/>
        </p:spPr>
        <p:txBody>
          <a:bodyPr wrap="square" lIns="0" tIns="0" rIns="0" bIns="0" rtlCol="0" anchor="ctr"/>
          <a:lstStyle/>
          <a:p>
            <a:pPr algn="ctr" indent="0" marL="0">
              <a:buNone/>
            </a:pPr>
            <a:r>
              <a:rPr lang="en-US" sz="1100" b="1" dirty="0">
                <a:solidFill>
                  <a:schemeClr val="tx1"/>
                </a:solidFill>
              </a:rPr>
              <a:t>Idea</a:t>
            </a:r>
            <a:endParaRPr lang="en-US" sz="1100" dirty="0"/>
          </a:p>
        </p:txBody>
      </p:sp>
      <p:sp>
        <p:nvSpPr>
          <p:cNvPr id="29" name="Text 23"/>
          <p:cNvSpPr txBox="1"/>
          <p:nvPr/>
        </p:nvSpPr>
        <p:spPr>
          <a:xfrm>
            <a:off x="777240"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Voice profiles</a:t>
            </a:r>
            <a:endParaRPr lang="en-US" sz="1800" dirty="0"/>
          </a:p>
        </p:txBody>
      </p:sp>
      <p:sp>
        <p:nvSpPr>
          <p:cNvPr id="30" name="Text 24"/>
          <p:cNvSpPr txBox="1"/>
          <p:nvPr/>
        </p:nvSpPr>
        <p:spPr>
          <a:xfrm>
            <a:off x="777240"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Save a team's writing style so every message sounds alike.</a:t>
            </a:r>
            <a:endParaRPr lang="en-US" sz="1400" dirty="0"/>
          </a:p>
        </p:txBody>
      </p:sp>
      <p:sp>
        <p:nvSpPr>
          <p:cNvPr id="31" name="extra card 5"/>
          <p:cNvSpPr/>
          <p:nvPr/>
        </p:nvSpPr>
        <p:spPr>
          <a:xfrm>
            <a:off x="4311396"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32" name="Review log circle"/>
          <p:cNvSpPr/>
          <p:nvPr/>
        </p:nvSpPr>
        <p:spPr>
          <a:xfrm>
            <a:off x="4539996" y="4041648"/>
            <a:ext cx="548640" cy="548640"/>
          </a:xfrm>
          <a:prstGeom prst="ellipse">
            <a:avLst/>
          </a:prstGeom>
          <a:solidFill>
            <a:srgbClr val="0E7C7B"/>
          </a:solidFill>
          <a:ln/>
        </p:spPr>
      </p:sp>
      <p:pic>
        <p:nvPicPr>
          <p:cNvPr id="33" name="Image 4" descr="Review log">    </p:cNvPr>
          <p:cNvPicPr>
            <a:picLocks noChangeAspect="1"/>
          </p:cNvPicPr>
          <p:nvPr/>
        </p:nvPicPr>
        <p:blipFill>
          <a:blip r:embed="rId5"/>
          <a:stretch>
            <a:fillRect/>
          </a:stretch>
        </p:blipFill>
        <p:spPr>
          <a:xfrm>
            <a:off x="4677156" y="4178808"/>
            <a:ext cx="274320" cy="274320"/>
          </a:xfrm>
          <a:prstGeom prst="rect">
            <a:avLst/>
          </a:prstGeom>
        </p:spPr>
      </p:pic>
      <p:sp>
        <p:nvSpPr>
          <p:cNvPr id="34" name="idea tag 5"/>
          <p:cNvSpPr/>
          <p:nvPr/>
        </p:nvSpPr>
        <p:spPr>
          <a:xfrm>
            <a:off x="6963156" y="4169664"/>
            <a:ext cx="685800" cy="274320"/>
          </a:xfrm>
          <a:prstGeom prst="roundRect">
            <a:avLst>
              <a:gd name="adj" fmla="val 26667"/>
            </a:avLst>
          </a:prstGeom>
          <a:solidFill>
            <a:srgbClr val="F2A541"/>
          </a:solidFill>
          <a:ln/>
        </p:spPr>
      </p:sp>
      <p:sp>
        <p:nvSpPr>
          <p:cNvPr id="35" name="Text 28"/>
          <p:cNvSpPr txBox="1"/>
          <p:nvPr/>
        </p:nvSpPr>
        <p:spPr>
          <a:xfrm>
            <a:off x="6963156" y="4169664"/>
            <a:ext cx="685800" cy="274320"/>
          </a:xfrm>
          <a:prstGeom prst="rect">
            <a:avLst/>
          </a:prstGeom>
          <a:noFill/>
          <a:ln/>
        </p:spPr>
        <p:txBody>
          <a:bodyPr wrap="square" lIns="0" tIns="0" rIns="0" bIns="0" rtlCol="0" anchor="ctr"/>
          <a:lstStyle/>
          <a:p>
            <a:pPr algn="ctr" indent="0" marL="0">
              <a:buNone/>
            </a:pPr>
            <a:r>
              <a:rPr lang="en-US" sz="1100" b="1" dirty="0">
                <a:solidFill>
                  <a:schemeClr val="tx1"/>
                </a:solidFill>
              </a:rPr>
              <a:t>Idea</a:t>
            </a:r>
            <a:endParaRPr lang="en-US" sz="1100" dirty="0"/>
          </a:p>
        </p:txBody>
      </p:sp>
      <p:sp>
        <p:nvSpPr>
          <p:cNvPr id="36" name="Text 29"/>
          <p:cNvSpPr txBox="1"/>
          <p:nvPr/>
        </p:nvSpPr>
        <p:spPr>
          <a:xfrm>
            <a:off x="4539996"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Review log</a:t>
            </a:r>
            <a:endParaRPr lang="en-US" sz="1800" dirty="0"/>
          </a:p>
        </p:txBody>
      </p:sp>
      <p:sp>
        <p:nvSpPr>
          <p:cNvPr id="37" name="Text 30"/>
          <p:cNvSpPr txBox="1"/>
          <p:nvPr/>
        </p:nvSpPr>
        <p:spPr>
          <a:xfrm>
            <a:off x="4539996"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Recruiters approve or reject each rewrite, and we keep a record.</a:t>
            </a:r>
            <a:endParaRPr lang="en-US" sz="1400" dirty="0"/>
          </a:p>
        </p:txBody>
      </p:sp>
      <p:sp>
        <p:nvSpPr>
          <p:cNvPr id="38" name="extra card 6"/>
          <p:cNvSpPr/>
          <p:nvPr/>
        </p:nvSpPr>
        <p:spPr>
          <a:xfrm>
            <a:off x="8074152"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39" name="Email add-on circle"/>
          <p:cNvSpPr/>
          <p:nvPr/>
        </p:nvSpPr>
        <p:spPr>
          <a:xfrm>
            <a:off x="8302752" y="4041648"/>
            <a:ext cx="548640" cy="548640"/>
          </a:xfrm>
          <a:prstGeom prst="ellipse">
            <a:avLst/>
          </a:prstGeom>
          <a:solidFill>
            <a:srgbClr val="0E7C7B"/>
          </a:solidFill>
          <a:ln/>
        </p:spPr>
      </p:sp>
      <p:pic>
        <p:nvPicPr>
          <p:cNvPr id="40" name="Image 5" descr="Email add-on">    </p:cNvPr>
          <p:cNvPicPr>
            <a:picLocks noChangeAspect="1"/>
          </p:cNvPicPr>
          <p:nvPr/>
        </p:nvPicPr>
        <p:blipFill>
          <a:blip r:embed="rId6"/>
          <a:stretch>
            <a:fillRect/>
          </a:stretch>
        </p:blipFill>
        <p:spPr>
          <a:xfrm>
            <a:off x="8439912" y="4178808"/>
            <a:ext cx="274320" cy="274320"/>
          </a:xfrm>
          <a:prstGeom prst="rect">
            <a:avLst/>
          </a:prstGeom>
        </p:spPr>
      </p:pic>
      <p:sp>
        <p:nvSpPr>
          <p:cNvPr id="41" name="idea tag 6"/>
          <p:cNvSpPr/>
          <p:nvPr/>
        </p:nvSpPr>
        <p:spPr>
          <a:xfrm>
            <a:off x="10725912" y="4169664"/>
            <a:ext cx="685800" cy="274320"/>
          </a:xfrm>
          <a:prstGeom prst="roundRect">
            <a:avLst>
              <a:gd name="adj" fmla="val 26667"/>
            </a:avLst>
          </a:prstGeom>
          <a:solidFill>
            <a:srgbClr val="F2A541"/>
          </a:solidFill>
          <a:ln/>
        </p:spPr>
      </p:sp>
      <p:sp>
        <p:nvSpPr>
          <p:cNvPr id="42" name="Text 34"/>
          <p:cNvSpPr txBox="1"/>
          <p:nvPr/>
        </p:nvSpPr>
        <p:spPr>
          <a:xfrm>
            <a:off x="10725912" y="4169664"/>
            <a:ext cx="685800" cy="274320"/>
          </a:xfrm>
          <a:prstGeom prst="rect">
            <a:avLst/>
          </a:prstGeom>
          <a:noFill/>
          <a:ln/>
        </p:spPr>
        <p:txBody>
          <a:bodyPr wrap="square" lIns="0" tIns="0" rIns="0" bIns="0" rtlCol="0" anchor="ctr"/>
          <a:lstStyle/>
          <a:p>
            <a:pPr algn="ctr" indent="0" marL="0">
              <a:buNone/>
            </a:pPr>
            <a:r>
              <a:rPr lang="en-US" sz="1100" b="1" dirty="0">
                <a:solidFill>
                  <a:schemeClr val="tx1"/>
                </a:solidFill>
              </a:rPr>
              <a:t>Idea</a:t>
            </a:r>
            <a:endParaRPr lang="en-US" sz="1100" dirty="0"/>
          </a:p>
        </p:txBody>
      </p:sp>
      <p:sp>
        <p:nvSpPr>
          <p:cNvPr id="43" name="Text 35"/>
          <p:cNvSpPr txBox="1"/>
          <p:nvPr/>
        </p:nvSpPr>
        <p:spPr>
          <a:xfrm>
            <a:off x="8302752"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Email add-on</a:t>
            </a:r>
            <a:endParaRPr lang="en-US" sz="1800" dirty="0"/>
          </a:p>
        </p:txBody>
      </p:sp>
      <p:sp>
        <p:nvSpPr>
          <p:cNvPr id="44" name="Text 36"/>
          <p:cNvSpPr txBox="1"/>
          <p:nvPr/>
        </p:nvSpPr>
        <p:spPr>
          <a:xfrm>
            <a:off x="8302752"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Use it right inside Gmail, without copy and paste.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Test results so far</a:t>
            </a:r>
            <a:endParaRPr lang="en-US" sz="3600" dirty="0"/>
          </a:p>
        </p:txBody>
      </p:sp>
      <p:graphicFrame>
        <p:nvGraphicFramePr>
          <p:cNvPr id="3" name="Chart 0" descr=""/>
          <p:cNvGraphicFramePr/>
          <p:nvPr/>
        </p:nvGraphicFramePr>
        <p:xfrm>
          <a:off x="548640" y="1371600"/>
          <a:ext cx="6858000" cy="40233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486400"/>
            <a:ext cx="6858000" cy="685800"/>
          </a:xfrm>
          <a:prstGeom prst="rect">
            <a:avLst/>
          </a:prstGeom>
          <a:noFill/>
          <a:ln/>
        </p:spPr>
        <p:txBody>
          <a:bodyPr wrap="square" lIns="0" tIns="0" rIns="0" bIns="0" rtlCol="0" anchor="t"/>
          <a:lstStyle/>
          <a:p>
            <a:pPr indent="0" marL="0">
              <a:buNone/>
            </a:pPr>
            <a:r>
              <a:rPr lang="en-US" sz="1200" dirty="0">
                <a:solidFill>
                  <a:schemeClr val="accent5"/>
                </a:solidFill>
              </a:rPr>
              <a:t>From our 12 sample texts, run without Gemini. The robotic score is our own rough measure, not a person's opinion. We'll update this with Gemini results.</a:t>
            </a:r>
            <a:endParaRPr lang="en-US" sz="1200" dirty="0"/>
          </a:p>
        </p:txBody>
      </p:sp>
      <p:sp>
        <p:nvSpPr>
          <p:cNvPr id="5" name="stat card 1"/>
          <p:cNvSpPr/>
          <p:nvPr/>
        </p:nvSpPr>
        <p:spPr>
          <a:xfrm>
            <a:off x="7772400" y="1371600"/>
            <a:ext cx="3867912" cy="1097280"/>
          </a:xfrm>
          <a:prstGeom prst="roundRect">
            <a:avLst>
              <a:gd name="adj" fmla="val 10000"/>
            </a:avLst>
          </a:prstGeom>
          <a:solidFill>
            <a:schemeClr val="bg2"/>
          </a:solidFill>
          <a:ln/>
          <a:effectLst>
            <a:outerShdw sx="100000" sy="100000" kx="0" ky="0" algn="bl" rotWithShape="0" blurRad="76200" dist="25400" dir="5400000">
              <a:srgbClr val="000000">
                <a:alpha val="10000"/>
              </a:srgbClr>
            </a:outerShdw>
          </a:effectLst>
        </p:spPr>
      </p:sp>
      <p:sp>
        <p:nvSpPr>
          <p:cNvPr id="6" name="Text 3"/>
          <p:cNvSpPr txBox="1"/>
          <p:nvPr/>
        </p:nvSpPr>
        <p:spPr>
          <a:xfrm>
            <a:off x="8001000" y="1463040"/>
            <a:ext cx="1554480" cy="914400"/>
          </a:xfrm>
          <a:prstGeom prst="rect">
            <a:avLst/>
          </a:prstGeom>
          <a:noFill/>
          <a:ln/>
        </p:spPr>
        <p:txBody>
          <a:bodyPr wrap="square" lIns="0" tIns="0" rIns="0" bIns="0" rtlCol="0" anchor="ctr"/>
          <a:lstStyle/>
          <a:p>
            <a:pPr indent="0" marL="0">
              <a:buNone/>
            </a:pPr>
            <a:r>
              <a:rPr lang="en-US" sz="3600" b="1" dirty="0">
                <a:solidFill>
                  <a:schemeClr val="accent1"/>
                </a:solidFill>
              </a:rPr>
              <a:t>9/9</a:t>
            </a:r>
            <a:endParaRPr lang="en-US" sz="3600" dirty="0"/>
          </a:p>
        </p:txBody>
      </p:sp>
      <p:sp>
        <p:nvSpPr>
          <p:cNvPr id="7" name="Text 4"/>
          <p:cNvSpPr txBox="1"/>
          <p:nvPr/>
        </p:nvSpPr>
        <p:spPr>
          <a:xfrm>
            <a:off x="9601200" y="1463040"/>
            <a:ext cx="1920240" cy="914400"/>
          </a:xfrm>
          <a:prstGeom prst="rect">
            <a:avLst/>
          </a:prstGeom>
          <a:noFill/>
          <a:ln/>
        </p:spPr>
        <p:txBody>
          <a:bodyPr wrap="square" lIns="0" tIns="0" rIns="0" bIns="0" rtlCol="0" anchor="ctr"/>
          <a:lstStyle/>
          <a:p>
            <a:pPr indent="0" marL="0">
              <a:buNone/>
            </a:pPr>
            <a:r>
              <a:rPr lang="en-US" sz="1400" dirty="0">
                <a:solidFill>
                  <a:schemeClr val="tx1"/>
                </a:solidFill>
              </a:rPr>
              <a:t>rewrites kept every key fact</a:t>
            </a:r>
            <a:endParaRPr lang="en-US" sz="1400" dirty="0"/>
          </a:p>
        </p:txBody>
      </p:sp>
      <p:sp>
        <p:nvSpPr>
          <p:cNvPr id="8" name="stat card 2"/>
          <p:cNvSpPr/>
          <p:nvPr/>
        </p:nvSpPr>
        <p:spPr>
          <a:xfrm>
            <a:off x="7772400" y="2606040"/>
            <a:ext cx="3867912" cy="1097280"/>
          </a:xfrm>
          <a:prstGeom prst="roundRect">
            <a:avLst>
              <a:gd name="adj" fmla="val 10000"/>
            </a:avLst>
          </a:prstGeom>
          <a:solidFill>
            <a:schemeClr val="bg2"/>
          </a:solidFill>
          <a:ln/>
          <a:effectLst>
            <a:outerShdw sx="100000" sy="100000" kx="0" ky="0" algn="bl" rotWithShape="0" blurRad="76200" dist="25400" dir="5400000">
              <a:srgbClr val="000000">
                <a:alpha val="10000"/>
              </a:srgbClr>
            </a:outerShdw>
          </a:effectLst>
        </p:spPr>
      </p:sp>
      <p:sp>
        <p:nvSpPr>
          <p:cNvPr id="9" name="Text 6"/>
          <p:cNvSpPr txBox="1"/>
          <p:nvPr/>
        </p:nvSpPr>
        <p:spPr>
          <a:xfrm>
            <a:off x="8001000" y="2697480"/>
            <a:ext cx="1554480" cy="914400"/>
          </a:xfrm>
          <a:prstGeom prst="rect">
            <a:avLst/>
          </a:prstGeom>
          <a:noFill/>
          <a:ln/>
        </p:spPr>
        <p:txBody>
          <a:bodyPr wrap="square" lIns="0" tIns="0" rIns="0" bIns="0" rtlCol="0" anchor="ctr"/>
          <a:lstStyle/>
          <a:p>
            <a:pPr indent="0" marL="0">
              <a:buNone/>
            </a:pPr>
            <a:r>
              <a:rPr lang="en-US" sz="3600" b="1" dirty="0">
                <a:solidFill>
                  <a:schemeClr val="accent1"/>
                </a:solidFill>
              </a:rPr>
              <a:t>3/3</a:t>
            </a:r>
            <a:endParaRPr lang="en-US" sz="3600" dirty="0"/>
          </a:p>
        </p:txBody>
      </p:sp>
      <p:sp>
        <p:nvSpPr>
          <p:cNvPr id="10" name="Text 7"/>
          <p:cNvSpPr txBox="1"/>
          <p:nvPr/>
        </p:nvSpPr>
        <p:spPr>
          <a:xfrm>
            <a:off x="9601200" y="2697480"/>
            <a:ext cx="1920240" cy="914400"/>
          </a:xfrm>
          <a:prstGeom prst="rect">
            <a:avLst/>
          </a:prstGeom>
          <a:noFill/>
          <a:ln/>
        </p:spPr>
        <p:txBody>
          <a:bodyPr wrap="square" lIns="0" tIns="0" rIns="0" bIns="0" rtlCol="0" anchor="ctr"/>
          <a:lstStyle/>
          <a:p>
            <a:pPr indent="0" marL="0">
              <a:buNone/>
            </a:pPr>
            <a:r>
              <a:rPr lang="en-US" sz="1400" dirty="0">
                <a:solidFill>
                  <a:schemeClr val="tx1"/>
                </a:solidFill>
              </a:rPr>
              <a:t>natural texts were left alone</a:t>
            </a:r>
            <a:endParaRPr lang="en-US" sz="1400" dirty="0"/>
          </a:p>
        </p:txBody>
      </p:sp>
      <p:sp>
        <p:nvSpPr>
          <p:cNvPr id="11" name="stat card 3"/>
          <p:cNvSpPr/>
          <p:nvPr/>
        </p:nvSpPr>
        <p:spPr>
          <a:xfrm>
            <a:off x="7772400" y="3840480"/>
            <a:ext cx="3867912" cy="1097280"/>
          </a:xfrm>
          <a:prstGeom prst="roundRect">
            <a:avLst>
              <a:gd name="adj" fmla="val 10000"/>
            </a:avLst>
          </a:prstGeom>
          <a:solidFill>
            <a:schemeClr val="bg2"/>
          </a:solidFill>
          <a:ln/>
          <a:effectLst>
            <a:outerShdw sx="100000" sy="100000" kx="0" ky="0" algn="bl" rotWithShape="0" blurRad="76200" dist="25400" dir="5400000">
              <a:srgbClr val="000000">
                <a:alpha val="10000"/>
              </a:srgbClr>
            </a:outerShdw>
          </a:effectLst>
        </p:spPr>
      </p:sp>
      <p:sp>
        <p:nvSpPr>
          <p:cNvPr id="12" name="Text 9"/>
          <p:cNvSpPr txBox="1"/>
          <p:nvPr/>
        </p:nvSpPr>
        <p:spPr>
          <a:xfrm>
            <a:off x="8001000" y="3931920"/>
            <a:ext cx="1554480" cy="914400"/>
          </a:xfrm>
          <a:prstGeom prst="rect">
            <a:avLst/>
          </a:prstGeom>
          <a:noFill/>
          <a:ln/>
        </p:spPr>
        <p:txBody>
          <a:bodyPr wrap="square" lIns="0" tIns="0" rIns="0" bIns="0" rtlCol="0" anchor="ctr"/>
          <a:lstStyle/>
          <a:p>
            <a:pPr indent="0" marL="0">
              <a:buNone/>
            </a:pPr>
            <a:r>
              <a:rPr lang="en-US" sz="3600" b="1" dirty="0">
                <a:solidFill>
                  <a:schemeClr val="accent1"/>
                </a:solidFill>
              </a:rPr>
              <a:t>38/38</a:t>
            </a:r>
            <a:endParaRPr lang="en-US" sz="3600" dirty="0"/>
          </a:p>
        </p:txBody>
      </p:sp>
      <p:sp>
        <p:nvSpPr>
          <p:cNvPr id="13" name="Text 10"/>
          <p:cNvSpPr txBox="1"/>
          <p:nvPr/>
        </p:nvSpPr>
        <p:spPr>
          <a:xfrm>
            <a:off x="9601200" y="3931920"/>
            <a:ext cx="1920240" cy="914400"/>
          </a:xfrm>
          <a:prstGeom prst="rect">
            <a:avLst/>
          </a:prstGeom>
          <a:noFill/>
          <a:ln/>
        </p:spPr>
        <p:txBody>
          <a:bodyPr wrap="square" lIns="0" tIns="0" rIns="0" bIns="0" rtlCol="0" anchor="ctr"/>
          <a:lstStyle/>
          <a:p>
            <a:pPr indent="0" marL="0">
              <a:buNone/>
            </a:pPr>
            <a:r>
              <a:rPr lang="en-US" sz="1400" dirty="0">
                <a:solidFill>
                  <a:schemeClr val="tx1"/>
                </a:solidFill>
              </a:rPr>
              <a:t>faked mistakes were caught</a:t>
            </a:r>
            <a:endParaRPr lang="en-US" sz="1400" dirty="0"/>
          </a:p>
        </p:txBody>
      </p:sp>
      <p:sp>
        <p:nvSpPr>
          <p:cNvPr id="14" name="next tests card"/>
          <p:cNvSpPr/>
          <p:nvPr/>
        </p:nvSpPr>
        <p:spPr>
          <a:xfrm>
            <a:off x="7772400" y="5120640"/>
            <a:ext cx="3867912" cy="1051560"/>
          </a:xfrm>
          <a:prstGeom prst="roundRect">
            <a:avLst>
              <a:gd name="adj" fmla="val 10435"/>
            </a:avLst>
          </a:prstGeom>
          <a:solidFill>
            <a:schemeClr val="bg2"/>
          </a:solidFill>
          <a:ln/>
          <a:effectLst>
            <a:outerShdw sx="100000" sy="100000" kx="0" ky="0" algn="bl" rotWithShape="0" blurRad="76200" dist="25400" dir="5400000">
              <a:srgbClr val="000000">
                <a:alpha val="10000"/>
              </a:srgbClr>
            </a:outerShdw>
          </a:effectLst>
        </p:spPr>
      </p:sp>
      <p:sp>
        <p:nvSpPr>
          <p:cNvPr id="15" name="Text 12"/>
          <p:cNvSpPr txBox="1"/>
          <p:nvPr/>
        </p:nvSpPr>
        <p:spPr>
          <a:xfrm>
            <a:off x="8001000" y="5212080"/>
            <a:ext cx="3429000" cy="868680"/>
          </a:xfrm>
          <a:prstGeom prst="rect">
            <a:avLst/>
          </a:prstGeom>
          <a:noFill/>
          <a:ln/>
        </p:spPr>
        <p:txBody>
          <a:bodyPr wrap="square" lIns="0" tIns="0" rIns="0" bIns="0" rtlCol="0" anchor="ctr"/>
          <a:lstStyle/>
          <a:p>
            <a:pPr indent="0" marL="0">
              <a:buNone/>
            </a:pPr>
            <a:r>
              <a:rPr lang="en-US" sz="1400" dirty="0">
                <a:solidFill>
                  <a:schemeClr val="tx1"/>
                </a:solidFill>
              </a:rPr>
              <a:t>Next we'll also test meaning, tone and consistency, and ask real people.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Who did what</a:t>
            </a:r>
            <a:endParaRPr lang="en-US" sz="3600" dirty="0"/>
          </a:p>
        </p:txBody>
      </p:sp>
      <p:sp>
        <p:nvSpPr>
          <p:cNvPr id="3" name="Text 1"/>
          <p:cNvSpPr txBox="1"/>
          <p:nvPr/>
        </p:nvSpPr>
        <p:spPr>
          <a:xfrm>
            <a:off x="777240" y="1325880"/>
            <a:ext cx="2560320" cy="274320"/>
          </a:xfrm>
          <a:prstGeom prst="rect">
            <a:avLst/>
          </a:prstGeom>
          <a:noFill/>
          <a:ln/>
        </p:spPr>
        <p:txBody>
          <a:bodyPr wrap="square" lIns="0" tIns="0" rIns="0" bIns="0" rtlCol="0" anchor="t"/>
          <a:lstStyle/>
          <a:p>
            <a:pPr indent="0" marL="0">
              <a:buNone/>
            </a:pPr>
            <a:r>
              <a:rPr lang="en-US" sz="1200" b="1" dirty="0">
                <a:solidFill>
                  <a:schemeClr val="accent5"/>
                </a:solidFill>
              </a:rPr>
              <a:t>Who</a:t>
            </a:r>
            <a:endParaRPr lang="en-US" sz="1200" dirty="0"/>
          </a:p>
        </p:txBody>
      </p:sp>
      <p:sp>
        <p:nvSpPr>
          <p:cNvPr id="4" name="Text 2"/>
          <p:cNvSpPr txBox="1"/>
          <p:nvPr/>
        </p:nvSpPr>
        <p:spPr>
          <a:xfrm>
            <a:off x="3611880" y="1325880"/>
            <a:ext cx="4937760" cy="274320"/>
          </a:xfrm>
          <a:prstGeom prst="rect">
            <a:avLst/>
          </a:prstGeom>
          <a:noFill/>
          <a:ln/>
        </p:spPr>
        <p:txBody>
          <a:bodyPr wrap="square" lIns="0" tIns="0" rIns="0" bIns="0" rtlCol="0" anchor="t"/>
          <a:lstStyle/>
          <a:p>
            <a:pPr indent="0" marL="0">
              <a:buNone/>
            </a:pPr>
            <a:r>
              <a:rPr lang="en-US" sz="1200" b="1" dirty="0">
                <a:solidFill>
                  <a:schemeClr val="accent5"/>
                </a:solidFill>
              </a:rPr>
              <a:t>What they did</a:t>
            </a:r>
            <a:endParaRPr lang="en-US" sz="1200" dirty="0"/>
          </a:p>
        </p:txBody>
      </p:sp>
      <p:sp>
        <p:nvSpPr>
          <p:cNvPr id="5" name="Text 3"/>
          <p:cNvSpPr txBox="1"/>
          <p:nvPr/>
        </p:nvSpPr>
        <p:spPr>
          <a:xfrm>
            <a:off x="8915400" y="1325880"/>
            <a:ext cx="2560320" cy="274320"/>
          </a:xfrm>
          <a:prstGeom prst="rect">
            <a:avLst/>
          </a:prstGeom>
          <a:noFill/>
          <a:ln/>
        </p:spPr>
        <p:txBody>
          <a:bodyPr wrap="square" lIns="0" tIns="0" rIns="0" bIns="0" rtlCol="0" anchor="t"/>
          <a:lstStyle/>
          <a:p>
            <a:pPr indent="0" marL="0">
              <a:buNone/>
            </a:pPr>
            <a:r>
              <a:rPr lang="en-US" sz="1200" b="1" dirty="0">
                <a:solidFill>
                  <a:schemeClr val="accent5"/>
                </a:solidFill>
              </a:rPr>
              <a:t>What's next</a:t>
            </a:r>
            <a:endParaRPr lang="en-US" sz="1200" dirty="0"/>
          </a:p>
        </p:txBody>
      </p:sp>
      <p:sp>
        <p:nvSpPr>
          <p:cNvPr id="6" name="team row 1"/>
          <p:cNvSpPr/>
          <p:nvPr/>
        </p:nvSpPr>
        <p:spPr>
          <a:xfrm>
            <a:off x="548640" y="1691640"/>
            <a:ext cx="11091672" cy="795528"/>
          </a:xfrm>
          <a:prstGeom prst="roundRect">
            <a:avLst>
              <a:gd name="adj" fmla="val 13793"/>
            </a:avLst>
          </a:prstGeom>
          <a:solidFill>
            <a:schemeClr val="bg2"/>
          </a:solidFill>
          <a:ln/>
          <a:effectLst>
            <a:outerShdw sx="100000" sy="100000" kx="0" ky="0" algn="bl" rotWithShape="0" blurRad="76200" dist="25400" dir="5400000">
              <a:srgbClr val="000000">
                <a:alpha val="10000"/>
              </a:srgbClr>
            </a:outerShdw>
          </a:effectLst>
        </p:spPr>
      </p:sp>
      <p:sp>
        <p:nvSpPr>
          <p:cNvPr id="7" name="Text 5"/>
          <p:cNvSpPr txBox="1"/>
          <p:nvPr/>
        </p:nvSpPr>
        <p:spPr>
          <a:xfrm>
            <a:off x="777240" y="1783080"/>
            <a:ext cx="2651760" cy="320040"/>
          </a:xfrm>
          <a:prstGeom prst="rect">
            <a:avLst/>
          </a:prstGeom>
          <a:noFill/>
          <a:ln/>
        </p:spPr>
        <p:txBody>
          <a:bodyPr wrap="square" lIns="0" tIns="0" rIns="0" bIns="0" rtlCol="0" anchor="t"/>
          <a:lstStyle/>
          <a:p>
            <a:pPr indent="0" marL="0">
              <a:buNone/>
            </a:pPr>
            <a:r>
              <a:rPr lang="en-US" sz="1800" b="1" dirty="0">
                <a:solidFill>
                  <a:schemeClr val="tx1"/>
                </a:solidFill>
              </a:rPr>
              <a:t>Member 1</a:t>
            </a:r>
            <a:endParaRPr lang="en-US" sz="1800" dirty="0"/>
          </a:p>
        </p:txBody>
      </p:sp>
      <p:sp>
        <p:nvSpPr>
          <p:cNvPr id="8" name="Text 6"/>
          <p:cNvSpPr txBox="1"/>
          <p:nvPr/>
        </p:nvSpPr>
        <p:spPr>
          <a:xfrm>
            <a:off x="777240" y="2130552"/>
            <a:ext cx="2651760" cy="274320"/>
          </a:xfrm>
          <a:prstGeom prst="rect">
            <a:avLst/>
          </a:prstGeom>
          <a:noFill/>
          <a:ln/>
        </p:spPr>
        <p:txBody>
          <a:bodyPr wrap="square" lIns="0" tIns="0" rIns="0" bIns="0" rtlCol="0" anchor="t"/>
          <a:lstStyle/>
          <a:p>
            <a:pPr indent="0" marL="0">
              <a:buNone/>
            </a:pPr>
            <a:r>
              <a:rPr lang="en-US" sz="1400" b="1" dirty="0">
                <a:solidFill>
                  <a:schemeClr val="accent1"/>
                </a:solidFill>
              </a:rPr>
              <a:t>Team lead</a:t>
            </a:r>
            <a:endParaRPr lang="en-US" sz="1400" dirty="0"/>
          </a:p>
        </p:txBody>
      </p:sp>
      <p:sp>
        <p:nvSpPr>
          <p:cNvPr id="9" name="Text 7"/>
          <p:cNvSpPr txBox="1"/>
          <p:nvPr/>
        </p:nvSpPr>
        <p:spPr>
          <a:xfrm>
            <a:off x="3611880" y="1764792"/>
            <a:ext cx="5029200" cy="658368"/>
          </a:xfrm>
          <a:prstGeom prst="rect">
            <a:avLst/>
          </a:prstGeom>
          <a:noFill/>
          <a:ln/>
        </p:spPr>
        <p:txBody>
          <a:bodyPr wrap="square" lIns="0" tIns="0" rIns="0" bIns="0" rtlCol="0" anchor="ctr"/>
          <a:lstStyle/>
          <a:p>
            <a:pPr indent="0" marL="0">
              <a:buNone/>
            </a:pPr>
            <a:r>
              <a:rPr lang="en-US" sz="1400" dirty="0">
                <a:solidFill>
                  <a:schemeClr val="tx1"/>
                </a:solidFill>
              </a:rPr>
              <a:t>Set up GitHub, connected the parts, added retry and backup, connected Gemini</a:t>
            </a:r>
            <a:endParaRPr lang="en-US" sz="1400" dirty="0"/>
          </a:p>
        </p:txBody>
      </p:sp>
      <p:sp>
        <p:nvSpPr>
          <p:cNvPr id="10" name="Text 8"/>
          <p:cNvSpPr txBox="1"/>
          <p:nvPr/>
        </p:nvSpPr>
        <p:spPr>
          <a:xfrm>
            <a:off x="8915400" y="1764792"/>
            <a:ext cx="2560320" cy="658368"/>
          </a:xfrm>
          <a:prstGeom prst="rect">
            <a:avLst/>
          </a:prstGeom>
          <a:noFill/>
          <a:ln/>
        </p:spPr>
        <p:txBody>
          <a:bodyPr wrap="square" lIns="0" tIns="0" rIns="0" bIns="0" rtlCol="0" anchor="ctr"/>
          <a:lstStyle/>
          <a:p>
            <a:pPr indent="0" marL="0">
              <a:buNone/>
            </a:pPr>
            <a:r>
              <a:rPr lang="en-US" sz="1400" dirty="0">
                <a:solidFill>
                  <a:schemeClr val="accent5"/>
                </a:solidFill>
              </a:rPr>
              <a:t>Publish the live link</a:t>
            </a:r>
            <a:endParaRPr lang="en-US" sz="1400" dirty="0"/>
          </a:p>
        </p:txBody>
      </p:sp>
      <p:sp>
        <p:nvSpPr>
          <p:cNvPr id="11" name="team row 2"/>
          <p:cNvSpPr/>
          <p:nvPr/>
        </p:nvSpPr>
        <p:spPr>
          <a:xfrm>
            <a:off x="548640" y="2578608"/>
            <a:ext cx="11091672" cy="795528"/>
          </a:xfrm>
          <a:prstGeom prst="roundRect">
            <a:avLst>
              <a:gd name="adj" fmla="val 13793"/>
            </a:avLst>
          </a:prstGeom>
          <a:solidFill>
            <a:schemeClr val="bg2"/>
          </a:solidFill>
          <a:ln/>
          <a:effectLst>
            <a:outerShdw sx="100000" sy="100000" kx="0" ky="0" algn="bl" rotWithShape="0" blurRad="76200" dist="25400" dir="5400000">
              <a:srgbClr val="000000">
                <a:alpha val="10000"/>
              </a:srgbClr>
            </a:outerShdw>
          </a:effectLst>
        </p:spPr>
      </p:sp>
      <p:sp>
        <p:nvSpPr>
          <p:cNvPr id="12" name="Text 10"/>
          <p:cNvSpPr txBox="1"/>
          <p:nvPr/>
        </p:nvSpPr>
        <p:spPr>
          <a:xfrm>
            <a:off x="777240" y="2670048"/>
            <a:ext cx="2651760" cy="320040"/>
          </a:xfrm>
          <a:prstGeom prst="rect">
            <a:avLst/>
          </a:prstGeom>
          <a:noFill/>
          <a:ln/>
        </p:spPr>
        <p:txBody>
          <a:bodyPr wrap="square" lIns="0" tIns="0" rIns="0" bIns="0" rtlCol="0" anchor="t"/>
          <a:lstStyle/>
          <a:p>
            <a:pPr indent="0" marL="0">
              <a:buNone/>
            </a:pPr>
            <a:r>
              <a:rPr lang="en-US" sz="1800" b="1" dirty="0">
                <a:solidFill>
                  <a:schemeClr val="tx1"/>
                </a:solidFill>
              </a:rPr>
              <a:t>Member 2</a:t>
            </a:r>
            <a:endParaRPr lang="en-US" sz="1800" dirty="0"/>
          </a:p>
        </p:txBody>
      </p:sp>
      <p:sp>
        <p:nvSpPr>
          <p:cNvPr id="13" name="Text 11"/>
          <p:cNvSpPr txBox="1"/>
          <p:nvPr/>
        </p:nvSpPr>
        <p:spPr>
          <a:xfrm>
            <a:off x="777240" y="3017520"/>
            <a:ext cx="2651760" cy="274320"/>
          </a:xfrm>
          <a:prstGeom prst="rect">
            <a:avLst/>
          </a:prstGeom>
          <a:noFill/>
          <a:ln/>
        </p:spPr>
        <p:txBody>
          <a:bodyPr wrap="square" lIns="0" tIns="0" rIns="0" bIns="0" rtlCol="0" anchor="t"/>
          <a:lstStyle/>
          <a:p>
            <a:pPr indent="0" marL="0">
              <a:buNone/>
            </a:pPr>
            <a:r>
              <a:rPr lang="en-US" sz="1400" b="1" dirty="0">
                <a:solidFill>
                  <a:schemeClr val="accent1"/>
                </a:solidFill>
              </a:rPr>
              <a:t>AI and prompts</a:t>
            </a:r>
            <a:endParaRPr lang="en-US" sz="1400" dirty="0"/>
          </a:p>
        </p:txBody>
      </p:sp>
      <p:sp>
        <p:nvSpPr>
          <p:cNvPr id="14" name="Text 12"/>
          <p:cNvSpPr txBox="1"/>
          <p:nvPr/>
        </p:nvSpPr>
        <p:spPr>
          <a:xfrm>
            <a:off x="3611880" y="2651760"/>
            <a:ext cx="5029200" cy="658368"/>
          </a:xfrm>
          <a:prstGeom prst="rect">
            <a:avLst/>
          </a:prstGeom>
          <a:noFill/>
          <a:ln/>
        </p:spPr>
        <p:txBody>
          <a:bodyPr wrap="square" lIns="0" tIns="0" rIns="0" bIns="0" rtlCol="0" anchor="ctr"/>
          <a:lstStyle/>
          <a:p>
            <a:pPr indent="0" marL="0">
              <a:buNone/>
            </a:pPr>
            <a:r>
              <a:rPr lang="en-US" sz="1400" dirty="0">
                <a:solidFill>
                  <a:schemeClr val="tx1"/>
                </a:solidFill>
              </a:rPr>
              <a:t>Wrote the rewrite instructions for each content type and tone, and the AI judge</a:t>
            </a:r>
            <a:endParaRPr lang="en-US" sz="1400" dirty="0"/>
          </a:p>
        </p:txBody>
      </p:sp>
      <p:sp>
        <p:nvSpPr>
          <p:cNvPr id="15" name="Text 13"/>
          <p:cNvSpPr txBox="1"/>
          <p:nvPr/>
        </p:nvSpPr>
        <p:spPr>
          <a:xfrm>
            <a:off x="8915400" y="2651760"/>
            <a:ext cx="2560320" cy="658368"/>
          </a:xfrm>
          <a:prstGeom prst="rect">
            <a:avLst/>
          </a:prstGeom>
          <a:noFill/>
          <a:ln/>
        </p:spPr>
        <p:txBody>
          <a:bodyPr wrap="square" lIns="0" tIns="0" rIns="0" bIns="0" rtlCol="0" anchor="ctr"/>
          <a:lstStyle/>
          <a:p>
            <a:pPr indent="0" marL="0">
              <a:buNone/>
            </a:pPr>
            <a:r>
              <a:rPr lang="en-US" sz="1400" dirty="0">
                <a:solidFill>
                  <a:schemeClr val="accent5"/>
                </a:solidFill>
              </a:rPr>
              <a:t>Add the intent step</a:t>
            </a:r>
            <a:endParaRPr lang="en-US" sz="1400" dirty="0"/>
          </a:p>
        </p:txBody>
      </p:sp>
      <p:sp>
        <p:nvSpPr>
          <p:cNvPr id="16" name="team row 3"/>
          <p:cNvSpPr/>
          <p:nvPr/>
        </p:nvSpPr>
        <p:spPr>
          <a:xfrm>
            <a:off x="548640" y="3465576"/>
            <a:ext cx="11091672" cy="795528"/>
          </a:xfrm>
          <a:prstGeom prst="roundRect">
            <a:avLst>
              <a:gd name="adj" fmla="val 13793"/>
            </a:avLst>
          </a:prstGeom>
          <a:solidFill>
            <a:schemeClr val="bg2"/>
          </a:solidFill>
          <a:ln/>
          <a:effectLst>
            <a:outerShdw sx="100000" sy="100000" kx="0" ky="0" algn="bl" rotWithShape="0" blurRad="76200" dist="25400" dir="5400000">
              <a:srgbClr val="000000">
                <a:alpha val="10000"/>
              </a:srgbClr>
            </a:outerShdw>
          </a:effectLst>
        </p:spPr>
      </p:sp>
      <p:sp>
        <p:nvSpPr>
          <p:cNvPr id="17" name="Text 15"/>
          <p:cNvSpPr txBox="1"/>
          <p:nvPr/>
        </p:nvSpPr>
        <p:spPr>
          <a:xfrm>
            <a:off x="777240" y="3557016"/>
            <a:ext cx="2651760" cy="320040"/>
          </a:xfrm>
          <a:prstGeom prst="rect">
            <a:avLst/>
          </a:prstGeom>
          <a:noFill/>
          <a:ln/>
        </p:spPr>
        <p:txBody>
          <a:bodyPr wrap="square" lIns="0" tIns="0" rIns="0" bIns="0" rtlCol="0" anchor="t"/>
          <a:lstStyle/>
          <a:p>
            <a:pPr indent="0" marL="0">
              <a:buNone/>
            </a:pPr>
            <a:r>
              <a:rPr lang="en-US" sz="1800" b="1" dirty="0">
                <a:solidFill>
                  <a:schemeClr val="tx1"/>
                </a:solidFill>
              </a:rPr>
              <a:t>Member 3</a:t>
            </a:r>
            <a:endParaRPr lang="en-US" sz="1800" dirty="0"/>
          </a:p>
        </p:txBody>
      </p:sp>
      <p:sp>
        <p:nvSpPr>
          <p:cNvPr id="18" name="Text 16"/>
          <p:cNvSpPr txBox="1"/>
          <p:nvPr/>
        </p:nvSpPr>
        <p:spPr>
          <a:xfrm>
            <a:off x="777240" y="3904488"/>
            <a:ext cx="2651760" cy="274320"/>
          </a:xfrm>
          <a:prstGeom prst="rect">
            <a:avLst/>
          </a:prstGeom>
          <a:noFill/>
          <a:ln/>
        </p:spPr>
        <p:txBody>
          <a:bodyPr wrap="square" lIns="0" tIns="0" rIns="0" bIns="0" rtlCol="0" anchor="t"/>
          <a:lstStyle/>
          <a:p>
            <a:pPr indent="0" marL="0">
              <a:buNone/>
            </a:pPr>
            <a:r>
              <a:rPr lang="en-US" sz="1400" b="1" dirty="0">
                <a:solidFill>
                  <a:schemeClr val="accent1"/>
                </a:solidFill>
              </a:rPr>
              <a:t>Finding facts</a:t>
            </a:r>
            <a:endParaRPr lang="en-US" sz="1400" dirty="0"/>
          </a:p>
        </p:txBody>
      </p:sp>
      <p:sp>
        <p:nvSpPr>
          <p:cNvPr id="19" name="Text 17"/>
          <p:cNvSpPr txBox="1"/>
          <p:nvPr/>
        </p:nvSpPr>
        <p:spPr>
          <a:xfrm>
            <a:off x="3611880" y="3538728"/>
            <a:ext cx="5029200" cy="658368"/>
          </a:xfrm>
          <a:prstGeom prst="rect">
            <a:avLst/>
          </a:prstGeom>
          <a:noFill/>
          <a:ln/>
        </p:spPr>
        <p:txBody>
          <a:bodyPr wrap="square" lIns="0" tIns="0" rIns="0" bIns="0" rtlCol="0" anchor="ctr"/>
          <a:lstStyle/>
          <a:p>
            <a:pPr indent="0" marL="0">
              <a:buNone/>
            </a:pPr>
            <a:r>
              <a:rPr lang="en-US" sz="1400" dirty="0">
                <a:solidFill>
                  <a:schemeClr val="tx1"/>
                </a:solidFill>
              </a:rPr>
              <a:t>Built the fact finder and the detector for stiff phrases</a:t>
            </a:r>
            <a:endParaRPr lang="en-US" sz="1400" dirty="0"/>
          </a:p>
        </p:txBody>
      </p:sp>
      <p:sp>
        <p:nvSpPr>
          <p:cNvPr id="20" name="Text 18"/>
          <p:cNvSpPr txBox="1"/>
          <p:nvPr/>
        </p:nvSpPr>
        <p:spPr>
          <a:xfrm>
            <a:off x="8915400" y="3538728"/>
            <a:ext cx="2560320" cy="658368"/>
          </a:xfrm>
          <a:prstGeom prst="rect">
            <a:avLst/>
          </a:prstGeom>
          <a:noFill/>
          <a:ln/>
        </p:spPr>
        <p:txBody>
          <a:bodyPr wrap="square" lIns="0" tIns="0" rIns="0" bIns="0" rtlCol="0" anchor="ctr"/>
          <a:lstStyle/>
          <a:p>
            <a:pPr indent="0" marL="0">
              <a:buNone/>
            </a:pPr>
            <a:r>
              <a:rPr lang="en-US" sz="1400" dirty="0">
                <a:solidFill>
                  <a:schemeClr val="accent5"/>
                </a:solidFill>
              </a:rPr>
              <a:t>Catch made-up claims</a:t>
            </a:r>
            <a:endParaRPr lang="en-US" sz="1400" dirty="0"/>
          </a:p>
        </p:txBody>
      </p:sp>
      <p:sp>
        <p:nvSpPr>
          <p:cNvPr id="21" name="team row 4"/>
          <p:cNvSpPr/>
          <p:nvPr/>
        </p:nvSpPr>
        <p:spPr>
          <a:xfrm>
            <a:off x="548640" y="4352544"/>
            <a:ext cx="11091672" cy="795528"/>
          </a:xfrm>
          <a:prstGeom prst="roundRect">
            <a:avLst>
              <a:gd name="adj" fmla="val 13793"/>
            </a:avLst>
          </a:prstGeom>
          <a:solidFill>
            <a:schemeClr val="bg2"/>
          </a:solidFill>
          <a:ln/>
          <a:effectLst>
            <a:outerShdw sx="100000" sy="100000" kx="0" ky="0" algn="bl" rotWithShape="0" blurRad="76200" dist="25400" dir="5400000">
              <a:srgbClr val="000000">
                <a:alpha val="10000"/>
              </a:srgbClr>
            </a:outerShdw>
          </a:effectLst>
        </p:spPr>
      </p:sp>
      <p:sp>
        <p:nvSpPr>
          <p:cNvPr id="22" name="Text 20"/>
          <p:cNvSpPr txBox="1"/>
          <p:nvPr/>
        </p:nvSpPr>
        <p:spPr>
          <a:xfrm>
            <a:off x="777240" y="4443984"/>
            <a:ext cx="2651760" cy="320040"/>
          </a:xfrm>
          <a:prstGeom prst="rect">
            <a:avLst/>
          </a:prstGeom>
          <a:noFill/>
          <a:ln/>
        </p:spPr>
        <p:txBody>
          <a:bodyPr wrap="square" lIns="0" tIns="0" rIns="0" bIns="0" rtlCol="0" anchor="t"/>
          <a:lstStyle/>
          <a:p>
            <a:pPr indent="0" marL="0">
              <a:buNone/>
            </a:pPr>
            <a:r>
              <a:rPr lang="en-US" sz="1800" b="1" dirty="0">
                <a:solidFill>
                  <a:schemeClr val="tx1"/>
                </a:solidFill>
              </a:rPr>
              <a:t>Member 4</a:t>
            </a:r>
            <a:endParaRPr lang="en-US" sz="1800" dirty="0"/>
          </a:p>
        </p:txBody>
      </p:sp>
      <p:sp>
        <p:nvSpPr>
          <p:cNvPr id="23" name="Text 21"/>
          <p:cNvSpPr txBox="1"/>
          <p:nvPr/>
        </p:nvSpPr>
        <p:spPr>
          <a:xfrm>
            <a:off x="777240" y="4791456"/>
            <a:ext cx="2651760" cy="274320"/>
          </a:xfrm>
          <a:prstGeom prst="rect">
            <a:avLst/>
          </a:prstGeom>
          <a:noFill/>
          <a:ln/>
        </p:spPr>
        <p:txBody>
          <a:bodyPr wrap="square" lIns="0" tIns="0" rIns="0" bIns="0" rtlCol="0" anchor="t"/>
          <a:lstStyle/>
          <a:p>
            <a:pPr indent="0" marL="0">
              <a:buNone/>
            </a:pPr>
            <a:r>
              <a:rPr lang="en-US" sz="1400" b="1" dirty="0">
                <a:solidFill>
                  <a:schemeClr val="accent1"/>
                </a:solidFill>
              </a:rPr>
              <a:t>App screens</a:t>
            </a:r>
            <a:endParaRPr lang="en-US" sz="1400" dirty="0"/>
          </a:p>
        </p:txBody>
      </p:sp>
      <p:sp>
        <p:nvSpPr>
          <p:cNvPr id="24" name="Text 22"/>
          <p:cNvSpPr txBox="1"/>
          <p:nvPr/>
        </p:nvSpPr>
        <p:spPr>
          <a:xfrm>
            <a:off x="3611880" y="4425696"/>
            <a:ext cx="5029200" cy="658368"/>
          </a:xfrm>
          <a:prstGeom prst="rect">
            <a:avLst/>
          </a:prstGeom>
          <a:noFill/>
          <a:ln/>
        </p:spPr>
        <p:txBody>
          <a:bodyPr wrap="square" lIns="0" tIns="0" rIns="0" bIns="0" rtlCol="0" anchor="ctr"/>
          <a:lstStyle/>
          <a:p>
            <a:pPr indent="0" marL="0">
              <a:buNone/>
            </a:pPr>
            <a:r>
              <a:rPr lang="en-US" sz="1400" dirty="0">
                <a:solidFill>
                  <a:schemeClr val="tx1"/>
                </a:solidFill>
              </a:rPr>
              <a:t>Built the app: highlights, side-by-side view, editable text, test panel</a:t>
            </a:r>
            <a:endParaRPr lang="en-US" sz="1400" dirty="0"/>
          </a:p>
        </p:txBody>
      </p:sp>
      <p:sp>
        <p:nvSpPr>
          <p:cNvPr id="25" name="Text 23"/>
          <p:cNvSpPr txBox="1"/>
          <p:nvPr/>
        </p:nvSpPr>
        <p:spPr>
          <a:xfrm>
            <a:off x="8915400" y="4425696"/>
            <a:ext cx="2560320" cy="658368"/>
          </a:xfrm>
          <a:prstGeom prst="rect">
            <a:avLst/>
          </a:prstGeom>
          <a:noFill/>
          <a:ln/>
        </p:spPr>
        <p:txBody>
          <a:bodyPr wrap="square" lIns="0" tIns="0" rIns="0" bIns="0" rtlCol="0" anchor="ctr"/>
          <a:lstStyle/>
          <a:p>
            <a:pPr indent="0" marL="0">
              <a:buNone/>
            </a:pPr>
            <a:r>
              <a:rPr lang="en-US" sz="1400" dirty="0">
                <a:solidFill>
                  <a:schemeClr val="accent5"/>
                </a:solidFill>
              </a:rPr>
              <a:t>Batch mode and mobile layout</a:t>
            </a:r>
            <a:endParaRPr lang="en-US" sz="1400" dirty="0"/>
          </a:p>
        </p:txBody>
      </p:sp>
      <p:sp>
        <p:nvSpPr>
          <p:cNvPr id="26" name="team row 5"/>
          <p:cNvSpPr/>
          <p:nvPr/>
        </p:nvSpPr>
        <p:spPr>
          <a:xfrm>
            <a:off x="548640" y="5239512"/>
            <a:ext cx="11091672" cy="795528"/>
          </a:xfrm>
          <a:prstGeom prst="roundRect">
            <a:avLst>
              <a:gd name="adj" fmla="val 13793"/>
            </a:avLst>
          </a:prstGeom>
          <a:solidFill>
            <a:schemeClr val="bg2"/>
          </a:solidFill>
          <a:ln/>
          <a:effectLst>
            <a:outerShdw sx="100000" sy="100000" kx="0" ky="0" algn="bl" rotWithShape="0" blurRad="76200" dist="25400" dir="5400000">
              <a:srgbClr val="000000">
                <a:alpha val="10000"/>
              </a:srgbClr>
            </a:outerShdw>
          </a:effectLst>
        </p:spPr>
      </p:sp>
      <p:sp>
        <p:nvSpPr>
          <p:cNvPr id="27" name="Text 25"/>
          <p:cNvSpPr txBox="1"/>
          <p:nvPr/>
        </p:nvSpPr>
        <p:spPr>
          <a:xfrm>
            <a:off x="777240" y="5330952"/>
            <a:ext cx="2651760" cy="320040"/>
          </a:xfrm>
          <a:prstGeom prst="rect">
            <a:avLst/>
          </a:prstGeom>
          <a:noFill/>
          <a:ln/>
        </p:spPr>
        <p:txBody>
          <a:bodyPr wrap="square" lIns="0" tIns="0" rIns="0" bIns="0" rtlCol="0" anchor="t"/>
          <a:lstStyle/>
          <a:p>
            <a:pPr indent="0" marL="0">
              <a:buNone/>
            </a:pPr>
            <a:r>
              <a:rPr lang="en-US" sz="1800" b="1" dirty="0">
                <a:solidFill>
                  <a:schemeClr val="tx1"/>
                </a:solidFill>
              </a:rPr>
              <a:t>Member 5</a:t>
            </a:r>
            <a:endParaRPr lang="en-US" sz="1800" dirty="0"/>
          </a:p>
        </p:txBody>
      </p:sp>
      <p:sp>
        <p:nvSpPr>
          <p:cNvPr id="28" name="Text 26"/>
          <p:cNvSpPr txBox="1"/>
          <p:nvPr/>
        </p:nvSpPr>
        <p:spPr>
          <a:xfrm>
            <a:off x="777240" y="5678424"/>
            <a:ext cx="2651760" cy="274320"/>
          </a:xfrm>
          <a:prstGeom prst="rect">
            <a:avLst/>
          </a:prstGeom>
          <a:noFill/>
          <a:ln/>
        </p:spPr>
        <p:txBody>
          <a:bodyPr wrap="square" lIns="0" tIns="0" rIns="0" bIns="0" rtlCol="0" anchor="t"/>
          <a:lstStyle/>
          <a:p>
            <a:pPr indent="0" marL="0">
              <a:buNone/>
            </a:pPr>
            <a:r>
              <a:rPr lang="en-US" sz="1400" b="1" dirty="0">
                <a:solidFill>
                  <a:schemeClr val="accent1"/>
                </a:solidFill>
              </a:rPr>
              <a:t>Testing and docs</a:t>
            </a:r>
            <a:endParaRPr lang="en-US" sz="1400" dirty="0"/>
          </a:p>
        </p:txBody>
      </p:sp>
      <p:sp>
        <p:nvSpPr>
          <p:cNvPr id="29" name="Text 27"/>
          <p:cNvSpPr txBox="1"/>
          <p:nvPr/>
        </p:nvSpPr>
        <p:spPr>
          <a:xfrm>
            <a:off x="3611880" y="5312664"/>
            <a:ext cx="5029200" cy="658368"/>
          </a:xfrm>
          <a:prstGeom prst="rect">
            <a:avLst/>
          </a:prstGeom>
          <a:noFill/>
          <a:ln/>
        </p:spPr>
        <p:txBody>
          <a:bodyPr wrap="square" lIns="0" tIns="0" rIns="0" bIns="0" rtlCol="0" anchor="ctr"/>
          <a:lstStyle/>
          <a:p>
            <a:pPr indent="0" marL="0">
              <a:buNone/>
            </a:pPr>
            <a:r>
              <a:rPr lang="en-US" sz="1400" dirty="0">
                <a:solidFill>
                  <a:schemeClr val="tx1"/>
                </a:solidFill>
              </a:rPr>
              <a:t>Wrote the checker rules, 25 tests, the evaluation, README and slides</a:t>
            </a:r>
            <a:endParaRPr lang="en-US" sz="1400" dirty="0"/>
          </a:p>
        </p:txBody>
      </p:sp>
      <p:sp>
        <p:nvSpPr>
          <p:cNvPr id="30" name="Text 28"/>
          <p:cNvSpPr txBox="1"/>
          <p:nvPr/>
        </p:nvSpPr>
        <p:spPr>
          <a:xfrm>
            <a:off x="8915400" y="5312664"/>
            <a:ext cx="2560320" cy="658368"/>
          </a:xfrm>
          <a:prstGeom prst="rect">
            <a:avLst/>
          </a:prstGeom>
          <a:noFill/>
          <a:ln/>
        </p:spPr>
        <p:txBody>
          <a:bodyPr wrap="square" lIns="0" tIns="0" rIns="0" bIns="0" rtlCol="0" anchor="ctr"/>
          <a:lstStyle/>
          <a:p>
            <a:pPr indent="0" marL="0">
              <a:buNone/>
            </a:pPr>
            <a:r>
              <a:rPr lang="en-US" sz="1400" dirty="0">
                <a:solidFill>
                  <a:schemeClr val="accent5"/>
                </a:solidFill>
              </a:rPr>
              <a:t>Run the tests with Gemini</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Staying responsible, and our limits</a:t>
            </a:r>
            <a:endParaRPr lang="en-US" sz="3600" dirty="0"/>
          </a:p>
        </p:txBody>
      </p:sp>
      <p:sp>
        <p:nvSpPr>
          <p:cNvPr id="3" name="column card 1"/>
          <p:cNvSpPr/>
          <p:nvPr/>
        </p:nvSpPr>
        <p:spPr>
          <a:xfrm>
            <a:off x="548640" y="1417320"/>
            <a:ext cx="5440680" cy="4709160"/>
          </a:xfrm>
          <a:prstGeom prst="roundRect">
            <a:avLst>
              <a:gd name="adj" fmla="val 2330"/>
            </a:avLst>
          </a:prstGeom>
          <a:solidFill>
            <a:schemeClr val="bg2"/>
          </a:solidFill>
          <a:ln/>
          <a:effectLst>
            <a:outerShdw sx="100000" sy="100000" kx="0" ky="0" algn="bl" rotWithShape="0" blurRad="76200" dist="25400" dir="5400000">
              <a:srgbClr val="000000">
                <a:alpha val="10000"/>
              </a:srgbClr>
            </a:outerShdw>
          </a:effectLst>
        </p:spPr>
      </p:sp>
      <p:sp>
        <p:nvSpPr>
          <p:cNvPr id="4" name="How we keep people in charge circle"/>
          <p:cNvSpPr/>
          <p:nvPr/>
        </p:nvSpPr>
        <p:spPr>
          <a:xfrm>
            <a:off x="822960" y="1645920"/>
            <a:ext cx="640080" cy="640080"/>
          </a:xfrm>
          <a:prstGeom prst="ellipse">
            <a:avLst/>
          </a:prstGeom>
          <a:solidFill>
            <a:srgbClr val="2E8B57"/>
          </a:solidFill>
          <a:ln/>
        </p:spPr>
      </p:sp>
      <p:pic>
        <p:nvPicPr>
          <p:cNvPr id="5" name="Image 0" descr="How we keep people in charge">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737360" y="1645920"/>
            <a:ext cx="4023360" cy="640080"/>
          </a:xfrm>
          <a:prstGeom prst="rect">
            <a:avLst/>
          </a:prstGeom>
          <a:noFill/>
          <a:ln/>
        </p:spPr>
        <p:txBody>
          <a:bodyPr wrap="square" lIns="0" tIns="0" rIns="0" bIns="0" rtlCol="0" anchor="ctr"/>
          <a:lstStyle/>
          <a:p>
            <a:pPr indent="0" marL="0">
              <a:buNone/>
            </a:pPr>
            <a:r>
              <a:rPr lang="en-US" sz="2200" b="1" dirty="0">
                <a:solidFill>
                  <a:schemeClr val="tx1"/>
                </a:solidFill>
              </a:rPr>
              <a:t>How we keep people in charge</a:t>
            </a:r>
            <a:endParaRPr lang="en-US" sz="2200" dirty="0"/>
          </a:p>
        </p:txBody>
      </p:sp>
      <p:sp>
        <p:nvSpPr>
          <p:cNvPr id="7" name="Text 4"/>
          <p:cNvSpPr txBox="1"/>
          <p:nvPr/>
        </p:nvSpPr>
        <p:spPr>
          <a:xfrm>
            <a:off x="868680" y="2560320"/>
            <a:ext cx="4846320" cy="34747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We show the evidence, and a person makes the call</a:t>
            </a:r>
            <a:endParaRPr lang="en-US" sz="1800" dirty="0"/>
          </a:p>
          <a:p>
            <a:pPr marL="342900" indent="-342900">
              <a:spcAft>
                <a:spcPts val="1200"/>
              </a:spcAft>
              <a:buSzPct val="100000"/>
              <a:buChar char="•"/>
            </a:pPr>
            <a:r>
              <a:rPr lang="en-US" sz="1800" dirty="0">
                <a:solidFill>
                  <a:schemeClr val="tx1"/>
                </a:solidFill>
              </a:rPr>
              <a:t>Anything doubtful is marked REVIEW or BLOCKED</a:t>
            </a:r>
            <a:endParaRPr lang="en-US" sz="1800" dirty="0"/>
          </a:p>
          <a:p>
            <a:pPr marL="342900" indent="-342900">
              <a:spcAft>
                <a:spcPts val="1200"/>
              </a:spcAft>
              <a:buSzPct val="100000"/>
              <a:buChar char="•"/>
            </a:pPr>
            <a:r>
              <a:rPr lang="en-US" sz="1800" dirty="0">
                <a:solidFill>
                  <a:schemeClr val="tx1"/>
                </a:solidFill>
              </a:rPr>
              <a:t>We only use made-up data, because voice and images go to Gemini</a:t>
            </a:r>
            <a:endParaRPr lang="en-US" sz="1800" dirty="0"/>
          </a:p>
          <a:p>
            <a:pPr marL="342900" indent="-342900">
              <a:spcAft>
                <a:spcPts val="1200"/>
              </a:spcAft>
              <a:buSzPct val="100000"/>
              <a:buChar char="•"/>
            </a:pPr>
            <a:r>
              <a:rPr lang="en-US" sz="1800" dirty="0">
                <a:solidFill>
                  <a:schemeClr val="tx1"/>
                </a:solidFill>
              </a:rPr>
              <a:t>API keys stay out of GitHub</a:t>
            </a:r>
            <a:endParaRPr lang="en-US" sz="1800" dirty="0"/>
          </a:p>
          <a:p>
            <a:pPr marL="342900" indent="-342900">
              <a:spcAft>
                <a:spcPts val="1200"/>
              </a:spcAft>
              <a:buSzPct val="100000"/>
              <a:buChar char="•"/>
            </a:pPr>
            <a:r>
              <a:rPr lang="en-US" sz="1800" dirty="0">
                <a:solidFill>
                  <a:schemeClr val="tx1"/>
                </a:solidFill>
              </a:rPr>
              <a:t>You can edit the text and it's re-checked instantly</a:t>
            </a:r>
            <a:endParaRPr lang="en-US" sz="1800" dirty="0"/>
          </a:p>
        </p:txBody>
      </p:sp>
      <p:sp>
        <p:nvSpPr>
          <p:cNvPr id="8" name="column card 2"/>
          <p:cNvSpPr/>
          <p:nvPr/>
        </p:nvSpPr>
        <p:spPr>
          <a:xfrm>
            <a:off x="6199632" y="1417320"/>
            <a:ext cx="5440680" cy="4709160"/>
          </a:xfrm>
          <a:prstGeom prst="roundRect">
            <a:avLst>
              <a:gd name="adj" fmla="val 2330"/>
            </a:avLst>
          </a:prstGeom>
          <a:solidFill>
            <a:schemeClr val="bg2"/>
          </a:solidFill>
          <a:ln/>
          <a:effectLst>
            <a:outerShdw sx="100000" sy="100000" kx="0" ky="0" algn="bl" rotWithShape="0" blurRad="76200" dist="25400" dir="5400000">
              <a:srgbClr val="000000">
                <a:alpha val="10000"/>
              </a:srgbClr>
            </a:outerShdw>
          </a:effectLst>
        </p:spPr>
      </p:sp>
      <p:sp>
        <p:nvSpPr>
          <p:cNvPr id="9" name="What it can't do yet circle"/>
          <p:cNvSpPr/>
          <p:nvPr/>
        </p:nvSpPr>
        <p:spPr>
          <a:xfrm>
            <a:off x="6473952" y="1645920"/>
            <a:ext cx="640080" cy="640080"/>
          </a:xfrm>
          <a:prstGeom prst="ellipse">
            <a:avLst/>
          </a:prstGeom>
          <a:solidFill>
            <a:srgbClr val="C0392B"/>
          </a:solidFill>
          <a:ln/>
        </p:spPr>
      </p:sp>
      <p:pic>
        <p:nvPicPr>
          <p:cNvPr id="10" name="Image 1" descr="What it can't do yet">    </p:cNvPr>
          <p:cNvPicPr>
            <a:picLocks noChangeAspect="1"/>
          </p:cNvPicPr>
          <p:nvPr/>
        </p:nvPicPr>
        <p:blipFill>
          <a:blip r:embed="rId2"/>
          <a:stretch>
            <a:fillRect/>
          </a:stretch>
        </p:blipFill>
        <p:spPr>
          <a:xfrm>
            <a:off x="6633972" y="1805940"/>
            <a:ext cx="320040" cy="320040"/>
          </a:xfrm>
          <a:prstGeom prst="rect">
            <a:avLst/>
          </a:prstGeom>
        </p:spPr>
      </p:pic>
      <p:sp>
        <p:nvSpPr>
          <p:cNvPr id="11" name="Text 7"/>
          <p:cNvSpPr txBox="1"/>
          <p:nvPr/>
        </p:nvSpPr>
        <p:spPr>
          <a:xfrm>
            <a:off x="7388352" y="1645920"/>
            <a:ext cx="4023360" cy="640080"/>
          </a:xfrm>
          <a:prstGeom prst="rect">
            <a:avLst/>
          </a:prstGeom>
          <a:noFill/>
          <a:ln/>
        </p:spPr>
        <p:txBody>
          <a:bodyPr wrap="square" lIns="0" tIns="0" rIns="0" bIns="0" rtlCol="0" anchor="ctr"/>
          <a:lstStyle/>
          <a:p>
            <a:pPr indent="0" marL="0">
              <a:buNone/>
            </a:pPr>
            <a:r>
              <a:rPr lang="en-US" sz="2200" b="1" dirty="0">
                <a:solidFill>
                  <a:schemeClr val="tx1"/>
                </a:solidFill>
              </a:rPr>
              <a:t>What it can't do yet</a:t>
            </a:r>
            <a:endParaRPr lang="en-US" sz="2200" dirty="0"/>
          </a:p>
        </p:txBody>
      </p:sp>
      <p:sp>
        <p:nvSpPr>
          <p:cNvPr id="12" name="Text 8"/>
          <p:cNvSpPr txBox="1"/>
          <p:nvPr/>
        </p:nvSpPr>
        <p:spPr>
          <a:xfrm>
            <a:off x="6519672" y="2560320"/>
            <a:ext cx="4846320" cy="34747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It can miss some names</a:t>
            </a:r>
            <a:endParaRPr lang="en-US" sz="1800" dirty="0"/>
          </a:p>
          <a:p>
            <a:pPr marL="342900" indent="-342900">
              <a:spcAft>
                <a:spcPts val="1200"/>
              </a:spcAft>
              <a:buSzPct val="100000"/>
              <a:buChar char="•"/>
            </a:pPr>
            <a:r>
              <a:rPr lang="en-US" sz="1800" dirty="0">
                <a:solidFill>
                  <a:schemeClr val="tx1"/>
                </a:solidFill>
              </a:rPr>
              <a:t>Made-up claims with no numbers or names rely on the AI judge</a:t>
            </a:r>
            <a:endParaRPr lang="en-US" sz="1800" dirty="0"/>
          </a:p>
          <a:p>
            <a:pPr marL="342900" indent="-342900">
              <a:spcAft>
                <a:spcPts val="1200"/>
              </a:spcAft>
              <a:buSzPct val="100000"/>
              <a:buChar char="•"/>
            </a:pPr>
            <a:r>
              <a:rPr lang="en-US" sz="1800" dirty="0">
                <a:solidFill>
                  <a:schemeClr val="tx1"/>
                </a:solidFill>
              </a:rPr>
              <a:t>The AI judge can be wrong too</a:t>
            </a:r>
            <a:endParaRPr lang="en-US" sz="1800" dirty="0"/>
          </a:p>
          <a:p>
            <a:pPr marL="342900" indent="-342900">
              <a:spcAft>
                <a:spcPts val="1200"/>
              </a:spcAft>
              <a:buSzPct val="100000"/>
              <a:buChar char="•"/>
            </a:pPr>
            <a:r>
              <a:rPr lang="en-US" sz="1800" dirty="0">
                <a:solidFill>
                  <a:schemeClr val="tx1"/>
                </a:solidFill>
              </a:rPr>
              <a:t>The backup rewriter is basic</a:t>
            </a:r>
            <a:endParaRPr lang="en-US" sz="1800" dirty="0"/>
          </a:p>
          <a:p>
            <a:pPr marL="342900" indent="-342900">
              <a:spcAft>
                <a:spcPts val="1200"/>
              </a:spcAft>
              <a:buSzPct val="100000"/>
              <a:buChar char="•"/>
            </a:pPr>
            <a:r>
              <a:rPr lang="en-US" sz="1800" dirty="0">
                <a:solidFill>
                  <a:schemeClr val="tx1"/>
                </a:solidFill>
              </a:rPr>
              <a:t>Voice and screenshots can be misread, so check the text first</a:t>
            </a:r>
            <a:endParaRPr lang="en-US" sz="1800" dirty="0"/>
          </a:p>
          <a:p>
            <a:pPr marL="342900" indent="-342900">
              <a:spcAft>
                <a:spcPts val="1200"/>
              </a:spcAft>
              <a:buSzPct val="100000"/>
              <a:buChar char="•"/>
            </a:pPr>
            <a:r>
              <a:rPr lang="en-US" sz="1800" dirty="0">
                <a:solidFill>
                  <a:schemeClr val="tx1"/>
                </a:solidFill>
              </a:rPr>
              <a:t>Our robotic score and readability scores are rough guides</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What's left</a:t>
            </a:r>
            <a:endParaRPr lang="en-US" sz="3600" dirty="0"/>
          </a:p>
        </p:txBody>
      </p:sp>
      <p:sp>
        <p:nvSpPr>
          <p:cNvPr id="3" name="next card 1"/>
          <p:cNvSpPr/>
          <p:nvPr/>
        </p:nvSpPr>
        <p:spPr>
          <a:xfrm>
            <a:off x="548640" y="1508760"/>
            <a:ext cx="11091672" cy="1234440"/>
          </a:xfrm>
          <a:prstGeom prst="roundRect">
            <a:avLst>
              <a:gd name="adj" fmla="val 8889"/>
            </a:avLst>
          </a:prstGeom>
          <a:solidFill>
            <a:schemeClr val="bg1"/>
          </a:solidFill>
          <a:ln/>
          <a:effectLst>
            <a:outerShdw sx="100000" sy="100000" kx="0" ky="0" algn="bl" rotWithShape="0" blurRad="76200" dist="25400" dir="5400000">
              <a:srgbClr val="000000">
                <a:alpha val="10000"/>
              </a:srgbClr>
            </a:outerShdw>
          </a:effectLst>
        </p:spPr>
      </p:sp>
      <p:sp>
        <p:nvSpPr>
          <p:cNvPr id="4" name="Text 2"/>
          <p:cNvSpPr txBox="1"/>
          <p:nvPr/>
        </p:nvSpPr>
        <p:spPr>
          <a:xfrm>
            <a:off x="868680" y="1600200"/>
            <a:ext cx="822960" cy="1051560"/>
          </a:xfrm>
          <a:prstGeom prst="rect">
            <a:avLst/>
          </a:prstGeom>
          <a:noFill/>
          <a:ln/>
        </p:spPr>
        <p:txBody>
          <a:bodyPr wrap="square" lIns="0" tIns="0" rIns="0" bIns="0" rtlCol="0" anchor="ctr"/>
          <a:lstStyle/>
          <a:p>
            <a:pPr indent="0" marL="0">
              <a:buNone/>
            </a:pPr>
            <a:r>
              <a:rPr lang="en-US" sz="5400" b="1" dirty="0">
                <a:solidFill>
                  <a:schemeClr val="accent1"/>
                </a:solidFill>
              </a:rPr>
              <a:t>1</a:t>
            </a:r>
            <a:endParaRPr lang="en-US" sz="5400" dirty="0"/>
          </a:p>
        </p:txBody>
      </p:sp>
      <p:sp>
        <p:nvSpPr>
          <p:cNvPr id="5" name="Text 3"/>
          <p:cNvSpPr txBox="1"/>
          <p:nvPr/>
        </p:nvSpPr>
        <p:spPr>
          <a:xfrm>
            <a:off x="2011680" y="1709928"/>
            <a:ext cx="9052560" cy="411480"/>
          </a:xfrm>
          <a:prstGeom prst="rect">
            <a:avLst/>
          </a:prstGeom>
          <a:noFill/>
          <a:ln/>
        </p:spPr>
        <p:txBody>
          <a:bodyPr wrap="square" lIns="0" tIns="0" rIns="0" bIns="0" rtlCol="0" anchor="t"/>
          <a:lstStyle/>
          <a:p>
            <a:pPr indent="0" marL="0">
              <a:buNone/>
            </a:pPr>
            <a:r>
              <a:rPr lang="en-US" sz="2400" b="1" dirty="0">
                <a:solidFill>
                  <a:schemeClr val="tx1"/>
                </a:solidFill>
              </a:rPr>
              <a:t>Publish it</a:t>
            </a:r>
            <a:endParaRPr lang="en-US" sz="2400" dirty="0"/>
          </a:p>
        </p:txBody>
      </p:sp>
      <p:sp>
        <p:nvSpPr>
          <p:cNvPr id="6" name="Text 4"/>
          <p:cNvSpPr txBox="1"/>
          <p:nvPr/>
        </p:nvSpPr>
        <p:spPr>
          <a:xfrm>
            <a:off x="2011680" y="2194560"/>
            <a:ext cx="9052560" cy="365760"/>
          </a:xfrm>
          <a:prstGeom prst="rect">
            <a:avLst/>
          </a:prstGeom>
          <a:noFill/>
          <a:ln/>
        </p:spPr>
        <p:txBody>
          <a:bodyPr wrap="square" lIns="0" tIns="0" rIns="0" bIns="0" rtlCol="0" anchor="t"/>
          <a:lstStyle/>
          <a:p>
            <a:pPr indent="0" marL="0">
              <a:buNone/>
            </a:pPr>
            <a:r>
              <a:rPr lang="en-US" sz="1600" dirty="0">
                <a:solidFill>
                  <a:schemeClr val="accent5"/>
                </a:solidFill>
              </a:rPr>
              <a:t>Get the live link working, test voice and screenshots on it, and practise the demo</a:t>
            </a:r>
            <a:endParaRPr lang="en-US" sz="1600" dirty="0"/>
          </a:p>
        </p:txBody>
      </p:sp>
      <p:sp>
        <p:nvSpPr>
          <p:cNvPr id="7" name="next card 2"/>
          <p:cNvSpPr/>
          <p:nvPr/>
        </p:nvSpPr>
        <p:spPr>
          <a:xfrm>
            <a:off x="548640" y="2926080"/>
            <a:ext cx="11091672" cy="1234440"/>
          </a:xfrm>
          <a:prstGeom prst="roundRect">
            <a:avLst>
              <a:gd name="adj" fmla="val 8889"/>
            </a:avLst>
          </a:prstGeom>
          <a:solidFill>
            <a:schemeClr val="bg1"/>
          </a:solidFill>
          <a:ln/>
          <a:effectLst>
            <a:outerShdw sx="100000" sy="100000" kx="0" ky="0" algn="bl" rotWithShape="0" blurRad="76200" dist="25400" dir="5400000">
              <a:srgbClr val="000000">
                <a:alpha val="10000"/>
              </a:srgbClr>
            </a:outerShdw>
          </a:effectLst>
        </p:spPr>
      </p:sp>
      <p:sp>
        <p:nvSpPr>
          <p:cNvPr id="8" name="Text 6"/>
          <p:cNvSpPr txBox="1"/>
          <p:nvPr/>
        </p:nvSpPr>
        <p:spPr>
          <a:xfrm>
            <a:off x="868680" y="3017520"/>
            <a:ext cx="822960" cy="1051560"/>
          </a:xfrm>
          <a:prstGeom prst="rect">
            <a:avLst/>
          </a:prstGeom>
          <a:noFill/>
          <a:ln/>
        </p:spPr>
        <p:txBody>
          <a:bodyPr wrap="square" lIns="0" tIns="0" rIns="0" bIns="0" rtlCol="0" anchor="ctr"/>
          <a:lstStyle/>
          <a:p>
            <a:pPr indent="0" marL="0">
              <a:buNone/>
            </a:pPr>
            <a:r>
              <a:rPr lang="en-US" sz="5400" b="1" dirty="0">
                <a:solidFill>
                  <a:schemeClr val="accent1"/>
                </a:solidFill>
              </a:rPr>
              <a:t>2</a:t>
            </a:r>
            <a:endParaRPr lang="en-US" sz="5400" dirty="0"/>
          </a:p>
        </p:txBody>
      </p:sp>
      <p:sp>
        <p:nvSpPr>
          <p:cNvPr id="9" name="Text 7"/>
          <p:cNvSpPr txBox="1"/>
          <p:nvPr/>
        </p:nvSpPr>
        <p:spPr>
          <a:xfrm>
            <a:off x="2011680" y="3127248"/>
            <a:ext cx="9052560" cy="411480"/>
          </a:xfrm>
          <a:prstGeom prst="rect">
            <a:avLst/>
          </a:prstGeom>
          <a:noFill/>
          <a:ln/>
        </p:spPr>
        <p:txBody>
          <a:bodyPr wrap="square" lIns="0" tIns="0" rIns="0" bIns="0" rtlCol="0" anchor="t"/>
          <a:lstStyle/>
          <a:p>
            <a:pPr indent="0" marL="0">
              <a:buNone/>
            </a:pPr>
            <a:r>
              <a:rPr lang="en-US" sz="2400" b="1" dirty="0">
                <a:solidFill>
                  <a:schemeClr val="tx1"/>
                </a:solidFill>
              </a:rPr>
              <a:t>Fill the gaps</a:t>
            </a:r>
            <a:endParaRPr lang="en-US" sz="2400" dirty="0"/>
          </a:p>
        </p:txBody>
      </p:sp>
      <p:sp>
        <p:nvSpPr>
          <p:cNvPr id="10" name="Text 8"/>
          <p:cNvSpPr txBox="1"/>
          <p:nvPr/>
        </p:nvSpPr>
        <p:spPr>
          <a:xfrm>
            <a:off x="2011680" y="3611880"/>
            <a:ext cx="9052560" cy="365760"/>
          </a:xfrm>
          <a:prstGeom prst="rect">
            <a:avLst/>
          </a:prstGeom>
          <a:noFill/>
          <a:ln/>
        </p:spPr>
        <p:txBody>
          <a:bodyPr wrap="square" lIns="0" tIns="0" rIns="0" bIns="0" rtlCol="0" anchor="t"/>
          <a:lstStyle/>
          <a:p>
            <a:pPr indent="0" marL="0">
              <a:buNone/>
            </a:pPr>
            <a:r>
              <a:rPr lang="en-US" sz="1600" dirty="0">
                <a:solidFill>
                  <a:schemeClr val="accent5"/>
                </a:solidFill>
              </a:rPr>
              <a:t>Intent, consistency across messages, and tests for meaning and tone</a:t>
            </a:r>
            <a:endParaRPr lang="en-US" sz="1600" dirty="0"/>
          </a:p>
        </p:txBody>
      </p:sp>
      <p:sp>
        <p:nvSpPr>
          <p:cNvPr id="11" name="next card 3"/>
          <p:cNvSpPr/>
          <p:nvPr/>
        </p:nvSpPr>
        <p:spPr>
          <a:xfrm>
            <a:off x="548640" y="4343400"/>
            <a:ext cx="11091672" cy="1234440"/>
          </a:xfrm>
          <a:prstGeom prst="roundRect">
            <a:avLst>
              <a:gd name="adj" fmla="val 8889"/>
            </a:avLst>
          </a:prstGeom>
          <a:solidFill>
            <a:schemeClr val="bg1"/>
          </a:solidFill>
          <a:ln/>
          <a:effectLst>
            <a:outerShdw sx="100000" sy="100000" kx="0" ky="0" algn="bl" rotWithShape="0" blurRad="76200" dist="25400" dir="5400000">
              <a:srgbClr val="000000">
                <a:alpha val="10000"/>
              </a:srgbClr>
            </a:outerShdw>
          </a:effectLst>
        </p:spPr>
      </p:sp>
      <p:sp>
        <p:nvSpPr>
          <p:cNvPr id="12" name="Text 10"/>
          <p:cNvSpPr txBox="1"/>
          <p:nvPr/>
        </p:nvSpPr>
        <p:spPr>
          <a:xfrm>
            <a:off x="868680" y="4434840"/>
            <a:ext cx="822960" cy="1051560"/>
          </a:xfrm>
          <a:prstGeom prst="rect">
            <a:avLst/>
          </a:prstGeom>
          <a:noFill/>
          <a:ln/>
        </p:spPr>
        <p:txBody>
          <a:bodyPr wrap="square" lIns="0" tIns="0" rIns="0" bIns="0" rtlCol="0" anchor="ctr"/>
          <a:lstStyle/>
          <a:p>
            <a:pPr indent="0" marL="0">
              <a:buNone/>
            </a:pPr>
            <a:r>
              <a:rPr lang="en-US" sz="5400" b="1" dirty="0">
                <a:solidFill>
                  <a:schemeClr val="accent1"/>
                </a:solidFill>
              </a:rPr>
              <a:t>3</a:t>
            </a:r>
            <a:endParaRPr lang="en-US" sz="5400" dirty="0"/>
          </a:p>
        </p:txBody>
      </p:sp>
      <p:sp>
        <p:nvSpPr>
          <p:cNvPr id="13" name="Text 11"/>
          <p:cNvSpPr txBox="1"/>
          <p:nvPr/>
        </p:nvSpPr>
        <p:spPr>
          <a:xfrm>
            <a:off x="2011680" y="4544568"/>
            <a:ext cx="9052560" cy="411480"/>
          </a:xfrm>
          <a:prstGeom prst="rect">
            <a:avLst/>
          </a:prstGeom>
          <a:noFill/>
          <a:ln/>
        </p:spPr>
        <p:txBody>
          <a:bodyPr wrap="square" lIns="0" tIns="0" rIns="0" bIns="0" rtlCol="0" anchor="t"/>
          <a:lstStyle/>
          <a:p>
            <a:pPr indent="0" marL="0">
              <a:buNone/>
            </a:pPr>
            <a:r>
              <a:rPr lang="en-US" sz="2400" b="1" dirty="0">
                <a:solidFill>
                  <a:schemeClr val="tx1"/>
                </a:solidFill>
              </a:rPr>
              <a:t>Add the extras</a:t>
            </a:r>
            <a:endParaRPr lang="en-US" sz="2400" dirty="0"/>
          </a:p>
        </p:txBody>
      </p:sp>
      <p:sp>
        <p:nvSpPr>
          <p:cNvPr id="14" name="Text 12"/>
          <p:cNvSpPr txBox="1"/>
          <p:nvPr/>
        </p:nvSpPr>
        <p:spPr>
          <a:xfrm>
            <a:off x="2011680" y="5029200"/>
            <a:ext cx="9052560" cy="365760"/>
          </a:xfrm>
          <a:prstGeom prst="rect">
            <a:avLst/>
          </a:prstGeom>
          <a:noFill/>
          <a:ln/>
        </p:spPr>
        <p:txBody>
          <a:bodyPr wrap="square" lIns="0" tIns="0" rIns="0" bIns="0" rtlCol="0" anchor="t"/>
          <a:lstStyle/>
          <a:p>
            <a:pPr indent="0" marL="0">
              <a:buNone/>
            </a:pPr>
            <a:r>
              <a:rPr lang="en-US" sz="1600" dirty="0">
                <a:solidFill>
                  <a:schemeClr val="accent5"/>
                </a:solidFill>
              </a:rPr>
              <a:t>Privacy shield, change explanations and a review log</a:t>
            </a:r>
            <a:endParaRPr lang="en-US" sz="1600" dirty="0"/>
          </a:p>
        </p:txBody>
      </p:sp>
      <p:sp>
        <p:nvSpPr>
          <p:cNvPr id="15" name="Text 13"/>
          <p:cNvSpPr txBox="1"/>
          <p:nvPr/>
        </p:nvSpPr>
        <p:spPr>
          <a:xfrm>
            <a:off x="548640" y="5852160"/>
            <a:ext cx="11091672" cy="411480"/>
          </a:xfrm>
          <a:prstGeom prst="rect">
            <a:avLst/>
          </a:prstGeom>
          <a:noFill/>
          <a:ln/>
        </p:spPr>
        <p:txBody>
          <a:bodyPr wrap="square" lIns="0" tIns="0" rIns="0" bIns="0" rtlCol="0" anchor="t"/>
          <a:lstStyle/>
          <a:p>
            <a:pPr indent="0" marL="0">
              <a:buNone/>
            </a:pPr>
            <a:r>
              <a:rPr lang="en-US" sz="2000" b="1" dirty="0">
                <a:solidFill>
                  <a:schemeClr val="accent1"/>
                </a:solidFill>
              </a:rPr>
              <a:t>Questions? We'd love your feedback.</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New: voice, screenshots and readability</a:t>
            </a:r>
            <a:endParaRPr lang="en-US" sz="3600" dirty="0"/>
          </a:p>
        </p:txBody>
      </p:sp>
      <p:sp>
        <p:nvSpPr>
          <p:cNvPr id="3" name="built card 1"/>
          <p:cNvSpPr/>
          <p:nvPr/>
        </p:nvSpPr>
        <p:spPr>
          <a:xfrm>
            <a:off x="548640"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4" name="Voice input circle"/>
          <p:cNvSpPr/>
          <p:nvPr/>
        </p:nvSpPr>
        <p:spPr>
          <a:xfrm>
            <a:off x="777240" y="1618488"/>
            <a:ext cx="548640" cy="548640"/>
          </a:xfrm>
          <a:prstGeom prst="ellipse">
            <a:avLst/>
          </a:prstGeom>
          <a:solidFill>
            <a:srgbClr val="0E7C7B"/>
          </a:solidFill>
          <a:ln/>
        </p:spPr>
      </p:sp>
      <p:pic>
        <p:nvPicPr>
          <p:cNvPr id="5" name="Image 0" descr="Voice input">    </p:cNvPr>
          <p:cNvPicPr>
            <a:picLocks noChangeAspect="1"/>
          </p:cNvPicPr>
          <p:nvPr/>
        </p:nvPicPr>
        <p:blipFill>
          <a:blip r:embed="rId1"/>
          <a:stretch>
            <a:fillRect/>
          </a:stretch>
        </p:blipFill>
        <p:spPr>
          <a:xfrm>
            <a:off x="914400" y="1755648"/>
            <a:ext cx="274320" cy="274320"/>
          </a:xfrm>
          <a:prstGeom prst="rect">
            <a:avLst/>
          </a:prstGeom>
        </p:spPr>
      </p:pic>
      <p:sp>
        <p:nvSpPr>
          <p:cNvPr id="6" name="done tag 1"/>
          <p:cNvSpPr/>
          <p:nvPr/>
        </p:nvSpPr>
        <p:spPr>
          <a:xfrm>
            <a:off x="3063240" y="1746504"/>
            <a:ext cx="822960" cy="274320"/>
          </a:xfrm>
          <a:prstGeom prst="roundRect">
            <a:avLst>
              <a:gd name="adj" fmla="val 26667"/>
            </a:avLst>
          </a:prstGeom>
          <a:solidFill>
            <a:srgbClr val="F2A541"/>
          </a:solidFill>
          <a:ln/>
        </p:spPr>
      </p:sp>
      <p:sp>
        <p:nvSpPr>
          <p:cNvPr id="7" name="Text 4"/>
          <p:cNvSpPr txBox="1"/>
          <p:nvPr/>
        </p:nvSpPr>
        <p:spPr>
          <a:xfrm>
            <a:off x="3063240" y="1746504"/>
            <a:ext cx="822960" cy="274320"/>
          </a:xfrm>
          <a:prstGeom prst="rect">
            <a:avLst/>
          </a:prstGeom>
          <a:noFill/>
          <a:ln/>
        </p:spPr>
        <p:txBody>
          <a:bodyPr wrap="square" lIns="0" tIns="0" rIns="0" bIns="0" rtlCol="0" anchor="ctr"/>
          <a:lstStyle/>
          <a:p>
            <a:pPr algn="ctr" indent="0" marL="0">
              <a:buNone/>
            </a:pPr>
            <a:r>
              <a:rPr lang="en-US" sz="1100" b="1" dirty="0">
                <a:solidFill>
                  <a:schemeClr val="tx1"/>
                </a:solidFill>
              </a:rPr>
              <a:t>Test live</a:t>
            </a:r>
            <a:endParaRPr lang="en-US" sz="1100" dirty="0"/>
          </a:p>
        </p:txBody>
      </p:sp>
      <p:sp>
        <p:nvSpPr>
          <p:cNvPr id="8" name="Text 5"/>
          <p:cNvSpPr txBox="1"/>
          <p:nvPr/>
        </p:nvSpPr>
        <p:spPr>
          <a:xfrm>
            <a:off x="777240"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Voice input</a:t>
            </a:r>
            <a:endParaRPr lang="en-US" sz="1800" dirty="0"/>
          </a:p>
        </p:txBody>
      </p:sp>
      <p:sp>
        <p:nvSpPr>
          <p:cNvPr id="9" name="Text 6"/>
          <p:cNvSpPr txBox="1"/>
          <p:nvPr/>
        </p:nvSpPr>
        <p:spPr>
          <a:xfrm>
            <a:off x="777240"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Record your text. It is typed out so you can edit it, then rewritten.</a:t>
            </a:r>
            <a:endParaRPr lang="en-US" sz="1400" dirty="0"/>
          </a:p>
        </p:txBody>
      </p:sp>
      <p:sp>
        <p:nvSpPr>
          <p:cNvPr id="10" name="built card 2"/>
          <p:cNvSpPr/>
          <p:nvPr/>
        </p:nvSpPr>
        <p:spPr>
          <a:xfrm>
            <a:off x="4311396"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11" name="Listen aloud circle"/>
          <p:cNvSpPr/>
          <p:nvPr/>
        </p:nvSpPr>
        <p:spPr>
          <a:xfrm>
            <a:off x="4539996" y="1618488"/>
            <a:ext cx="548640" cy="548640"/>
          </a:xfrm>
          <a:prstGeom prst="ellipse">
            <a:avLst/>
          </a:prstGeom>
          <a:solidFill>
            <a:srgbClr val="0E7C7B"/>
          </a:solidFill>
          <a:ln/>
        </p:spPr>
      </p:sp>
      <p:pic>
        <p:nvPicPr>
          <p:cNvPr id="12" name="Image 1" descr="Listen aloud">    </p:cNvPr>
          <p:cNvPicPr>
            <a:picLocks noChangeAspect="1"/>
          </p:cNvPicPr>
          <p:nvPr/>
        </p:nvPicPr>
        <p:blipFill>
          <a:blip r:embed="rId2"/>
          <a:stretch>
            <a:fillRect/>
          </a:stretch>
        </p:blipFill>
        <p:spPr>
          <a:xfrm>
            <a:off x="4677156" y="1755648"/>
            <a:ext cx="274320" cy="274320"/>
          </a:xfrm>
          <a:prstGeom prst="rect">
            <a:avLst/>
          </a:prstGeom>
        </p:spPr>
      </p:pic>
      <p:sp>
        <p:nvSpPr>
          <p:cNvPr id="13" name="done tag 2"/>
          <p:cNvSpPr/>
          <p:nvPr/>
        </p:nvSpPr>
        <p:spPr>
          <a:xfrm>
            <a:off x="6825996" y="1746504"/>
            <a:ext cx="822960" cy="274320"/>
          </a:xfrm>
          <a:prstGeom prst="roundRect">
            <a:avLst>
              <a:gd name="adj" fmla="val 26667"/>
            </a:avLst>
          </a:prstGeom>
          <a:solidFill>
            <a:srgbClr val="F2A541"/>
          </a:solidFill>
          <a:ln/>
        </p:spPr>
      </p:sp>
      <p:sp>
        <p:nvSpPr>
          <p:cNvPr id="14" name="Text 10"/>
          <p:cNvSpPr txBox="1"/>
          <p:nvPr/>
        </p:nvSpPr>
        <p:spPr>
          <a:xfrm>
            <a:off x="6825996" y="1746504"/>
            <a:ext cx="822960" cy="274320"/>
          </a:xfrm>
          <a:prstGeom prst="rect">
            <a:avLst/>
          </a:prstGeom>
          <a:noFill/>
          <a:ln/>
        </p:spPr>
        <p:txBody>
          <a:bodyPr wrap="square" lIns="0" tIns="0" rIns="0" bIns="0" rtlCol="0" anchor="ctr"/>
          <a:lstStyle/>
          <a:p>
            <a:pPr algn="ctr" indent="0" marL="0">
              <a:buNone/>
            </a:pPr>
            <a:r>
              <a:rPr lang="en-US" sz="1100" b="1" dirty="0">
                <a:solidFill>
                  <a:schemeClr val="tx1"/>
                </a:solidFill>
              </a:rPr>
              <a:t>Test live</a:t>
            </a:r>
            <a:endParaRPr lang="en-US" sz="1100" dirty="0"/>
          </a:p>
        </p:txBody>
      </p:sp>
      <p:sp>
        <p:nvSpPr>
          <p:cNvPr id="15" name="Text 11"/>
          <p:cNvSpPr txBox="1"/>
          <p:nvPr/>
        </p:nvSpPr>
        <p:spPr>
          <a:xfrm>
            <a:off x="4539996"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Listen aloud</a:t>
            </a:r>
            <a:endParaRPr lang="en-US" sz="1800" dirty="0"/>
          </a:p>
        </p:txBody>
      </p:sp>
      <p:sp>
        <p:nvSpPr>
          <p:cNvPr id="16" name="Text 12"/>
          <p:cNvSpPr txBox="1"/>
          <p:nvPr/>
        </p:nvSpPr>
        <p:spPr>
          <a:xfrm>
            <a:off x="4539996"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Hear any rewrite, or the text from a screenshot, read out loud.</a:t>
            </a:r>
            <a:endParaRPr lang="en-US" sz="1400" dirty="0"/>
          </a:p>
        </p:txBody>
      </p:sp>
      <p:sp>
        <p:nvSpPr>
          <p:cNvPr id="17" name="built card 3"/>
          <p:cNvSpPr/>
          <p:nvPr/>
        </p:nvSpPr>
        <p:spPr>
          <a:xfrm>
            <a:off x="8074152" y="141732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18" name="Screenshot reader circle"/>
          <p:cNvSpPr/>
          <p:nvPr/>
        </p:nvSpPr>
        <p:spPr>
          <a:xfrm>
            <a:off x="8302752" y="1618488"/>
            <a:ext cx="548640" cy="548640"/>
          </a:xfrm>
          <a:prstGeom prst="ellipse">
            <a:avLst/>
          </a:prstGeom>
          <a:solidFill>
            <a:srgbClr val="0E7C7B"/>
          </a:solidFill>
          <a:ln/>
        </p:spPr>
      </p:sp>
      <p:pic>
        <p:nvPicPr>
          <p:cNvPr id="19" name="Image 2" descr="Screenshot reader">    </p:cNvPr>
          <p:cNvPicPr>
            <a:picLocks noChangeAspect="1"/>
          </p:cNvPicPr>
          <p:nvPr/>
        </p:nvPicPr>
        <p:blipFill>
          <a:blip r:embed="rId3"/>
          <a:stretch>
            <a:fillRect/>
          </a:stretch>
        </p:blipFill>
        <p:spPr>
          <a:xfrm>
            <a:off x="8439912" y="1755648"/>
            <a:ext cx="274320" cy="274320"/>
          </a:xfrm>
          <a:prstGeom prst="rect">
            <a:avLst/>
          </a:prstGeom>
        </p:spPr>
      </p:pic>
      <p:sp>
        <p:nvSpPr>
          <p:cNvPr id="20" name="done tag 3"/>
          <p:cNvSpPr/>
          <p:nvPr/>
        </p:nvSpPr>
        <p:spPr>
          <a:xfrm>
            <a:off x="10588752" y="1746504"/>
            <a:ext cx="822960" cy="274320"/>
          </a:xfrm>
          <a:prstGeom prst="roundRect">
            <a:avLst>
              <a:gd name="adj" fmla="val 26667"/>
            </a:avLst>
          </a:prstGeom>
          <a:solidFill>
            <a:srgbClr val="F2A541"/>
          </a:solidFill>
          <a:ln/>
        </p:spPr>
      </p:sp>
      <p:sp>
        <p:nvSpPr>
          <p:cNvPr id="21" name="Text 16"/>
          <p:cNvSpPr txBox="1"/>
          <p:nvPr/>
        </p:nvSpPr>
        <p:spPr>
          <a:xfrm>
            <a:off x="10588752" y="1746504"/>
            <a:ext cx="822960" cy="274320"/>
          </a:xfrm>
          <a:prstGeom prst="rect">
            <a:avLst/>
          </a:prstGeom>
          <a:noFill/>
          <a:ln/>
        </p:spPr>
        <p:txBody>
          <a:bodyPr wrap="square" lIns="0" tIns="0" rIns="0" bIns="0" rtlCol="0" anchor="ctr"/>
          <a:lstStyle/>
          <a:p>
            <a:pPr algn="ctr" indent="0" marL="0">
              <a:buNone/>
            </a:pPr>
            <a:r>
              <a:rPr lang="en-US" sz="1100" b="1" dirty="0">
                <a:solidFill>
                  <a:schemeClr val="tx1"/>
                </a:solidFill>
              </a:rPr>
              <a:t>Test live</a:t>
            </a:r>
            <a:endParaRPr lang="en-US" sz="1100" dirty="0"/>
          </a:p>
        </p:txBody>
      </p:sp>
      <p:sp>
        <p:nvSpPr>
          <p:cNvPr id="22" name="Text 17"/>
          <p:cNvSpPr txBox="1"/>
          <p:nvPr/>
        </p:nvSpPr>
        <p:spPr>
          <a:xfrm>
            <a:off x="8302752" y="22860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Screenshot reader</a:t>
            </a:r>
            <a:endParaRPr lang="en-US" sz="1800" dirty="0"/>
          </a:p>
        </p:txBody>
      </p:sp>
      <p:sp>
        <p:nvSpPr>
          <p:cNvPr id="23" name="Text 18"/>
          <p:cNvSpPr txBox="1"/>
          <p:nvPr/>
        </p:nvSpPr>
        <p:spPr>
          <a:xfrm>
            <a:off x="8302752" y="267919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Pulls the text out of an image, or explains what it shows in plain words.</a:t>
            </a:r>
            <a:endParaRPr lang="en-US" sz="1400" dirty="0"/>
          </a:p>
        </p:txBody>
      </p:sp>
      <p:sp>
        <p:nvSpPr>
          <p:cNvPr id="24" name="built card 4"/>
          <p:cNvSpPr/>
          <p:nvPr/>
        </p:nvSpPr>
        <p:spPr>
          <a:xfrm>
            <a:off x="548640"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25" name="Screenshot to rewrite circle"/>
          <p:cNvSpPr/>
          <p:nvPr/>
        </p:nvSpPr>
        <p:spPr>
          <a:xfrm>
            <a:off x="777240" y="4041648"/>
            <a:ext cx="548640" cy="548640"/>
          </a:xfrm>
          <a:prstGeom prst="ellipse">
            <a:avLst/>
          </a:prstGeom>
          <a:solidFill>
            <a:srgbClr val="0E7C7B"/>
          </a:solidFill>
          <a:ln/>
        </p:spPr>
      </p:sp>
      <p:pic>
        <p:nvPicPr>
          <p:cNvPr id="26" name="Image 3" descr="Screenshot to rewrite">    </p:cNvPr>
          <p:cNvPicPr>
            <a:picLocks noChangeAspect="1"/>
          </p:cNvPicPr>
          <p:nvPr/>
        </p:nvPicPr>
        <p:blipFill>
          <a:blip r:embed="rId4"/>
          <a:stretch>
            <a:fillRect/>
          </a:stretch>
        </p:blipFill>
        <p:spPr>
          <a:xfrm>
            <a:off x="914400" y="4178808"/>
            <a:ext cx="274320" cy="274320"/>
          </a:xfrm>
          <a:prstGeom prst="rect">
            <a:avLst/>
          </a:prstGeom>
        </p:spPr>
      </p:pic>
      <p:sp>
        <p:nvSpPr>
          <p:cNvPr id="27" name="done tag 4"/>
          <p:cNvSpPr/>
          <p:nvPr/>
        </p:nvSpPr>
        <p:spPr>
          <a:xfrm>
            <a:off x="3063240" y="4169664"/>
            <a:ext cx="822960" cy="274320"/>
          </a:xfrm>
          <a:prstGeom prst="roundRect">
            <a:avLst>
              <a:gd name="adj" fmla="val 26667"/>
            </a:avLst>
          </a:prstGeom>
          <a:solidFill>
            <a:srgbClr val="F2A541"/>
          </a:solidFill>
          <a:ln/>
        </p:spPr>
      </p:sp>
      <p:sp>
        <p:nvSpPr>
          <p:cNvPr id="28" name="Text 22"/>
          <p:cNvSpPr txBox="1"/>
          <p:nvPr/>
        </p:nvSpPr>
        <p:spPr>
          <a:xfrm>
            <a:off x="3063240" y="4169664"/>
            <a:ext cx="822960" cy="274320"/>
          </a:xfrm>
          <a:prstGeom prst="rect">
            <a:avLst/>
          </a:prstGeom>
          <a:noFill/>
          <a:ln/>
        </p:spPr>
        <p:txBody>
          <a:bodyPr wrap="square" lIns="0" tIns="0" rIns="0" bIns="0" rtlCol="0" anchor="ctr"/>
          <a:lstStyle/>
          <a:p>
            <a:pPr algn="ctr" indent="0" marL="0">
              <a:buNone/>
            </a:pPr>
            <a:r>
              <a:rPr lang="en-US" sz="1100" b="1" dirty="0">
                <a:solidFill>
                  <a:schemeClr val="tx1"/>
                </a:solidFill>
              </a:rPr>
              <a:t>Test live</a:t>
            </a:r>
            <a:endParaRPr lang="en-US" sz="1100" dirty="0"/>
          </a:p>
        </p:txBody>
      </p:sp>
      <p:sp>
        <p:nvSpPr>
          <p:cNvPr id="29" name="Text 23"/>
          <p:cNvSpPr txBox="1"/>
          <p:nvPr/>
        </p:nvSpPr>
        <p:spPr>
          <a:xfrm>
            <a:off x="777240"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Screenshot to rewrite</a:t>
            </a:r>
            <a:endParaRPr lang="en-US" sz="1800" dirty="0"/>
          </a:p>
        </p:txBody>
      </p:sp>
      <p:sp>
        <p:nvSpPr>
          <p:cNvPr id="30" name="Text 24"/>
          <p:cNvSpPr txBox="1"/>
          <p:nvPr/>
        </p:nvSpPr>
        <p:spPr>
          <a:xfrm>
            <a:off x="777240"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Send what was read from a screenshot straight into the fact lock and rewrite.</a:t>
            </a:r>
            <a:endParaRPr lang="en-US" sz="1400" dirty="0"/>
          </a:p>
        </p:txBody>
      </p:sp>
      <p:sp>
        <p:nvSpPr>
          <p:cNvPr id="31" name="built card 5"/>
          <p:cNvSpPr/>
          <p:nvPr/>
        </p:nvSpPr>
        <p:spPr>
          <a:xfrm>
            <a:off x="4311396"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32" name="Readability scores circle"/>
          <p:cNvSpPr/>
          <p:nvPr/>
        </p:nvSpPr>
        <p:spPr>
          <a:xfrm>
            <a:off x="4539996" y="4041648"/>
            <a:ext cx="548640" cy="548640"/>
          </a:xfrm>
          <a:prstGeom prst="ellipse">
            <a:avLst/>
          </a:prstGeom>
          <a:solidFill>
            <a:srgbClr val="0E7C7B"/>
          </a:solidFill>
          <a:ln/>
        </p:spPr>
      </p:sp>
      <p:pic>
        <p:nvPicPr>
          <p:cNvPr id="33" name="Image 4" descr="Readability scores">    </p:cNvPr>
          <p:cNvPicPr>
            <a:picLocks noChangeAspect="1"/>
          </p:cNvPicPr>
          <p:nvPr/>
        </p:nvPicPr>
        <p:blipFill>
          <a:blip r:embed="rId5"/>
          <a:stretch>
            <a:fillRect/>
          </a:stretch>
        </p:blipFill>
        <p:spPr>
          <a:xfrm>
            <a:off x="4677156" y="4178808"/>
            <a:ext cx="274320" cy="274320"/>
          </a:xfrm>
          <a:prstGeom prst="rect">
            <a:avLst/>
          </a:prstGeom>
        </p:spPr>
      </p:pic>
      <p:sp>
        <p:nvSpPr>
          <p:cNvPr id="34" name="done tag 5"/>
          <p:cNvSpPr/>
          <p:nvPr/>
        </p:nvSpPr>
        <p:spPr>
          <a:xfrm>
            <a:off x="6825996" y="4169664"/>
            <a:ext cx="822960" cy="274320"/>
          </a:xfrm>
          <a:prstGeom prst="roundRect">
            <a:avLst>
              <a:gd name="adj" fmla="val 26667"/>
            </a:avLst>
          </a:prstGeom>
          <a:solidFill>
            <a:srgbClr val="2E8B57"/>
          </a:solidFill>
          <a:ln/>
        </p:spPr>
      </p:sp>
      <p:sp>
        <p:nvSpPr>
          <p:cNvPr id="35" name="Text 28"/>
          <p:cNvSpPr txBox="1"/>
          <p:nvPr/>
        </p:nvSpPr>
        <p:spPr>
          <a:xfrm>
            <a:off x="6825996" y="4169664"/>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Working</a:t>
            </a:r>
            <a:endParaRPr lang="en-US" sz="1100" dirty="0"/>
          </a:p>
        </p:txBody>
      </p:sp>
      <p:sp>
        <p:nvSpPr>
          <p:cNvPr id="36" name="Text 29"/>
          <p:cNvSpPr txBox="1"/>
          <p:nvPr/>
        </p:nvSpPr>
        <p:spPr>
          <a:xfrm>
            <a:off x="4539996"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Readability scores</a:t>
            </a:r>
            <a:endParaRPr lang="en-US" sz="1800" dirty="0"/>
          </a:p>
        </p:txBody>
      </p:sp>
      <p:sp>
        <p:nvSpPr>
          <p:cNvPr id="37" name="Text 30"/>
          <p:cNvSpPr txBox="1"/>
          <p:nvPr/>
        </p:nvSpPr>
        <p:spPr>
          <a:xfrm>
            <a:off x="4539996"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Six standard formulas and an overall score, with before and after for each.</a:t>
            </a:r>
            <a:endParaRPr lang="en-US" sz="1400" dirty="0"/>
          </a:p>
        </p:txBody>
      </p:sp>
      <p:sp>
        <p:nvSpPr>
          <p:cNvPr id="38" name="built card 6"/>
          <p:cNvSpPr/>
          <p:nvPr/>
        </p:nvSpPr>
        <p:spPr>
          <a:xfrm>
            <a:off x="8074152" y="3840480"/>
            <a:ext cx="3566160" cy="2194560"/>
          </a:xfrm>
          <a:prstGeom prst="roundRect">
            <a:avLst>
              <a:gd name="adj" fmla="val 5000"/>
            </a:avLst>
          </a:prstGeom>
          <a:solidFill>
            <a:schemeClr val="bg2"/>
          </a:solidFill>
          <a:ln/>
          <a:effectLst>
            <a:outerShdw sx="100000" sy="100000" kx="0" ky="0" algn="bl" rotWithShape="0" blurRad="76200" dist="25400" dir="5400000">
              <a:srgbClr val="000000">
                <a:alpha val="10000"/>
              </a:srgbClr>
            </a:outerShdw>
          </a:effectLst>
        </p:spPr>
      </p:sp>
      <p:sp>
        <p:nvSpPr>
          <p:cNvPr id="39" name="Export and copy circle"/>
          <p:cNvSpPr/>
          <p:nvPr/>
        </p:nvSpPr>
        <p:spPr>
          <a:xfrm>
            <a:off x="8302752" y="4041648"/>
            <a:ext cx="548640" cy="548640"/>
          </a:xfrm>
          <a:prstGeom prst="ellipse">
            <a:avLst/>
          </a:prstGeom>
          <a:solidFill>
            <a:srgbClr val="0E7C7B"/>
          </a:solidFill>
          <a:ln/>
        </p:spPr>
      </p:sp>
      <p:pic>
        <p:nvPicPr>
          <p:cNvPr id="40" name="Image 5" descr="Export and copy">    </p:cNvPr>
          <p:cNvPicPr>
            <a:picLocks noChangeAspect="1"/>
          </p:cNvPicPr>
          <p:nvPr/>
        </p:nvPicPr>
        <p:blipFill>
          <a:blip r:embed="rId6"/>
          <a:stretch>
            <a:fillRect/>
          </a:stretch>
        </p:blipFill>
        <p:spPr>
          <a:xfrm>
            <a:off x="8439912" y="4178808"/>
            <a:ext cx="274320" cy="274320"/>
          </a:xfrm>
          <a:prstGeom prst="rect">
            <a:avLst/>
          </a:prstGeom>
        </p:spPr>
      </p:pic>
      <p:sp>
        <p:nvSpPr>
          <p:cNvPr id="41" name="done tag 6"/>
          <p:cNvSpPr/>
          <p:nvPr/>
        </p:nvSpPr>
        <p:spPr>
          <a:xfrm>
            <a:off x="10588752" y="4169664"/>
            <a:ext cx="822960" cy="274320"/>
          </a:xfrm>
          <a:prstGeom prst="roundRect">
            <a:avLst>
              <a:gd name="adj" fmla="val 26667"/>
            </a:avLst>
          </a:prstGeom>
          <a:solidFill>
            <a:srgbClr val="2E8B57"/>
          </a:solidFill>
          <a:ln/>
        </p:spPr>
      </p:sp>
      <p:sp>
        <p:nvSpPr>
          <p:cNvPr id="42" name="Text 34"/>
          <p:cNvSpPr txBox="1"/>
          <p:nvPr/>
        </p:nvSpPr>
        <p:spPr>
          <a:xfrm>
            <a:off x="10588752" y="4169664"/>
            <a:ext cx="822960" cy="274320"/>
          </a:xfrm>
          <a:prstGeom prst="rect">
            <a:avLst/>
          </a:prstGeom>
          <a:noFill/>
          <a:ln/>
        </p:spPr>
        <p:txBody>
          <a:bodyPr wrap="square" lIns="0" tIns="0" rIns="0" bIns="0" rtlCol="0" anchor="ctr"/>
          <a:lstStyle/>
          <a:p>
            <a:pPr algn="ctr" indent="0" marL="0">
              <a:buNone/>
            </a:pPr>
            <a:r>
              <a:rPr lang="en-US" sz="1100" b="1" dirty="0">
                <a:solidFill>
                  <a:schemeClr val="bg1"/>
                </a:solidFill>
              </a:rPr>
              <a:t>Working</a:t>
            </a:r>
            <a:endParaRPr lang="en-US" sz="1100" dirty="0"/>
          </a:p>
        </p:txBody>
      </p:sp>
      <p:sp>
        <p:nvSpPr>
          <p:cNvPr id="43" name="Text 35"/>
          <p:cNvSpPr txBox="1"/>
          <p:nvPr/>
        </p:nvSpPr>
        <p:spPr>
          <a:xfrm>
            <a:off x="8302752" y="4709160"/>
            <a:ext cx="3108960" cy="365760"/>
          </a:xfrm>
          <a:prstGeom prst="rect">
            <a:avLst/>
          </a:prstGeom>
          <a:noFill/>
          <a:ln/>
        </p:spPr>
        <p:txBody>
          <a:bodyPr wrap="square" lIns="0" tIns="0" rIns="0" bIns="0" rtlCol="0" anchor="t"/>
          <a:lstStyle/>
          <a:p>
            <a:pPr indent="0" marL="0">
              <a:buNone/>
            </a:pPr>
            <a:r>
              <a:rPr lang="en-US" sz="1800" b="1" dirty="0">
                <a:solidFill>
                  <a:schemeClr val="tx1"/>
                </a:solidFill>
              </a:rPr>
              <a:t>Export and copy</a:t>
            </a:r>
            <a:endParaRPr lang="en-US" sz="1800" dirty="0"/>
          </a:p>
        </p:txBody>
      </p:sp>
      <p:sp>
        <p:nvSpPr>
          <p:cNvPr id="44" name="Text 36"/>
          <p:cNvSpPr txBox="1"/>
          <p:nvPr/>
        </p:nvSpPr>
        <p:spPr>
          <a:xfrm>
            <a:off x="8302752" y="5102352"/>
            <a:ext cx="3108960" cy="868680"/>
          </a:xfrm>
          <a:prstGeom prst="rect">
            <a:avLst/>
          </a:prstGeom>
          <a:noFill/>
          <a:ln/>
        </p:spPr>
        <p:txBody>
          <a:bodyPr wrap="square" lIns="0" tIns="0" rIns="0" bIns="0" rtlCol="0" anchor="t"/>
          <a:lstStyle/>
          <a:p>
            <a:pPr indent="0" marL="0">
              <a:buNone/>
            </a:pPr>
            <a:r>
              <a:rPr lang="en-US" sz="1400" dirty="0">
                <a:solidFill>
                  <a:schemeClr val="accent5"/>
                </a:solidFill>
              </a:rPr>
              <a:t>Download the scores as a CSV file, or copy them all as text.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1"/>
                </a:solidFill>
              </a:rPr>
              <a:t>Readability scores for every rewrite</a:t>
            </a:r>
            <a:endParaRPr lang="en-US" sz="3600" dirty="0"/>
          </a:p>
        </p:txBody>
      </p:sp>
      <p:pic>
        <p:nvPicPr>
          <p:cNvPr id="30" name="Readability dashboard" descr="Screenshot of the readability dashboard: an overall score gauge and six readability formula cards"/>
          <p:cNvPicPr>
            <a:picLocks noChangeAspect="1"/>
          </p:cNvPicPr>
          <p:nvPr/>
        </p:nvPicPr>
        <p:blipFill>
          <a:blip r:embed="rId3"/>
          <a:stretch>
            <a:fillRect/>
          </a:stretch>
        </p:blipFill>
        <p:spPr>
          <a:xfrm>
            <a:off x="548640" y="1325880"/>
            <a:ext cx="5280916" cy="4572000"/>
          </a:xfrm>
          <a:prstGeom prst="rect">
            <a:avLst/>
          </a:prstGeom>
          <a:ln w="9525">
            <a:solidFill>
              <a:srgbClr val="D5DEE3"/>
            </a:solidFill>
          </a:ln>
        </p:spPr>
      </p:pic>
      <p:sp>
        <p:nvSpPr>
          <p:cNvPr id="4" name="Text 1"/>
          <p:cNvSpPr txBox="1"/>
          <p:nvPr/>
        </p:nvSpPr>
        <p:spPr>
          <a:xfrm>
            <a:off x="548640" y="5943600"/>
            <a:ext cx="5280916" cy="411480"/>
          </a:xfrm>
          <a:prstGeom prst="rect">
            <a:avLst/>
          </a:prstGeom>
          <a:noFill/>
          <a:ln/>
        </p:spPr>
        <p:txBody>
          <a:bodyPr wrap="square" lIns="0" tIns="0" rIns="0" bIns="0" rtlCol="0" anchor="t"/>
          <a:lstStyle/>
          <a:p>
            <a:pPr indent="0" marL="0">
              <a:buNone/>
            </a:pPr>
            <a:r>
              <a:rPr lang="en-US" sz="1200" dirty="0">
                <a:solidFill>
                  <a:schemeClr val="accent5"/>
                </a:solidFill>
              </a:rPr>
              <a:t>Real output from our app on the recruiter example. It is a short text, so the scores are a rough guide.</a:t>
            </a:r>
            <a:endParaRPr lang="en-US" sz="1200" dirty="0"/>
          </a:p>
        </p:txBody>
      </p:sp>
      <p:sp>
        <p:nvSpPr>
          <p:cNvPr id="5" name="stat card 1"/>
          <p:cNvSpPr/>
          <p:nvPr/>
        </p:nvSpPr>
        <p:spPr>
          <a:xfrm>
            <a:off x="6309360" y="1371600"/>
            <a:ext cx="5330952" cy="1097280"/>
          </a:xfrm>
          <a:prstGeom prst="roundRect">
            <a:avLst>
              <a:gd name="adj" fmla="val 10000"/>
            </a:avLst>
          </a:prstGeom>
          <a:solidFill>
            <a:schemeClr val="bg2"/>
          </a:solidFill>
          <a:ln/>
          <a:effectLst>
            <a:outerShdw sx="100000" sy="100000" kx="0" ky="0" algn="bl" rotWithShape="0" blurRad="76200" dist="25400" dir="5400000">
              <a:srgbClr val="000000">
                <a:alpha val="10000"/>
              </a:srgbClr>
            </a:outerShdw>
          </a:effectLst>
        </p:spPr>
      </p:sp>
      <p:sp>
        <p:nvSpPr>
          <p:cNvPr id="6" name="Text 3"/>
          <p:cNvSpPr txBox="1"/>
          <p:nvPr/>
        </p:nvSpPr>
        <p:spPr>
          <a:xfrm>
            <a:off x="6537960" y="1463040"/>
            <a:ext cx="1554480" cy="914400"/>
          </a:xfrm>
          <a:prstGeom prst="rect">
            <a:avLst/>
          </a:prstGeom>
          <a:noFill/>
          <a:ln/>
        </p:spPr>
        <p:txBody>
          <a:bodyPr wrap="square" lIns="0" tIns="0" rIns="0" bIns="0" rtlCol="0" anchor="ctr"/>
          <a:lstStyle/>
          <a:p>
            <a:pPr indent="0" marL="0">
              <a:buNone/>
            </a:pPr>
            <a:r>
              <a:rPr lang="en-US" sz="3600" b="1" dirty="0">
                <a:solidFill>
                  <a:schemeClr val="accent1"/>
                </a:solidFill>
              </a:rPr>
              <a:t>6</a:t>
            </a:r>
            <a:endParaRPr lang="en-US" sz="3600" dirty="0"/>
          </a:p>
        </p:txBody>
      </p:sp>
      <p:sp>
        <p:nvSpPr>
          <p:cNvPr id="7" name="Text 4"/>
          <p:cNvSpPr txBox="1"/>
          <p:nvPr/>
        </p:nvSpPr>
        <p:spPr>
          <a:xfrm>
            <a:off x="8229600" y="1463040"/>
            <a:ext cx="3200400" cy="914400"/>
          </a:xfrm>
          <a:prstGeom prst="rect">
            <a:avLst/>
          </a:prstGeom>
          <a:noFill/>
          <a:ln/>
        </p:spPr>
        <p:txBody>
          <a:bodyPr wrap="square" lIns="0" tIns="0" rIns="0" bIns="0" rtlCol="0" anchor="ctr"/>
          <a:lstStyle/>
          <a:p>
            <a:pPr indent="0" marL="0">
              <a:buNone/>
            </a:pPr>
            <a:r>
              <a:rPr lang="en-US" sz="1400" dirty="0">
                <a:solidFill>
                  <a:schemeClr val="tx1"/>
                </a:solidFill>
              </a:rPr>
              <a:t>readability formulas, each shown before and after</a:t>
            </a:r>
            <a:endParaRPr lang="en-US" sz="1400" dirty="0"/>
          </a:p>
        </p:txBody>
      </p:sp>
      <p:sp>
        <p:nvSpPr>
          <p:cNvPr id="8" name="stat card 2"/>
          <p:cNvSpPr/>
          <p:nvPr/>
        </p:nvSpPr>
        <p:spPr>
          <a:xfrm>
            <a:off x="6309360" y="2606040"/>
            <a:ext cx="5330952" cy="1097280"/>
          </a:xfrm>
          <a:prstGeom prst="roundRect">
            <a:avLst>
              <a:gd name="adj" fmla="val 10000"/>
            </a:avLst>
          </a:prstGeom>
          <a:solidFill>
            <a:schemeClr val="bg2"/>
          </a:solidFill>
          <a:ln/>
          <a:effectLst>
            <a:outerShdw sx="100000" sy="100000" kx="0" ky="0" algn="bl" rotWithShape="0" blurRad="76200" dist="25400" dir="5400000">
              <a:srgbClr val="000000">
                <a:alpha val="10000"/>
              </a:srgbClr>
            </a:outerShdw>
          </a:effectLst>
        </p:spPr>
      </p:sp>
      <p:sp>
        <p:nvSpPr>
          <p:cNvPr id="9" name="Text 6"/>
          <p:cNvSpPr txBox="1"/>
          <p:nvPr/>
        </p:nvSpPr>
        <p:spPr>
          <a:xfrm>
            <a:off x="6537960" y="2697480"/>
            <a:ext cx="1554480" cy="914400"/>
          </a:xfrm>
          <a:prstGeom prst="rect">
            <a:avLst/>
          </a:prstGeom>
          <a:noFill/>
          <a:ln/>
        </p:spPr>
        <p:txBody>
          <a:bodyPr wrap="square" lIns="0" tIns="0" rIns="0" bIns="0" rtlCol="0" anchor="ctr"/>
          <a:lstStyle/>
          <a:p>
            <a:pPr indent="0" marL="0">
              <a:buNone/>
            </a:pPr>
            <a:r>
              <a:rPr lang="en-US" sz="3600" b="1" dirty="0">
                <a:solidFill>
                  <a:schemeClr val="accent1"/>
                </a:solidFill>
              </a:rPr>
              <a:t>0–100</a:t>
            </a:r>
            <a:endParaRPr lang="en-US" sz="3600" dirty="0"/>
          </a:p>
        </p:txBody>
      </p:sp>
      <p:sp>
        <p:nvSpPr>
          <p:cNvPr id="10" name="Text 7"/>
          <p:cNvSpPr txBox="1"/>
          <p:nvPr/>
        </p:nvSpPr>
        <p:spPr>
          <a:xfrm>
            <a:off x="8229600" y="2697480"/>
            <a:ext cx="3200400" cy="914400"/>
          </a:xfrm>
          <a:prstGeom prst="rect">
            <a:avLst/>
          </a:prstGeom>
          <a:noFill/>
          <a:ln/>
        </p:spPr>
        <p:txBody>
          <a:bodyPr wrap="square" lIns="0" tIns="0" rIns="0" bIns="0" rtlCol="0" anchor="ctr"/>
          <a:lstStyle/>
          <a:p>
            <a:pPr indent="0" marL="0">
              <a:buNone/>
            </a:pPr>
            <a:r>
              <a:rPr lang="en-US" sz="1400" dirty="0">
                <a:solidFill>
                  <a:schemeClr val="tx1"/>
                </a:solidFill>
              </a:rPr>
              <a:t>overall score, from Very hard to Very easy</a:t>
            </a:r>
            <a:endParaRPr lang="en-US" sz="1400" dirty="0"/>
          </a:p>
        </p:txBody>
      </p:sp>
      <p:sp>
        <p:nvSpPr>
          <p:cNvPr id="11" name="stat card 3"/>
          <p:cNvSpPr/>
          <p:nvPr/>
        </p:nvSpPr>
        <p:spPr>
          <a:xfrm>
            <a:off x="6309360" y="3840480"/>
            <a:ext cx="5330952" cy="1097280"/>
          </a:xfrm>
          <a:prstGeom prst="roundRect">
            <a:avLst>
              <a:gd name="adj" fmla="val 10000"/>
            </a:avLst>
          </a:prstGeom>
          <a:solidFill>
            <a:schemeClr val="bg2"/>
          </a:solidFill>
          <a:ln/>
          <a:effectLst>
            <a:outerShdw sx="100000" sy="100000" kx="0" ky="0" algn="bl" rotWithShape="0" blurRad="76200" dist="25400" dir="5400000">
              <a:srgbClr val="000000">
                <a:alpha val="10000"/>
              </a:srgbClr>
            </a:outerShdw>
          </a:effectLst>
        </p:spPr>
      </p:sp>
      <p:sp>
        <p:nvSpPr>
          <p:cNvPr id="12" name="Text 9"/>
          <p:cNvSpPr txBox="1"/>
          <p:nvPr/>
        </p:nvSpPr>
        <p:spPr>
          <a:xfrm>
            <a:off x="6537960" y="3931920"/>
            <a:ext cx="1554480" cy="914400"/>
          </a:xfrm>
          <a:prstGeom prst="rect">
            <a:avLst/>
          </a:prstGeom>
          <a:noFill/>
          <a:ln/>
        </p:spPr>
        <p:txBody>
          <a:bodyPr wrap="square" lIns="0" tIns="0" rIns="0" bIns="0" rtlCol="0" anchor="ctr"/>
          <a:lstStyle/>
          <a:p>
            <a:pPr indent="0" marL="0">
              <a:buNone/>
            </a:pPr>
            <a:r>
              <a:rPr lang="en-US" sz="3600" b="1" dirty="0">
                <a:solidFill>
                  <a:schemeClr val="accent1"/>
                </a:solidFill>
              </a:rPr>
              <a:t>CSV</a:t>
            </a:r>
            <a:endParaRPr lang="en-US" sz="3600" dirty="0"/>
          </a:p>
        </p:txBody>
      </p:sp>
      <p:sp>
        <p:nvSpPr>
          <p:cNvPr id="13" name="Text 10"/>
          <p:cNvSpPr txBox="1"/>
          <p:nvPr/>
        </p:nvSpPr>
        <p:spPr>
          <a:xfrm>
            <a:off x="8229600" y="3931920"/>
            <a:ext cx="3200400" cy="914400"/>
          </a:xfrm>
          <a:prstGeom prst="rect">
            <a:avLst/>
          </a:prstGeom>
          <a:noFill/>
          <a:ln/>
        </p:spPr>
        <p:txBody>
          <a:bodyPr wrap="square" lIns="0" tIns="0" rIns="0" bIns="0" rtlCol="0" anchor="ctr"/>
          <a:lstStyle/>
          <a:p>
            <a:pPr indent="0" marL="0">
              <a:buNone/>
            </a:pPr>
            <a:r>
              <a:rPr lang="en-US" sz="1400" dirty="0">
                <a:solidFill>
                  <a:schemeClr val="tx1"/>
                </a:solidFill>
              </a:rPr>
              <a:t>download every score, or copy them as text</a:t>
            </a:r>
            <a:endParaRPr lang="en-US" sz="1400" dirty="0"/>
          </a:p>
        </p:txBody>
      </p:sp>
      <p:sp>
        <p:nvSpPr>
          <p:cNvPr id="14" name="next tests card"/>
          <p:cNvSpPr/>
          <p:nvPr/>
        </p:nvSpPr>
        <p:spPr>
          <a:xfrm>
            <a:off x="6309360" y="5120640"/>
            <a:ext cx="5330952" cy="1051560"/>
          </a:xfrm>
          <a:prstGeom prst="roundRect">
            <a:avLst>
              <a:gd name="adj" fmla="val 10435"/>
            </a:avLst>
          </a:prstGeom>
          <a:solidFill>
            <a:schemeClr val="bg2"/>
          </a:solidFill>
          <a:ln/>
          <a:effectLst>
            <a:outerShdw sx="100000" sy="100000" kx="0" ky="0" algn="bl" rotWithShape="0" blurRad="76200" dist="25400" dir="5400000">
              <a:srgbClr val="000000">
                <a:alpha val="10000"/>
              </a:srgbClr>
            </a:outerShdw>
          </a:effectLst>
        </p:spPr>
      </p:sp>
      <p:sp>
        <p:nvSpPr>
          <p:cNvPr id="15" name="Text 12"/>
          <p:cNvSpPr txBox="1"/>
          <p:nvPr/>
        </p:nvSpPr>
        <p:spPr>
          <a:xfrm>
            <a:off x="6537960" y="5212080"/>
            <a:ext cx="4892040" cy="868680"/>
          </a:xfrm>
          <a:prstGeom prst="rect">
            <a:avLst/>
          </a:prstGeom>
          <a:noFill/>
          <a:ln/>
        </p:spPr>
        <p:txBody>
          <a:bodyPr wrap="square" lIns="0" tIns="0" rIns="0" bIns="0" rtlCol="0" anchor="ctr"/>
          <a:lstStyle/>
          <a:p>
            <a:pPr indent="0" marL="0">
              <a:buNone/>
            </a:pPr>
            <a:r>
              <a:rPr lang="en-US" sz="1400" dirty="0">
                <a:solidFill>
                  <a:schemeClr val="tx1"/>
                </a:solidFill>
              </a:rPr>
              <a:t>These scores show how easy the text is to read. They do not check the facts. The fact checker does that.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VerityWrite Light">
  <a:themeElements>
    <a:clrScheme name="VerityWrite Light">
      <a:dk1>
        <a:srgbClr val="0F2A2E"/>
      </a:dk1>
      <a:lt1>
        <a:srgbClr val="FFFFFF"/>
      </a:lt1>
      <a:dk2>
        <a:srgbClr val="173F45"/>
      </a:dk2>
      <a:lt2>
        <a:srgbClr val="EAF3F3"/>
      </a:lt2>
      <a:accent1>
        <a:srgbClr val="0E7C7B"/>
      </a:accent1>
      <a:accent2>
        <a:srgbClr val="F2A541"/>
      </a:accent2>
      <a:accent3>
        <a:srgbClr val="2E8B57"/>
      </a:accent3>
      <a:accent4>
        <a:srgbClr val="C0392B"/>
      </a:accent4>
      <a:accent5>
        <a:srgbClr val="5B6B7A"/>
      </a:accent5>
      <a:accent6>
        <a:srgbClr val="7A5AA6"/>
      </a:accent6>
      <a:hlink>
        <a:srgbClr val="0E7C7B"/>
      </a:hlink>
      <a:folHlink>
        <a:srgbClr val="5B6B7A"/>
      </a:folHlink>
    </a:clrScheme>
    <a:fontScheme name="VerityWrite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VerityWrite AI - Project Update</dc:title>
  <dc:subject>PptxGenJS Presentation</dc:subject>
  <dc:creator>Team Hackprime</dc:creator>
  <cp:lastModifiedBy>Team Hackprime</cp:lastModifiedBy>
  <cp:revision>1</cp:revision>
  <dcterms:created xsi:type="dcterms:W3CDTF">2026-10-11T04:42:26Z</dcterms:created>
  <dcterms:modified xsi:type="dcterms:W3CDTF">2026-10-11T04:42:26Z</dcterms:modified>
</cp:coreProperties>
</file>